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et merci d'être là. Je suis Niyem Bawana, fondateur de Togo Academy. Ce que je vais vous présenter, c'est notre projet pour rendre une éducation scientifique de qualité accessible à chaque élève togolais, où qu'il se trouve. En quelques minutes, je veux vous montrer pourquoi ce projet compte, où il en est, et comment vous pouvez y prendre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problème. Au Togo, de nombreux établissements, surtout loin des grandes villes, manquent d'enseignants qualifiés en sciences. Résultat : trop d'élèves abordent les mathématiques, la physique ou la chimie sans explications claires, et leurs résultats au BEPC et au BAC s'effondrent. Aujourd'hui, la réussite d'un enfant dépend encore trop de sa ville et des moyens de sa famille. C'est cette inégalité que nous voulons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réponse, c'est une plateforme d'apprentissage en ligne, cent pour cent alignée sur le programme officiel togolais. Nous couvrons les sciences, la technologie, l'ingénierie, les mathématiques et l'anglais. Chaque leçon suit l'approche par compétences : une vidéo courte, un cours écrit, des quiz, un tuteur intelligent et une fiche à télécharger. En clair, nous mettons un bon professeur dans la poche de chaque élève.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ce n'est pas une idée sur papier : le produit existe déjà et il est en ligne. Les élèves y trouvent des leçons complètes, des évaluations et des examens officiels du CEPD au BAC, un tuteur disponible à toute heure, et des certificats vérifiables. Le tout est pensé pour le Togo : léger, mobile, et payable simplement.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où nous en sommes concrètement. Vingt-sept classes couvertes, du primaire au baccalauréat. Deux cent soixante-sept leçons déjà publiées. Sept matières. Et une plateforme accessible en ligne dès maintenant. Je le répète : ce n'est pas une maquette, c'est un produit vivant que des élèves utilisent.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marché. Rien qu'au Togo, ce sont des centaines de milliers d'élèves mal accompagnés en sciences. Et au-delà, toute l'Afrique francophone partage le même système et les mêmes besoins : le marché est large et réplicable. La montée du mobile fait du numérique le meilleur moyen d'atteindre les familles.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maintenant ? Parce que tout converge. Le smartphone est devenu le premier écran des familles togolaises, même hors des grandes villes. Le paiement mobile est adopté, et le virement bancaire reste possible pour ceux qui le préfèrent. La demande de soutien scolaire est forte. Et l'intelligence artificielle nous permet enfin d'offrir un tutorat de qualité à grande échelle et à faible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modèle repose sur des revenus récurrents et diversifiés. D'abord les abonnements, de mille francs par semaine pour une matière jusqu'à vingt-cinq mille francs par an pour toute la plateforme. Ensuite les kits de préparation aux examens, de huit à vingt mille francs. Puis le tutorat en direct, payable à la séance. Et enfin les partenariats avec les écoles et les 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nous distingue ? Un contenu cent pour cent fidèle au programme togolais, pas un cours importé. Une pédagogie portée par l'intelligence artificielle. Une plateforme pensée pour les connexions réelles du terrain. Et l'appui d'un groupe déjà établi, Groupe 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 Togo Academy n'avance pas seule. Nous sommes un département de Groupe BM, dont la devise est bâtir et moderniser. Nous nous appuyons sur ses ressources, sa crédibilité et son réseau, présents dans l'éducation, l'immigration, les services professionnels et l'ingénierie.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trajectoire tient en trois temps. D'abord consolider le Togo : compléter les contenus et convertir nos premiers abonnés. Ensuite densifier et monétiser, grâce au tutorat, aux kits et aux partenariats, pour atteindre la rentabilité. Enfin répliquer la recette dans les pays voisins francophones.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Venons-en à votre rôle. Nous levons des fonds pour accélérer sur quatre fronts : la production de nos vidéos, la plateforme et l'intelligence artificielle, le marketing et l'acquisition d'élèves, et le recrutement des talents clés. Si vous avez fixé le montant recherché, annoncez-le à ce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Investir dans Togo Academy, c'est investir dans une génération d'élèves togolais, et dans un modèle qui peut essaimer dans toute l'Afrique francophone. Je serais heureux d'en discuter avec vous en détail. Vous pouvez me joindre à info arobase groupebm point net.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1051560" cy="105156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32765" y="587045"/>
            <a:ext cx="883310" cy="883310"/>
          </a:xfrm>
          <a:prstGeom prst="ellipse">
            <a:avLst/>
          </a:prstGeom>
        </p:spPr>
      </p:pic>
      <p:sp>
        <p:nvSpPr>
          <p:cNvPr id="4" name="Text 1"/>
          <p:cNvSpPr/>
          <p:nvPr/>
        </p:nvSpPr>
        <p:spPr>
          <a:xfrm>
            <a:off x="1783080" y="713232"/>
            <a:ext cx="2743200" cy="36576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Togo</a:t>
            </a:r>
            <a:pPr algn="l" indent="0" marL="0">
              <a:buNone/>
            </a:pPr>
            <a:r>
              <a:rPr lang="en-US" sz="2400" b="1" dirty="0">
                <a:solidFill>
                  <a:srgbClr val="FFCE00"/>
                </a:solidFill>
                <a:latin typeface="Cambria" pitchFamily="34" charset="0"/>
                <a:ea typeface="Cambria" pitchFamily="34" charset="-122"/>
                <a:cs typeface="Cambria" pitchFamily="34" charset="-120"/>
              </a:rPr>
              <a:t>Academy</a:t>
            </a:r>
            <a:endParaRPr lang="en-US" sz="2400" dirty="0"/>
          </a:p>
        </p:txBody>
      </p:sp>
      <p:sp>
        <p:nvSpPr>
          <p:cNvPr id="5" name="Text 2"/>
          <p:cNvSpPr/>
          <p:nvPr/>
        </p:nvSpPr>
        <p:spPr>
          <a:xfrm>
            <a:off x="566928" y="1965960"/>
            <a:ext cx="73152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DOSSIER INVESTISSEURS</a:t>
            </a:r>
            <a:endParaRPr lang="en-US" sz="1300" dirty="0"/>
          </a:p>
        </p:txBody>
      </p:sp>
      <p:sp>
        <p:nvSpPr>
          <p:cNvPr id="6" name="Text 3"/>
          <p:cNvSpPr/>
          <p:nvPr/>
        </p:nvSpPr>
        <p:spPr>
          <a:xfrm>
            <a:off x="548640" y="2377440"/>
            <a:ext cx="10607040" cy="1828800"/>
          </a:xfrm>
          <a:prstGeom prst="rect">
            <a:avLst/>
          </a:prstGeom>
          <a:noFill/>
          <a:ln/>
        </p:spPr>
        <p:txBody>
          <a:bodyPr wrap="square" lIns="0" tIns="0" rIns="0" bIns="0" rtlCol="0" anchor="ctr"/>
          <a:lstStyle/>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L'éducation STIM de qualité,</a:t>
            </a:r>
            <a:endParaRPr lang="en-US" sz="4400" dirty="0"/>
          </a:p>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accessible partout au Togo.</a:t>
            </a:r>
            <a:endParaRPr lang="en-US" sz="4400" dirty="0"/>
          </a:p>
        </p:txBody>
      </p:sp>
      <p:sp>
        <p:nvSpPr>
          <p:cNvPr id="7" name="Text 4"/>
          <p:cNvSpPr/>
          <p:nvPr/>
        </p:nvSpPr>
        <p:spPr>
          <a:xfrm>
            <a:off x="566928" y="4434840"/>
            <a:ext cx="10058400" cy="731520"/>
          </a:xfrm>
          <a:prstGeom prst="rect">
            <a:avLst/>
          </a:prstGeom>
          <a:noFill/>
          <a:ln/>
        </p:spPr>
        <p:txBody>
          <a:bodyPr wrap="square" lIns="0" tIns="0" rIns="0" bIns="0" rtlCol="0" anchor="ctr"/>
          <a:lstStyle/>
          <a:p>
            <a:pPr algn="l" indent="0" marL="0">
              <a:buNone/>
            </a:pPr>
            <a:r>
              <a:rPr lang="en-US" sz="1600" dirty="0">
                <a:solidFill>
                  <a:srgbClr val="CDEFDB"/>
                </a:solidFill>
                <a:latin typeface="Calibri" pitchFamily="34" charset="0"/>
                <a:ea typeface="Calibri" pitchFamily="34" charset="-122"/>
                <a:cs typeface="Calibri" pitchFamily="34" charset="-120"/>
              </a:rPr>
              <a:t>Une plateforme e-learning alignée sur le programme officiel togolais, du primaire au baccalauréat.</a:t>
            </a:r>
            <a:endParaRPr lang="en-US" sz="1600" dirty="0"/>
          </a:p>
        </p:txBody>
      </p:sp>
      <p:sp>
        <p:nvSpPr>
          <p:cNvPr id="8" name="Text 5"/>
          <p:cNvSpPr/>
          <p:nvPr/>
        </p:nvSpPr>
        <p:spPr>
          <a:xfrm>
            <a:off x="566928" y="5212080"/>
            <a:ext cx="8229600" cy="320040"/>
          </a:xfrm>
          <a:prstGeom prst="rect">
            <a:avLst/>
          </a:prstGeom>
          <a:noFill/>
          <a:ln/>
        </p:spPr>
        <p:txBody>
          <a:bodyPr wrap="square" lIns="0" tIns="0" rIns="0" bIns="0" rtlCol="0" anchor="ctr"/>
          <a:lstStyle/>
          <a:p>
            <a:pPr algn="l" indent="0" marL="0">
              <a:buNone/>
            </a:pPr>
            <a:r>
              <a:rPr lang="en-US" sz="1300" dirty="0">
                <a:solidFill>
                  <a:srgbClr val="CDEFDB"/>
                </a:solidFill>
                <a:latin typeface="Calibri" pitchFamily="34" charset="0"/>
                <a:ea typeface="Calibri" pitchFamily="34" charset="-122"/>
                <a:cs typeface="Calibri" pitchFamily="34" charset="-120"/>
              </a:rPr>
              <a:t>Présenté par  </a:t>
            </a:r>
            <a:pPr algn="l" indent="0" marL="0">
              <a:buNone/>
            </a:pPr>
            <a:r>
              <a:rPr lang="en-US" sz="1300" b="1" dirty="0">
                <a:solidFill>
                  <a:srgbClr val="FFFFFF"/>
                </a:solidFill>
                <a:latin typeface="Calibri" pitchFamily="34" charset="0"/>
                <a:ea typeface="Calibri" pitchFamily="34" charset="-122"/>
                <a:cs typeface="Calibri" pitchFamily="34" charset="-120"/>
              </a:rPr>
              <a:t>Niyem M. Bawana, Ph.D.</a:t>
            </a:r>
            <a:endParaRPr lang="en-US" sz="1300" dirty="0"/>
          </a:p>
        </p:txBody>
      </p:sp>
      <p:sp>
        <p:nvSpPr>
          <p:cNvPr id="9" name="Shape 6"/>
          <p:cNvSpPr/>
          <p:nvPr/>
        </p:nvSpPr>
        <p:spPr>
          <a:xfrm>
            <a:off x="9997135" y="6035040"/>
            <a:ext cx="292608" cy="292608"/>
          </a:xfrm>
          <a:prstGeom prst="oval">
            <a:avLst/>
          </a:prstGeom>
          <a:solidFill>
            <a:srgbClr val="0B8457"/>
          </a:solidFill>
          <a:ln/>
        </p:spPr>
      </p:sp>
      <p:sp>
        <p:nvSpPr>
          <p:cNvPr id="10" name="Shape 7"/>
          <p:cNvSpPr/>
          <p:nvPr/>
        </p:nvSpPr>
        <p:spPr>
          <a:xfrm>
            <a:off x="10454335" y="6035040"/>
            <a:ext cx="292608" cy="292608"/>
          </a:xfrm>
          <a:prstGeom prst="oval">
            <a:avLst/>
          </a:prstGeom>
          <a:solidFill>
            <a:srgbClr val="FFCE00"/>
          </a:solidFill>
          <a:ln/>
        </p:spPr>
      </p:sp>
      <p:sp>
        <p:nvSpPr>
          <p:cNvPr id="11" name="Shape 8"/>
          <p:cNvSpPr/>
          <p:nvPr/>
        </p:nvSpPr>
        <p:spPr>
          <a:xfrm>
            <a:off x="10911535" y="6035040"/>
            <a:ext cx="292608" cy="292608"/>
          </a:xfrm>
          <a:prstGeom prst="oval">
            <a:avLst/>
          </a:prstGeom>
          <a:solidFill>
            <a:srgbClr val="D21034"/>
          </a:solidFill>
          <a:ln/>
        </p:spPr>
      </p:sp>
      <p:pic>
        <p:nvPicPr>
          <p:cNvPr id="12" name="Image 1" descr="/Users/nbawana/Desktop/COWORK/CLAUDE-CODE/togo-academy/public/gbm-logo.png">    </p:cNvPr>
          <p:cNvPicPr>
            <a:picLocks noChangeAspect="1"/>
          </p:cNvPicPr>
          <p:nvPr/>
        </p:nvPicPr>
        <p:blipFill>
          <a:blip r:embed="rId2"/>
          <a:stretch>
            <a:fillRect/>
          </a:stretch>
        </p:blipFill>
        <p:spPr>
          <a:xfrm>
            <a:off x="548640" y="6080760"/>
            <a:ext cx="365760" cy="365760"/>
          </a:xfrm>
          <a:prstGeom prst="rect">
            <a:avLst/>
          </a:prstGeom>
        </p:spPr>
      </p:pic>
      <p:sp>
        <p:nvSpPr>
          <p:cNvPr id="13" name="Text 9"/>
          <p:cNvSpPr/>
          <p:nvPr/>
        </p:nvSpPr>
        <p:spPr>
          <a:xfrm>
            <a:off x="1005840" y="6080760"/>
            <a:ext cx="8229600" cy="365760"/>
          </a:xfrm>
          <a:prstGeom prst="rect">
            <a:avLst/>
          </a:prstGeom>
          <a:noFill/>
          <a:ln/>
        </p:spPr>
        <p:txBody>
          <a:bodyPr wrap="square" lIns="0" tIns="0" rIns="0" bIns="0" rtlCol="0" anchor="ctr"/>
          <a:lstStyle/>
          <a:p>
            <a:pPr algn="l" indent="0" marL="0">
              <a:buNone/>
            </a:pPr>
            <a:r>
              <a:rPr lang="en-US" sz="1100" dirty="0">
                <a:solidFill>
                  <a:srgbClr val="CDEFDB"/>
                </a:solidFill>
                <a:latin typeface="Calibri" pitchFamily="34" charset="0"/>
                <a:ea typeface="Calibri" pitchFamily="34" charset="-122"/>
                <a:cs typeface="Calibri" pitchFamily="34" charset="-120"/>
              </a:rPr>
              <a:t>Un département de Groupe BM  ·  academie.groupebm.net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LE PROBLÈME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Un déficit d'éducation scientifique</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02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37360"/>
            <a:ext cx="3566160" cy="3566160"/>
          </a:xfrm>
          <a:prstGeom prst="roundRect">
            <a:avLst>
              <a:gd name="adj" fmla="val 3077"/>
            </a:avLst>
          </a:prstGeom>
          <a:solidFill>
            <a:srgbClr val="EAFAF1"/>
          </a:solidFill>
          <a:ln w="12700">
            <a:solidFill>
              <a:srgbClr val="CDEFDB"/>
            </a:solidFill>
            <a:prstDash val="solid"/>
          </a:ln>
        </p:spPr>
      </p:sp>
      <p:sp>
        <p:nvSpPr>
          <p:cNvPr id="11" name="Shape 7"/>
          <p:cNvSpPr/>
          <p:nvPr/>
        </p:nvSpPr>
        <p:spPr>
          <a:xfrm>
            <a:off x="804672" y="1993392"/>
            <a:ext cx="603504" cy="603504"/>
          </a:xfrm>
          <a:prstGeom prst="roundRect">
            <a:avLst>
              <a:gd name="adj" fmla="val 30303"/>
            </a:avLst>
          </a:prstGeom>
          <a:solidFill>
            <a:srgbClr val="D21034"/>
          </a:solidFill>
          <a:ln/>
        </p:spPr>
      </p:sp>
      <p:sp>
        <p:nvSpPr>
          <p:cNvPr id="12" name="Text 8"/>
          <p:cNvSpPr/>
          <p:nvPr/>
        </p:nvSpPr>
        <p:spPr>
          <a:xfrm>
            <a:off x="804672" y="1993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5681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Manque d'enseignants</a:t>
            </a:r>
            <a:endParaRPr lang="en-US" sz="1500" dirty="0"/>
          </a:p>
        </p:txBody>
      </p:sp>
      <p:sp>
        <p:nvSpPr>
          <p:cNvPr id="14" name="Text 10"/>
          <p:cNvSpPr/>
          <p:nvPr/>
        </p:nvSpPr>
        <p:spPr>
          <a:xfrm>
            <a:off x="822960" y="2651760"/>
            <a:ext cx="3017520" cy="251460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De nombreux établissements, surtout hors des grandes villes, manquent de professeurs qualifiés en sciences.</a:t>
            </a:r>
            <a:endParaRPr lang="en-US" sz="1250" dirty="0"/>
          </a:p>
        </p:txBody>
      </p:sp>
      <p:sp>
        <p:nvSpPr>
          <p:cNvPr id="15" name="Shape 11"/>
          <p:cNvSpPr/>
          <p:nvPr/>
        </p:nvSpPr>
        <p:spPr>
          <a:xfrm>
            <a:off x="4297680" y="1737360"/>
            <a:ext cx="3566160" cy="3566160"/>
          </a:xfrm>
          <a:prstGeom prst="roundRect">
            <a:avLst>
              <a:gd name="adj" fmla="val 3077"/>
            </a:avLst>
          </a:prstGeom>
          <a:solidFill>
            <a:srgbClr val="EAFAF1"/>
          </a:solidFill>
          <a:ln w="12700">
            <a:solidFill>
              <a:srgbClr val="CDEFDB"/>
            </a:solidFill>
            <a:prstDash val="solid"/>
          </a:ln>
        </p:spPr>
      </p:sp>
      <p:sp>
        <p:nvSpPr>
          <p:cNvPr id="16" name="Shape 12"/>
          <p:cNvSpPr/>
          <p:nvPr/>
        </p:nvSpPr>
        <p:spPr>
          <a:xfrm>
            <a:off x="4553712" y="1993392"/>
            <a:ext cx="603504" cy="603504"/>
          </a:xfrm>
          <a:prstGeom prst="roundRect">
            <a:avLst>
              <a:gd name="adj" fmla="val 30303"/>
            </a:avLst>
          </a:prstGeom>
          <a:solidFill>
            <a:srgbClr val="FFCE00"/>
          </a:solidFill>
          <a:ln/>
        </p:spPr>
      </p:sp>
      <p:sp>
        <p:nvSpPr>
          <p:cNvPr id="17" name="Text 13"/>
          <p:cNvSpPr/>
          <p:nvPr/>
        </p:nvSpPr>
        <p:spPr>
          <a:xfrm>
            <a:off x="4553712" y="1993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303520" y="195681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Échecs aux examens</a:t>
            </a:r>
            <a:endParaRPr lang="en-US" sz="1500" dirty="0"/>
          </a:p>
        </p:txBody>
      </p:sp>
      <p:sp>
        <p:nvSpPr>
          <p:cNvPr id="19" name="Text 15"/>
          <p:cNvSpPr/>
          <p:nvPr/>
        </p:nvSpPr>
        <p:spPr>
          <a:xfrm>
            <a:off x="4572000" y="2651760"/>
            <a:ext cx="3017520" cy="251460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Sans explications claires en maths, physique, chimie et SVT, les résultats au BEPC et au BAC s'effondrent.</a:t>
            </a:r>
            <a:endParaRPr lang="en-US" sz="1250" dirty="0"/>
          </a:p>
        </p:txBody>
      </p:sp>
      <p:sp>
        <p:nvSpPr>
          <p:cNvPr id="20" name="Shape 16"/>
          <p:cNvSpPr/>
          <p:nvPr/>
        </p:nvSpPr>
        <p:spPr>
          <a:xfrm>
            <a:off x="8046720" y="1737360"/>
            <a:ext cx="3566160" cy="3566160"/>
          </a:xfrm>
          <a:prstGeom prst="roundRect">
            <a:avLst>
              <a:gd name="adj" fmla="val 3077"/>
            </a:avLst>
          </a:prstGeom>
          <a:solidFill>
            <a:srgbClr val="EAFAF1"/>
          </a:solidFill>
          <a:ln w="12700">
            <a:solidFill>
              <a:srgbClr val="CDEFDB"/>
            </a:solidFill>
            <a:prstDash val="solid"/>
          </a:ln>
        </p:spPr>
      </p:sp>
      <p:sp>
        <p:nvSpPr>
          <p:cNvPr id="21" name="Shape 17"/>
          <p:cNvSpPr/>
          <p:nvPr/>
        </p:nvSpPr>
        <p:spPr>
          <a:xfrm>
            <a:off x="8302752" y="1993392"/>
            <a:ext cx="603504" cy="603504"/>
          </a:xfrm>
          <a:prstGeom prst="roundRect">
            <a:avLst>
              <a:gd name="adj" fmla="val 30303"/>
            </a:avLst>
          </a:prstGeom>
          <a:solidFill>
            <a:srgbClr val="0B8457"/>
          </a:solidFill>
          <a:ln/>
        </p:spPr>
      </p:sp>
      <p:sp>
        <p:nvSpPr>
          <p:cNvPr id="22" name="Text 18"/>
          <p:cNvSpPr/>
          <p:nvPr/>
        </p:nvSpPr>
        <p:spPr>
          <a:xfrm>
            <a:off x="8302752" y="1993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9052560" y="195681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Inégalité d'accès</a:t>
            </a:r>
            <a:endParaRPr lang="en-US" sz="1500" dirty="0"/>
          </a:p>
        </p:txBody>
      </p:sp>
      <p:sp>
        <p:nvSpPr>
          <p:cNvPr id="24" name="Text 20"/>
          <p:cNvSpPr/>
          <p:nvPr/>
        </p:nvSpPr>
        <p:spPr>
          <a:xfrm>
            <a:off x="8321040" y="2651760"/>
            <a:ext cx="3017520" cy="251460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L'accès à un soutien de qualité dépend trop souvent de la ville et des revenus de la famille.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SOLUTION</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Une plateforme STIM, 100% programme togolais</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03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5669280" cy="3200400"/>
          </a:xfrm>
          <a:prstGeom prst="rect">
            <a:avLst/>
          </a:prstGeom>
          <a:noFill/>
          <a:ln/>
        </p:spPr>
        <p:txBody>
          <a:bodyPr wrap="square" lIns="0" tIns="0" rIns="0" bIns="0" rtlCol="0" anchor="ctr"/>
          <a:lstStyle/>
          <a:p>
            <a:pPr algn="l" indent="0" marL="0">
              <a:lnSpc>
                <a:spcPct val="115000"/>
              </a:lnSpc>
              <a:spcAft>
                <a:spcPts val="1200"/>
              </a:spcAft>
              <a:buNone/>
            </a:pPr>
            <a:r>
              <a:rPr lang="en-US" sz="1550" dirty="0">
                <a:solidFill>
                  <a:srgbClr val="1A2B26"/>
                </a:solidFill>
                <a:latin typeface="Calibri" pitchFamily="34" charset="0"/>
                <a:ea typeface="Calibri" pitchFamily="34" charset="-122"/>
                <a:cs typeface="Calibri" pitchFamily="34" charset="-120"/>
              </a:rPr>
              <a:t>Togo Academy rend accessible, partout et à faible coût, un enseignement STIM de qualité : Sciences, Technologie, Ingénierie, Mathématiques, plus l'Anglais.</a:t>
            </a:r>
            <a:endParaRPr lang="en-US" sz="1550" dirty="0"/>
          </a:p>
          <a:p>
            <a:pPr algn="l" indent="0" marL="0">
              <a:lnSpc>
                <a:spcPct val="115000"/>
              </a:lnSpc>
              <a:buNone/>
            </a:pPr>
            <a:r>
              <a:rPr lang="en-US" sz="1550" dirty="0">
                <a:solidFill>
                  <a:srgbClr val="1A2B26"/>
                </a:solidFill>
                <a:latin typeface="Calibri" pitchFamily="34" charset="0"/>
                <a:ea typeface="Calibri" pitchFamily="34" charset="-122"/>
                <a:cs typeface="Calibri" pitchFamily="34" charset="-120"/>
              </a:rPr>
              <a:t>Chaque leçon suit l'approche par compétences (APC) du programme officiel : vidéo courte, cours écrit, quiz, tuteur IA et fiches téléchargeables.</a:t>
            </a:r>
            <a:endParaRPr lang="en-US" sz="1550" dirty="0"/>
          </a:p>
        </p:txBody>
      </p:sp>
      <p:sp>
        <p:nvSpPr>
          <p:cNvPr id="11" name="Shape 7"/>
          <p:cNvSpPr/>
          <p:nvPr/>
        </p:nvSpPr>
        <p:spPr>
          <a:xfrm>
            <a:off x="6492240" y="1737360"/>
            <a:ext cx="5120640" cy="1051560"/>
          </a:xfrm>
          <a:prstGeom prst="roundRect">
            <a:avLst>
              <a:gd name="adj" fmla="val 10435"/>
            </a:avLst>
          </a:prstGeom>
          <a:solidFill>
            <a:srgbClr val="EAFAF1"/>
          </a:solidFill>
          <a:ln w="12700">
            <a:solidFill>
              <a:srgbClr val="CDEFDB"/>
            </a:solidFill>
            <a:prstDash val="solid"/>
          </a:ln>
        </p:spPr>
      </p:sp>
      <p:sp>
        <p:nvSpPr>
          <p:cNvPr id="12" name="Shape 8"/>
          <p:cNvSpPr/>
          <p:nvPr/>
        </p:nvSpPr>
        <p:spPr>
          <a:xfrm>
            <a:off x="6748272" y="1993392"/>
            <a:ext cx="603504" cy="603504"/>
          </a:xfrm>
          <a:prstGeom prst="roundRect">
            <a:avLst>
              <a:gd name="adj" fmla="val 30303"/>
            </a:avLst>
          </a:prstGeom>
          <a:solidFill>
            <a:srgbClr val="0B8457"/>
          </a:solidFill>
          <a:ln/>
        </p:spPr>
      </p:sp>
      <p:sp>
        <p:nvSpPr>
          <p:cNvPr id="13" name="Text 9"/>
          <p:cNvSpPr/>
          <p:nvPr/>
        </p:nvSpPr>
        <p:spPr>
          <a:xfrm>
            <a:off x="6748272" y="1993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0"/>
          <p:cNvSpPr/>
          <p:nvPr/>
        </p:nvSpPr>
        <p:spPr>
          <a:xfrm>
            <a:off x="7498080" y="1956816"/>
            <a:ext cx="38862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Leçons vidéo APC</a:t>
            </a:r>
            <a:endParaRPr lang="en-US" sz="1500" dirty="0"/>
          </a:p>
        </p:txBody>
      </p:sp>
      <p:sp>
        <p:nvSpPr>
          <p:cNvPr id="15" name="Text 11"/>
          <p:cNvSpPr/>
          <p:nvPr/>
        </p:nvSpPr>
        <p:spPr>
          <a:xfrm>
            <a:off x="6766560" y="2651760"/>
            <a:ext cx="4572000" cy="0"/>
          </a:xfrm>
          <a:prstGeom prst="rect">
            <a:avLst/>
          </a:prstGeom>
          <a:noFill/>
          <a:ln/>
        </p:spPr>
        <p:txBody>
          <a:bodyPr wrap="square" lIns="0" tIns="0" rIns="0" bIns="0" rtlCol="0" anchor="t"/>
          <a:lstStyle>
            <a:lvl1pPr algn="l"/>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Un concept à la fois, clair et visuel.</a:t>
            </a:r>
            <a:endParaRPr lang="en-US" sz="1250" dirty="0"/>
          </a:p>
        </p:txBody>
      </p:sp>
      <p:sp>
        <p:nvSpPr>
          <p:cNvPr id="16" name="Shape 12"/>
          <p:cNvSpPr/>
          <p:nvPr/>
        </p:nvSpPr>
        <p:spPr>
          <a:xfrm>
            <a:off x="6492240" y="2926080"/>
            <a:ext cx="5120640" cy="1051560"/>
          </a:xfrm>
          <a:prstGeom prst="roundRect">
            <a:avLst>
              <a:gd name="adj" fmla="val 10435"/>
            </a:avLst>
          </a:prstGeom>
          <a:solidFill>
            <a:srgbClr val="EAFAF1"/>
          </a:solidFill>
          <a:ln w="12700">
            <a:solidFill>
              <a:srgbClr val="CDEFDB"/>
            </a:solidFill>
            <a:prstDash val="solid"/>
          </a:ln>
        </p:spPr>
      </p:sp>
      <p:sp>
        <p:nvSpPr>
          <p:cNvPr id="17" name="Shape 13"/>
          <p:cNvSpPr/>
          <p:nvPr/>
        </p:nvSpPr>
        <p:spPr>
          <a:xfrm>
            <a:off x="6748272" y="3182112"/>
            <a:ext cx="603504" cy="603504"/>
          </a:xfrm>
          <a:prstGeom prst="roundRect">
            <a:avLst>
              <a:gd name="adj" fmla="val 30303"/>
            </a:avLst>
          </a:prstGeom>
          <a:solidFill>
            <a:srgbClr val="D21034"/>
          </a:solidFill>
          <a:ln/>
        </p:spPr>
      </p:sp>
      <p:sp>
        <p:nvSpPr>
          <p:cNvPr id="18" name="Text 14"/>
          <p:cNvSpPr/>
          <p:nvPr/>
        </p:nvSpPr>
        <p:spPr>
          <a:xfrm>
            <a:off x="6748272" y="3182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5"/>
          <p:cNvSpPr/>
          <p:nvPr/>
        </p:nvSpPr>
        <p:spPr>
          <a:xfrm>
            <a:off x="7498080" y="3145536"/>
            <a:ext cx="38862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Examens officiels</a:t>
            </a:r>
            <a:endParaRPr lang="en-US" sz="1500" dirty="0"/>
          </a:p>
        </p:txBody>
      </p:sp>
      <p:sp>
        <p:nvSpPr>
          <p:cNvPr id="20" name="Text 16"/>
          <p:cNvSpPr/>
          <p:nvPr/>
        </p:nvSpPr>
        <p:spPr>
          <a:xfrm>
            <a:off x="6766560" y="3840480"/>
            <a:ext cx="4572000" cy="0"/>
          </a:xfrm>
          <a:prstGeom prst="rect">
            <a:avLst/>
          </a:prstGeom>
          <a:noFill/>
          <a:ln/>
        </p:spPr>
        <p:txBody>
          <a:bodyPr wrap="square" lIns="0" tIns="0" rIns="0" bIns="0" rtlCol="0" anchor="t"/>
          <a:lstStyle>
            <a:lvl1pPr algn="l"/>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Du CEPD au BAC, corrigés automatiquement (seuils 70% et 80%).</a:t>
            </a:r>
            <a:endParaRPr lang="en-US" sz="1250" dirty="0"/>
          </a:p>
        </p:txBody>
      </p:sp>
      <p:sp>
        <p:nvSpPr>
          <p:cNvPr id="21" name="Shape 17"/>
          <p:cNvSpPr/>
          <p:nvPr/>
        </p:nvSpPr>
        <p:spPr>
          <a:xfrm>
            <a:off x="6492240" y="4114800"/>
            <a:ext cx="5120640" cy="1051560"/>
          </a:xfrm>
          <a:prstGeom prst="roundRect">
            <a:avLst>
              <a:gd name="adj" fmla="val 10435"/>
            </a:avLst>
          </a:prstGeom>
          <a:solidFill>
            <a:srgbClr val="EAFAF1"/>
          </a:solidFill>
          <a:ln w="12700">
            <a:solidFill>
              <a:srgbClr val="CDEFDB"/>
            </a:solidFill>
            <a:prstDash val="solid"/>
          </a:ln>
        </p:spPr>
      </p:sp>
      <p:sp>
        <p:nvSpPr>
          <p:cNvPr id="22" name="Shape 18"/>
          <p:cNvSpPr/>
          <p:nvPr/>
        </p:nvSpPr>
        <p:spPr>
          <a:xfrm>
            <a:off x="6748272" y="4370832"/>
            <a:ext cx="603504" cy="603504"/>
          </a:xfrm>
          <a:prstGeom prst="roundRect">
            <a:avLst>
              <a:gd name="adj" fmla="val 30303"/>
            </a:avLst>
          </a:prstGeom>
          <a:solidFill>
            <a:srgbClr val="2E6F40"/>
          </a:solidFill>
          <a:ln/>
        </p:spPr>
      </p:sp>
      <p:sp>
        <p:nvSpPr>
          <p:cNvPr id="23" name="Text 19"/>
          <p:cNvSpPr/>
          <p:nvPr/>
        </p:nvSpPr>
        <p:spPr>
          <a:xfrm>
            <a:off x="6748272" y="437083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Text 20"/>
          <p:cNvSpPr/>
          <p:nvPr/>
        </p:nvSpPr>
        <p:spPr>
          <a:xfrm>
            <a:off x="7498080" y="4334256"/>
            <a:ext cx="38862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Tuteur IA</a:t>
            </a:r>
            <a:endParaRPr lang="en-US" sz="1500" dirty="0"/>
          </a:p>
        </p:txBody>
      </p:sp>
      <p:sp>
        <p:nvSpPr>
          <p:cNvPr id="25" name="Text 21"/>
          <p:cNvSpPr/>
          <p:nvPr/>
        </p:nvSpPr>
        <p:spPr>
          <a:xfrm>
            <a:off x="6766560" y="5029200"/>
            <a:ext cx="4572000" cy="0"/>
          </a:xfrm>
          <a:prstGeom prst="rect">
            <a:avLst/>
          </a:prstGeom>
          <a:noFill/>
          <a:ln/>
        </p:spPr>
        <p:txBody>
          <a:bodyPr wrap="square" lIns="0" tIns="0" rIns="0" bIns="0" rtlCol="0" anchor="t"/>
          <a:lstStyle>
            <a:lvl1pPr algn="l"/>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Explique autrement, sans jamais donner la réponse.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LE PRODUIT</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Un produit complet, déjà en ligne</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04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20440" cy="1600200"/>
          </a:xfrm>
          <a:prstGeom prst="roundRect">
            <a:avLst>
              <a:gd name="adj" fmla="val 6857"/>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200253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Leçons STIM</a:t>
            </a:r>
            <a:endParaRPr lang="en-US" sz="1500" dirty="0"/>
          </a:p>
        </p:txBody>
      </p:sp>
      <p:sp>
        <p:nvSpPr>
          <p:cNvPr id="14" name="Text 10"/>
          <p:cNvSpPr/>
          <p:nvPr/>
        </p:nvSpPr>
        <p:spPr>
          <a:xfrm>
            <a:off x="822960" y="269748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Vidéos, cours écrits, exemples et exercices guidés.</a:t>
            </a:r>
            <a:endParaRPr lang="en-US" sz="1250" dirty="0"/>
          </a:p>
        </p:txBody>
      </p:sp>
      <p:sp>
        <p:nvSpPr>
          <p:cNvPr id="15" name="Shape 11"/>
          <p:cNvSpPr/>
          <p:nvPr/>
        </p:nvSpPr>
        <p:spPr>
          <a:xfrm>
            <a:off x="4251960" y="1783080"/>
            <a:ext cx="3520440" cy="1600200"/>
          </a:xfrm>
          <a:prstGeom prst="roundRect">
            <a:avLst>
              <a:gd name="adj" fmla="val 6857"/>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0B8457"/>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200253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Évaluations &amp; examens</a:t>
            </a:r>
            <a:endParaRPr lang="en-US" sz="1500" dirty="0"/>
          </a:p>
        </p:txBody>
      </p:sp>
      <p:sp>
        <p:nvSpPr>
          <p:cNvPr id="19" name="Text 15"/>
          <p:cNvSpPr/>
          <p:nvPr/>
        </p:nvSpPr>
        <p:spPr>
          <a:xfrm>
            <a:off x="4526280" y="269748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Quiz intégrés, épreuves aux formats officiels (CEPD, BEPC, BAC), certificats à la clé.</a:t>
            </a:r>
            <a:endParaRPr lang="en-US" sz="1250" dirty="0"/>
          </a:p>
        </p:txBody>
      </p:sp>
      <p:sp>
        <p:nvSpPr>
          <p:cNvPr id="20" name="Shape 16"/>
          <p:cNvSpPr/>
          <p:nvPr/>
        </p:nvSpPr>
        <p:spPr>
          <a:xfrm>
            <a:off x="7955280" y="1783080"/>
            <a:ext cx="3520440" cy="1600200"/>
          </a:xfrm>
          <a:prstGeom prst="roundRect">
            <a:avLst>
              <a:gd name="adj" fmla="val 6857"/>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0B8457"/>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200253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Tuteur IA</a:t>
            </a:r>
            <a:endParaRPr lang="en-US" sz="1500" dirty="0"/>
          </a:p>
        </p:txBody>
      </p:sp>
      <p:sp>
        <p:nvSpPr>
          <p:cNvPr id="24" name="Text 20"/>
          <p:cNvSpPr/>
          <p:nvPr/>
        </p:nvSpPr>
        <p:spPr>
          <a:xfrm>
            <a:off x="8229600" y="269748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Un accompagnement disponible dans chaque leçon.</a:t>
            </a:r>
            <a:endParaRPr lang="en-US" sz="1250" dirty="0"/>
          </a:p>
        </p:txBody>
      </p:sp>
      <p:sp>
        <p:nvSpPr>
          <p:cNvPr id="25" name="Shape 21"/>
          <p:cNvSpPr/>
          <p:nvPr/>
        </p:nvSpPr>
        <p:spPr>
          <a:xfrm>
            <a:off x="548640" y="3566160"/>
            <a:ext cx="3520440" cy="1600200"/>
          </a:xfrm>
          <a:prstGeom prst="roundRect">
            <a:avLst>
              <a:gd name="adj" fmla="val 6857"/>
            </a:avLst>
          </a:prstGeom>
          <a:solidFill>
            <a:srgbClr val="EAFAF1"/>
          </a:solidFill>
          <a:ln w="12700">
            <a:solidFill>
              <a:srgbClr val="CDEFDB"/>
            </a:solidFill>
            <a:prstDash val="solid"/>
          </a:ln>
        </p:spPr>
      </p:sp>
      <p:sp>
        <p:nvSpPr>
          <p:cNvPr id="26" name="Shape 22"/>
          <p:cNvSpPr/>
          <p:nvPr/>
        </p:nvSpPr>
        <p:spPr>
          <a:xfrm>
            <a:off x="804672" y="3822192"/>
            <a:ext cx="603504" cy="603504"/>
          </a:xfrm>
          <a:prstGeom prst="roundRect">
            <a:avLst>
              <a:gd name="adj" fmla="val 30303"/>
            </a:avLst>
          </a:prstGeom>
          <a:solidFill>
            <a:srgbClr val="0B8457"/>
          </a:solidFill>
          <a:ln/>
        </p:spPr>
      </p:sp>
      <p:sp>
        <p:nvSpPr>
          <p:cNvPr id="27" name="Text 23"/>
          <p:cNvSpPr/>
          <p:nvPr/>
        </p:nvSpPr>
        <p:spPr>
          <a:xfrm>
            <a:off x="80467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1554480" y="378561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Certificats de cours</a:t>
            </a:r>
            <a:endParaRPr lang="en-US" sz="1500" dirty="0"/>
          </a:p>
        </p:txBody>
      </p:sp>
      <p:sp>
        <p:nvSpPr>
          <p:cNvPr id="29" name="Text 25"/>
          <p:cNvSpPr/>
          <p:nvPr/>
        </p:nvSpPr>
        <p:spPr>
          <a:xfrm>
            <a:off x="822960" y="448056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Signés et vérifiables en ligne.</a:t>
            </a:r>
            <a:endParaRPr lang="en-US" sz="1250" dirty="0"/>
          </a:p>
        </p:txBody>
      </p:sp>
      <p:sp>
        <p:nvSpPr>
          <p:cNvPr id="30" name="Shape 26"/>
          <p:cNvSpPr/>
          <p:nvPr/>
        </p:nvSpPr>
        <p:spPr>
          <a:xfrm>
            <a:off x="4251960" y="3566160"/>
            <a:ext cx="3520440" cy="1600200"/>
          </a:xfrm>
          <a:prstGeom prst="roundRect">
            <a:avLst>
              <a:gd name="adj" fmla="val 6857"/>
            </a:avLst>
          </a:prstGeom>
          <a:solidFill>
            <a:srgbClr val="EAFAF1"/>
          </a:solidFill>
          <a:ln w="12700">
            <a:solidFill>
              <a:srgbClr val="CDEFDB"/>
            </a:solidFill>
            <a:prstDash val="solid"/>
          </a:ln>
        </p:spPr>
      </p:sp>
      <p:sp>
        <p:nvSpPr>
          <p:cNvPr id="31" name="Shape 27"/>
          <p:cNvSpPr/>
          <p:nvPr/>
        </p:nvSpPr>
        <p:spPr>
          <a:xfrm>
            <a:off x="4507992" y="3822192"/>
            <a:ext cx="603504" cy="603504"/>
          </a:xfrm>
          <a:prstGeom prst="roundRect">
            <a:avLst>
              <a:gd name="adj" fmla="val 30303"/>
            </a:avLst>
          </a:prstGeom>
          <a:solidFill>
            <a:srgbClr val="0B8457"/>
          </a:solidFill>
          <a:ln/>
        </p:spPr>
      </p:sp>
      <p:sp>
        <p:nvSpPr>
          <p:cNvPr id="32" name="Text 28"/>
          <p:cNvSpPr/>
          <p:nvPr/>
        </p:nvSpPr>
        <p:spPr>
          <a:xfrm>
            <a:off x="450799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29"/>
          <p:cNvSpPr/>
          <p:nvPr/>
        </p:nvSpPr>
        <p:spPr>
          <a:xfrm>
            <a:off x="5257800" y="378561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Pensé pour le Togo</a:t>
            </a:r>
            <a:endParaRPr lang="en-US" sz="1500" dirty="0"/>
          </a:p>
        </p:txBody>
      </p:sp>
      <p:sp>
        <p:nvSpPr>
          <p:cNvPr id="34" name="Text 30"/>
          <p:cNvSpPr/>
          <p:nvPr/>
        </p:nvSpPr>
        <p:spPr>
          <a:xfrm>
            <a:off x="4526280" y="448056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Léger et mobile ; paiement Flooz ou virement bancaire.</a:t>
            </a:r>
            <a:endParaRPr lang="en-US" sz="1250" dirty="0"/>
          </a:p>
        </p:txBody>
      </p:sp>
      <p:sp>
        <p:nvSpPr>
          <p:cNvPr id="35" name="Shape 31"/>
          <p:cNvSpPr/>
          <p:nvPr/>
        </p:nvSpPr>
        <p:spPr>
          <a:xfrm>
            <a:off x="7955280" y="3566160"/>
            <a:ext cx="3520440" cy="1600200"/>
          </a:xfrm>
          <a:prstGeom prst="roundRect">
            <a:avLst>
              <a:gd name="adj" fmla="val 6857"/>
            </a:avLst>
          </a:prstGeom>
          <a:solidFill>
            <a:srgbClr val="EAFAF1"/>
          </a:solidFill>
          <a:ln w="12700">
            <a:solidFill>
              <a:srgbClr val="CDEFDB"/>
            </a:solidFill>
            <a:prstDash val="solid"/>
          </a:ln>
        </p:spPr>
      </p:sp>
      <p:sp>
        <p:nvSpPr>
          <p:cNvPr id="36" name="Shape 32"/>
          <p:cNvSpPr/>
          <p:nvPr/>
        </p:nvSpPr>
        <p:spPr>
          <a:xfrm>
            <a:off x="8211312" y="3822192"/>
            <a:ext cx="603504" cy="603504"/>
          </a:xfrm>
          <a:prstGeom prst="roundRect">
            <a:avLst>
              <a:gd name="adj" fmla="val 30303"/>
            </a:avLst>
          </a:prstGeom>
          <a:solidFill>
            <a:srgbClr val="0B8457"/>
          </a:solidFill>
          <a:ln/>
        </p:spPr>
      </p:sp>
      <p:sp>
        <p:nvSpPr>
          <p:cNvPr id="37" name="Text 33"/>
          <p:cNvSpPr/>
          <p:nvPr/>
        </p:nvSpPr>
        <p:spPr>
          <a:xfrm>
            <a:off x="8211312" y="38221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Text 34"/>
          <p:cNvSpPr/>
          <p:nvPr/>
        </p:nvSpPr>
        <p:spPr>
          <a:xfrm>
            <a:off x="8961120" y="3785616"/>
            <a:ext cx="228600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Multi-matières</a:t>
            </a:r>
            <a:endParaRPr lang="en-US" sz="1500" dirty="0"/>
          </a:p>
        </p:txBody>
      </p:sp>
      <p:sp>
        <p:nvSpPr>
          <p:cNvPr id="39" name="Text 35"/>
          <p:cNvSpPr/>
          <p:nvPr/>
        </p:nvSpPr>
        <p:spPr>
          <a:xfrm>
            <a:off x="8229600" y="4480560"/>
            <a:ext cx="2971800" cy="5486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STIM et Anglais, du primaire au BAC.</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TRACTION</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Une plateforme vivante, pas une maquette</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05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2011680"/>
            <a:ext cx="265176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1" name="Text 7"/>
          <p:cNvSpPr/>
          <p:nvPr/>
        </p:nvSpPr>
        <p:spPr>
          <a:xfrm>
            <a:off x="685800" y="2240280"/>
            <a:ext cx="2377440" cy="777240"/>
          </a:xfrm>
          <a:prstGeom prst="rect">
            <a:avLst/>
          </a:prstGeom>
          <a:noFill/>
          <a:ln/>
        </p:spPr>
        <p:txBody>
          <a:bodyPr wrap="square" lIns="0" tIns="0" rIns="0" bIns="0" rtlCol="0" anchor="ctr"/>
          <a:lstStyle/>
          <a:p>
            <a:pPr algn="ctr" indent="0" marL="0">
              <a:buNone/>
            </a:pPr>
            <a:r>
              <a:rPr lang="en-US" sz="3800" b="1" dirty="0">
                <a:solidFill>
                  <a:srgbClr val="0B8457"/>
                </a:solidFill>
                <a:latin typeface="Cambria" pitchFamily="34" charset="0"/>
                <a:ea typeface="Cambria" pitchFamily="34" charset="-122"/>
                <a:cs typeface="Cambria" pitchFamily="34" charset="-120"/>
              </a:rPr>
              <a:t>27</a:t>
            </a:r>
            <a:endParaRPr lang="en-US" sz="3800" dirty="0"/>
          </a:p>
        </p:txBody>
      </p:sp>
      <p:sp>
        <p:nvSpPr>
          <p:cNvPr id="12" name="Text 8"/>
          <p:cNvSpPr/>
          <p:nvPr/>
        </p:nvSpPr>
        <p:spPr>
          <a:xfrm>
            <a:off x="685800" y="2971800"/>
            <a:ext cx="2377440" cy="457200"/>
          </a:xfrm>
          <a:prstGeom prst="rect">
            <a:avLst/>
          </a:prstGeom>
          <a:noFill/>
          <a:ln/>
        </p:spPr>
        <p:txBody>
          <a:bodyPr wrap="square" lIns="0" tIns="0" rIns="0" bIns="0" rtlCol="0" anchor="t"/>
          <a:lstStyle/>
          <a:p>
            <a:pPr algn="ctr" indent="0" marL="0">
              <a:buNone/>
            </a:pPr>
            <a:r>
              <a:rPr lang="en-US" sz="1200" dirty="0">
                <a:solidFill>
                  <a:srgbClr val="5C6B66"/>
                </a:solidFill>
                <a:latin typeface="Calibri" pitchFamily="34" charset="0"/>
                <a:ea typeface="Calibri" pitchFamily="34" charset="-122"/>
                <a:cs typeface="Calibri" pitchFamily="34" charset="-120"/>
              </a:rPr>
              <a:t>classes couvertes (CP1 au BAC)</a:t>
            </a:r>
            <a:endParaRPr lang="en-US" sz="1200" dirty="0"/>
          </a:p>
        </p:txBody>
      </p:sp>
      <p:sp>
        <p:nvSpPr>
          <p:cNvPr id="13" name="Shape 9"/>
          <p:cNvSpPr/>
          <p:nvPr/>
        </p:nvSpPr>
        <p:spPr>
          <a:xfrm>
            <a:off x="3383280" y="2011680"/>
            <a:ext cx="265176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4" name="Text 10"/>
          <p:cNvSpPr/>
          <p:nvPr/>
        </p:nvSpPr>
        <p:spPr>
          <a:xfrm>
            <a:off x="3520440" y="2240280"/>
            <a:ext cx="2377440" cy="777240"/>
          </a:xfrm>
          <a:prstGeom prst="rect">
            <a:avLst/>
          </a:prstGeom>
          <a:noFill/>
          <a:ln/>
        </p:spPr>
        <p:txBody>
          <a:bodyPr wrap="square" lIns="0" tIns="0" rIns="0" bIns="0" rtlCol="0" anchor="ctr"/>
          <a:lstStyle/>
          <a:p>
            <a:pPr algn="ctr" indent="0" marL="0">
              <a:buNone/>
            </a:pPr>
            <a:r>
              <a:rPr lang="en-US" sz="3800" b="1" dirty="0">
                <a:solidFill>
                  <a:srgbClr val="2E6F40"/>
                </a:solidFill>
                <a:latin typeface="Cambria" pitchFamily="34" charset="0"/>
                <a:ea typeface="Cambria" pitchFamily="34" charset="-122"/>
                <a:cs typeface="Cambria" pitchFamily="34" charset="-120"/>
              </a:rPr>
              <a:t>267</a:t>
            </a:r>
            <a:endParaRPr lang="en-US" sz="3800" dirty="0"/>
          </a:p>
        </p:txBody>
      </p:sp>
      <p:sp>
        <p:nvSpPr>
          <p:cNvPr id="15" name="Text 11"/>
          <p:cNvSpPr/>
          <p:nvPr/>
        </p:nvSpPr>
        <p:spPr>
          <a:xfrm>
            <a:off x="3520440" y="2971800"/>
            <a:ext cx="2377440" cy="457200"/>
          </a:xfrm>
          <a:prstGeom prst="rect">
            <a:avLst/>
          </a:prstGeom>
          <a:noFill/>
          <a:ln/>
        </p:spPr>
        <p:txBody>
          <a:bodyPr wrap="square" lIns="0" tIns="0" rIns="0" bIns="0" rtlCol="0" anchor="t"/>
          <a:lstStyle/>
          <a:p>
            <a:pPr algn="ctr" indent="0" marL="0">
              <a:buNone/>
            </a:pPr>
            <a:r>
              <a:rPr lang="en-US" sz="1200" dirty="0">
                <a:solidFill>
                  <a:srgbClr val="5C6B66"/>
                </a:solidFill>
                <a:latin typeface="Calibri" pitchFamily="34" charset="0"/>
                <a:ea typeface="Calibri" pitchFamily="34" charset="-122"/>
                <a:cs typeface="Calibri" pitchFamily="34" charset="-120"/>
              </a:rPr>
              <a:t>leçons publiées</a:t>
            </a:r>
            <a:endParaRPr lang="en-US" sz="1200" dirty="0"/>
          </a:p>
        </p:txBody>
      </p:sp>
      <p:sp>
        <p:nvSpPr>
          <p:cNvPr id="16" name="Shape 12"/>
          <p:cNvSpPr/>
          <p:nvPr/>
        </p:nvSpPr>
        <p:spPr>
          <a:xfrm>
            <a:off x="6217920" y="2011680"/>
            <a:ext cx="265176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7" name="Text 13"/>
          <p:cNvSpPr/>
          <p:nvPr/>
        </p:nvSpPr>
        <p:spPr>
          <a:xfrm>
            <a:off x="6355080" y="2240280"/>
            <a:ext cx="2377440" cy="777240"/>
          </a:xfrm>
          <a:prstGeom prst="rect">
            <a:avLst/>
          </a:prstGeom>
          <a:noFill/>
          <a:ln/>
        </p:spPr>
        <p:txBody>
          <a:bodyPr wrap="square" lIns="0" tIns="0" rIns="0" bIns="0" rtlCol="0" anchor="ctr"/>
          <a:lstStyle/>
          <a:p>
            <a:pPr algn="ctr" indent="0" marL="0">
              <a:buNone/>
            </a:pPr>
            <a:r>
              <a:rPr lang="en-US" sz="3800" b="1" dirty="0">
                <a:solidFill>
                  <a:srgbClr val="D21034"/>
                </a:solidFill>
                <a:latin typeface="Cambria" pitchFamily="34" charset="0"/>
                <a:ea typeface="Cambria" pitchFamily="34" charset="-122"/>
                <a:cs typeface="Cambria" pitchFamily="34" charset="-120"/>
              </a:rPr>
              <a:t>7</a:t>
            </a:r>
            <a:endParaRPr lang="en-US" sz="3800" dirty="0"/>
          </a:p>
        </p:txBody>
      </p:sp>
      <p:sp>
        <p:nvSpPr>
          <p:cNvPr id="18" name="Text 14"/>
          <p:cNvSpPr/>
          <p:nvPr/>
        </p:nvSpPr>
        <p:spPr>
          <a:xfrm>
            <a:off x="6355080" y="2971800"/>
            <a:ext cx="2377440" cy="457200"/>
          </a:xfrm>
          <a:prstGeom prst="rect">
            <a:avLst/>
          </a:prstGeom>
          <a:noFill/>
          <a:ln/>
        </p:spPr>
        <p:txBody>
          <a:bodyPr wrap="square" lIns="0" tIns="0" rIns="0" bIns="0" rtlCol="0" anchor="t"/>
          <a:lstStyle/>
          <a:p>
            <a:pPr algn="ctr" indent="0" marL="0">
              <a:buNone/>
            </a:pPr>
            <a:r>
              <a:rPr lang="en-US" sz="1200" dirty="0">
                <a:solidFill>
                  <a:srgbClr val="5C6B66"/>
                </a:solidFill>
                <a:latin typeface="Calibri" pitchFamily="34" charset="0"/>
                <a:ea typeface="Calibri" pitchFamily="34" charset="-122"/>
                <a:cs typeface="Calibri" pitchFamily="34" charset="-120"/>
              </a:rPr>
              <a:t>matières STIM et Anglais</a:t>
            </a:r>
            <a:endParaRPr lang="en-US" sz="1200" dirty="0"/>
          </a:p>
        </p:txBody>
      </p:sp>
      <p:sp>
        <p:nvSpPr>
          <p:cNvPr id="19" name="Shape 15"/>
          <p:cNvSpPr/>
          <p:nvPr/>
        </p:nvSpPr>
        <p:spPr>
          <a:xfrm>
            <a:off x="9052560" y="2011680"/>
            <a:ext cx="256032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20" name="Text 16"/>
          <p:cNvSpPr/>
          <p:nvPr/>
        </p:nvSpPr>
        <p:spPr>
          <a:xfrm>
            <a:off x="9189720" y="2240280"/>
            <a:ext cx="2286000" cy="777240"/>
          </a:xfrm>
          <a:prstGeom prst="rect">
            <a:avLst/>
          </a:prstGeom>
          <a:noFill/>
          <a:ln/>
        </p:spPr>
        <p:txBody>
          <a:bodyPr wrap="square" lIns="0" tIns="0" rIns="0" bIns="0" rtlCol="0" anchor="ctr"/>
          <a:lstStyle/>
          <a:p>
            <a:pPr algn="ctr" indent="0" marL="0">
              <a:buNone/>
            </a:pPr>
            <a:r>
              <a:rPr lang="en-US" sz="3800" b="1" dirty="0">
                <a:solidFill>
                  <a:srgbClr val="065C3C"/>
                </a:solidFill>
                <a:latin typeface="Cambria" pitchFamily="34" charset="0"/>
                <a:ea typeface="Cambria" pitchFamily="34" charset="-122"/>
                <a:cs typeface="Cambria" pitchFamily="34" charset="-120"/>
              </a:rPr>
              <a:t>EN LIGNE</a:t>
            </a:r>
            <a:endParaRPr lang="en-US" sz="3800" dirty="0"/>
          </a:p>
        </p:txBody>
      </p:sp>
      <p:sp>
        <p:nvSpPr>
          <p:cNvPr id="21" name="Text 17"/>
          <p:cNvSpPr/>
          <p:nvPr/>
        </p:nvSpPr>
        <p:spPr>
          <a:xfrm>
            <a:off x="9189720" y="2971800"/>
            <a:ext cx="2286000" cy="457200"/>
          </a:xfrm>
          <a:prstGeom prst="rect">
            <a:avLst/>
          </a:prstGeom>
          <a:noFill/>
          <a:ln/>
        </p:spPr>
        <p:txBody>
          <a:bodyPr wrap="square" lIns="0" tIns="0" rIns="0" bIns="0" rtlCol="0" anchor="t"/>
          <a:lstStyle/>
          <a:p>
            <a:pPr algn="ctr" indent="0" marL="0">
              <a:buNone/>
            </a:pPr>
            <a:r>
              <a:rPr lang="en-US" sz="1200" dirty="0">
                <a:solidFill>
                  <a:srgbClr val="5C6B66"/>
                </a:solidFill>
                <a:latin typeface="Calibri" pitchFamily="34" charset="0"/>
                <a:ea typeface="Calibri" pitchFamily="34" charset="-122"/>
                <a:cs typeface="Calibri" pitchFamily="34" charset="-120"/>
              </a:rPr>
              <a:t>academie.groupebm.net</a:t>
            </a:r>
            <a:endParaRPr lang="en-US" sz="1200" dirty="0"/>
          </a:p>
        </p:txBody>
      </p:sp>
      <p:sp>
        <p:nvSpPr>
          <p:cNvPr id="22" name="Text 18"/>
          <p:cNvSpPr/>
          <p:nvPr/>
        </p:nvSpPr>
        <p:spPr>
          <a:xfrm>
            <a:off x="548640" y="4023360"/>
            <a:ext cx="11064240" cy="914400"/>
          </a:xfrm>
          <a:prstGeom prst="rect">
            <a:avLst/>
          </a:prstGeom>
          <a:noFill/>
          <a:ln/>
        </p:spPr>
        <p:txBody>
          <a:bodyPr wrap="square" lIns="0" tIns="0" rIns="0" bIns="0" rtlCol="0" anchor="ctr"/>
          <a:lstStyle/>
          <a:p>
            <a:pPr algn="l" indent="0" marL="0">
              <a:lnSpc>
                <a:spcPct val="110000"/>
              </a:lnSpc>
              <a:buNone/>
            </a:pPr>
            <a:r>
              <a:rPr lang="en-US" sz="1400" dirty="0">
                <a:solidFill>
                  <a:srgbClr val="5C6B66"/>
                </a:solidFill>
                <a:latin typeface="Calibri" pitchFamily="34" charset="0"/>
                <a:ea typeface="Calibri" pitchFamily="34" charset="-122"/>
                <a:cs typeface="Calibri" pitchFamily="34" charset="-120"/>
              </a:rPr>
              <a:t>Curriculum complet en ligne, premiers modules vidéo produits en Physique, moteur d'examens officiels et tuteur IA opérationnels.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LE MARCHÉ</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Un marché large et sous-servi</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06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200253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Togo</a:t>
            </a:r>
            <a:endParaRPr lang="en-US" sz="150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Des centaines de milliers d'élèves du primaire au lycée, mal desservis en soutien scientifique.</a:t>
            </a:r>
            <a:endParaRPr lang="en-US" sz="1250" dirty="0"/>
          </a:p>
        </p:txBody>
      </p:sp>
      <p:sp>
        <p:nvSpPr>
          <p:cNvPr id="15" name="Shape 11"/>
          <p:cNvSpPr/>
          <p:nvPr/>
        </p:nvSpPr>
        <p:spPr>
          <a:xfrm>
            <a:off x="429768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53712" y="2039112"/>
            <a:ext cx="603504" cy="603504"/>
          </a:xfrm>
          <a:prstGeom prst="roundRect">
            <a:avLst>
              <a:gd name="adj" fmla="val 30303"/>
            </a:avLst>
          </a:prstGeom>
          <a:solidFill>
            <a:srgbClr val="2E6F40"/>
          </a:solidFill>
          <a:ln/>
        </p:spPr>
      </p:sp>
      <p:sp>
        <p:nvSpPr>
          <p:cNvPr id="17" name="Text 13"/>
          <p:cNvSpPr/>
          <p:nvPr/>
        </p:nvSpPr>
        <p:spPr>
          <a:xfrm>
            <a:off x="45537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303520" y="200253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Afrique francophone</a:t>
            </a:r>
            <a:endParaRPr lang="en-US" sz="1500" dirty="0"/>
          </a:p>
        </p:txBody>
      </p:sp>
      <p:sp>
        <p:nvSpPr>
          <p:cNvPr id="19" name="Text 15"/>
          <p:cNvSpPr/>
          <p:nvPr/>
        </p:nvSpPr>
        <p:spPr>
          <a:xfrm>
            <a:off x="4572000" y="2697480"/>
            <a:ext cx="3017520" cy="224028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Des millions d'élèves partageant le même système et les mêmes besoins : un marché réplicable.</a:t>
            </a:r>
            <a:endParaRPr lang="en-US" sz="1250" dirty="0"/>
          </a:p>
        </p:txBody>
      </p:sp>
      <p:sp>
        <p:nvSpPr>
          <p:cNvPr id="20" name="Shape 16"/>
          <p:cNvSpPr/>
          <p:nvPr/>
        </p:nvSpPr>
        <p:spPr>
          <a:xfrm>
            <a:off x="804672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302752" y="2039112"/>
            <a:ext cx="603504" cy="603504"/>
          </a:xfrm>
          <a:prstGeom prst="roundRect">
            <a:avLst>
              <a:gd name="adj" fmla="val 30303"/>
            </a:avLst>
          </a:prstGeom>
          <a:solidFill>
            <a:srgbClr val="D21034"/>
          </a:solidFill>
          <a:ln/>
        </p:spPr>
      </p:sp>
      <p:sp>
        <p:nvSpPr>
          <p:cNvPr id="22" name="Text 18"/>
          <p:cNvSpPr/>
          <p:nvPr/>
        </p:nvSpPr>
        <p:spPr>
          <a:xfrm>
            <a:off x="830275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9052560" y="2002536"/>
            <a:ext cx="23317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E-learning en essor</a:t>
            </a:r>
            <a:endParaRPr lang="en-US" sz="1500" dirty="0"/>
          </a:p>
        </p:txBody>
      </p:sp>
      <p:sp>
        <p:nvSpPr>
          <p:cNvPr id="24" name="Text 20"/>
          <p:cNvSpPr/>
          <p:nvPr/>
        </p:nvSpPr>
        <p:spPr>
          <a:xfrm>
            <a:off x="8321040" y="2697480"/>
            <a:ext cx="3017520" cy="224028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La pénétration mobile progresse vite : le canal numérique devient le plus efficace pour toucher les familles.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POURQUOI MAINTENANT</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Le bon moment, le bon canal</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07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Le mobile est partout</a:t>
            </a:r>
            <a:endParaRPr lang="en-US" sz="150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Le smartphone est devenu le premier écran des familles togolaises, y compris hors des grandes villes.</a:t>
            </a:r>
            <a:endParaRPr lang="en-US" sz="125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FFCE0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Le paiement mobile adopté</a:t>
            </a:r>
            <a:endParaRPr lang="en-US" sz="150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Flooz et le mobile money rendent l'abonnement simple et accessible ; le virement bancaire reste possible.</a:t>
            </a:r>
            <a:endParaRPr lang="en-US" sz="125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Une demande de soutien forte</a:t>
            </a:r>
            <a:endParaRPr lang="en-US" sz="150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Les familles cherchent activement un appui fiable pour réussir le BEPC et le BAC.</a:t>
            </a:r>
            <a:endParaRPr lang="en-US" sz="125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2E6F40"/>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L'IA rend le tutorat scalable</a:t>
            </a:r>
            <a:endParaRPr lang="en-US" sz="150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Un tuteur intelligent accompagne chaque élève à grande échelle et à faible coût.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MODÈLE ÉCONOMIQUE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Des revenus récurrents et diversifiés</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08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Abonnements</a:t>
            </a:r>
            <a:endParaRPr lang="en-US" sz="150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De 1 000 F/sem (1 matière) à 3 000 F/mois ou 7 500 F/trimestre par classe, 25 000 F/an plateforme.</a:t>
            </a:r>
            <a:endParaRPr lang="en-US" sz="125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D21034"/>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Kits d'examen</a:t>
            </a:r>
            <a:endParaRPr lang="en-US" sz="150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Préparation ciblée CEPD, BEPC, Probatoire, BAC (8 000 à 20 000 FCFA), vendus à l'unité.</a:t>
            </a:r>
            <a:endParaRPr lang="en-US" sz="125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2E6F40"/>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Tutorat en direct</a:t>
            </a:r>
            <a:endParaRPr lang="en-US" sz="150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Séances privées 1:1 avec des enseignants, payables à la séance.</a:t>
            </a:r>
            <a:endParaRPr lang="en-US" sz="125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Partenariats écoles</a:t>
            </a:r>
            <a:endParaRPr lang="en-US" sz="150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Licences B2B pour établissements et ONG éducatives.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AVANTAGE CONCURRENTIEL</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Ce qui nous distingue</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09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100% programme togolais</a:t>
            </a:r>
            <a:endParaRPr lang="en-US" sz="150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Fidèle à l'approche par compétences officielle, pas un contenu importé.</a:t>
            </a:r>
            <a:endParaRPr lang="en-US" sz="125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0B8457"/>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200253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IA pédagogique</a:t>
            </a:r>
            <a:endParaRPr lang="en-US" sz="150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Tuteur et correction d'examens par IA, déployés à grande échelle.</a:t>
            </a:r>
            <a:endParaRPr lang="en-US" sz="125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0B8457"/>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Mobile-first, faible bande passante</a:t>
            </a:r>
            <a:endParaRPr lang="en-US" sz="150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Conçu pour les connexions réelles du terrain togolais.</a:t>
            </a:r>
            <a:endParaRPr lang="en-US" sz="125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B8457"/>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3989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Écosystème Groupe BM</a:t>
            </a:r>
            <a:endParaRPr lang="en-US" sz="150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Adossé à un groupe actif en éducation, immigration, services et ingénierie.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ADOSSÉ À UN GROUPE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La force du Groupe BM</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10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10972800" cy="1188720"/>
          </a:xfrm>
          <a:prstGeom prst="rect">
            <a:avLst/>
          </a:prstGeom>
          <a:noFill/>
          <a:ln/>
        </p:spPr>
        <p:txBody>
          <a:bodyPr wrap="square" lIns="0" tIns="0" rIns="0" bIns="0" rtlCol="0" anchor="ctr"/>
          <a:lstStyle/>
          <a:p>
            <a:pPr algn="l" indent="0" marL="0">
              <a:lnSpc>
                <a:spcPct val="115000"/>
              </a:lnSpc>
              <a:spcAft>
                <a:spcPts val="800"/>
              </a:spcAft>
              <a:buNone/>
            </a:pPr>
            <a:r>
              <a:rPr lang="en-US" sz="1550" b="1" dirty="0">
                <a:solidFill>
                  <a:srgbClr val="1A2B26"/>
                </a:solidFill>
                <a:latin typeface="Calibri" pitchFamily="34" charset="0"/>
                <a:ea typeface="Calibri" pitchFamily="34" charset="-122"/>
                <a:cs typeface="Calibri" pitchFamily="34" charset="-120"/>
              </a:rPr>
              <a:t>Bâtir et moderniser.</a:t>
            </a:r>
            <a:endParaRPr lang="en-US" sz="1550" dirty="0"/>
          </a:p>
          <a:p>
            <a:pPr algn="l" indent="0" marL="0">
              <a:lnSpc>
                <a:spcPct val="115000"/>
              </a:lnSpc>
              <a:buNone/>
            </a:pPr>
            <a:r>
              <a:rPr lang="en-US" sz="1550" dirty="0">
                <a:solidFill>
                  <a:srgbClr val="1A2B26"/>
                </a:solidFill>
                <a:latin typeface="Calibri" pitchFamily="34" charset="0"/>
                <a:ea typeface="Calibri" pitchFamily="34" charset="-122"/>
                <a:cs typeface="Calibri" pitchFamily="34" charset="-120"/>
              </a:rPr>
              <a:t>Togo Academy est un département de Groupe BM. La plateforme s'appuie sur les ressources, la crédibilité et le réseau d'un groupe qui connecte les talents à l'excellence mondiale.</a:t>
            </a:r>
            <a:endParaRPr lang="en-US" sz="1550" dirty="0"/>
          </a:p>
        </p:txBody>
      </p:sp>
      <p:sp>
        <p:nvSpPr>
          <p:cNvPr id="11" name="Shape 7"/>
          <p:cNvSpPr/>
          <p:nvPr/>
        </p:nvSpPr>
        <p:spPr>
          <a:xfrm>
            <a:off x="548640" y="3291840"/>
            <a:ext cx="2651760" cy="1920240"/>
          </a:xfrm>
          <a:prstGeom prst="roundRect">
            <a:avLst>
              <a:gd name="adj" fmla="val 5714"/>
            </a:avLst>
          </a:prstGeom>
          <a:solidFill>
            <a:srgbClr val="EAFAF1"/>
          </a:solidFill>
          <a:ln w="12700">
            <a:solidFill>
              <a:srgbClr val="CDEFDB"/>
            </a:solidFill>
            <a:prstDash val="solid"/>
          </a:ln>
        </p:spPr>
      </p:sp>
      <p:sp>
        <p:nvSpPr>
          <p:cNvPr id="12" name="Shape 8"/>
          <p:cNvSpPr/>
          <p:nvPr/>
        </p:nvSpPr>
        <p:spPr>
          <a:xfrm>
            <a:off x="1417320" y="3566160"/>
            <a:ext cx="914400" cy="914400"/>
          </a:xfrm>
          <a:prstGeom prst="roundRect">
            <a:avLst>
              <a:gd name="adj" fmla="val 28000"/>
            </a:avLst>
          </a:prstGeom>
          <a:solidFill>
            <a:srgbClr val="0B8457"/>
          </a:solidFill>
          <a:ln/>
        </p:spPr>
      </p:sp>
      <p:sp>
        <p:nvSpPr>
          <p:cNvPr id="13" name="Text 9"/>
          <p:cNvSpPr/>
          <p:nvPr/>
        </p:nvSpPr>
        <p:spPr>
          <a:xfrm>
            <a:off x="1417320"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0"/>
          <p:cNvSpPr/>
          <p:nvPr/>
        </p:nvSpPr>
        <p:spPr>
          <a:xfrm>
            <a:off x="548640" y="4572000"/>
            <a:ext cx="2651760" cy="457200"/>
          </a:xfrm>
          <a:prstGeom prst="rect">
            <a:avLst/>
          </a:prstGeom>
          <a:noFill/>
          <a:ln/>
        </p:spPr>
        <p:txBody>
          <a:bodyPr wrap="square" lIns="0" tIns="0" rIns="0" bIns="0" rtlCol="0" anchor="ctr"/>
          <a:lstStyle/>
          <a:p>
            <a:pPr algn="ctr" indent="0" marL="0">
              <a:buNone/>
            </a:pPr>
            <a:r>
              <a:rPr lang="en-US" sz="1600" b="1" dirty="0">
                <a:solidFill>
                  <a:srgbClr val="1A2B26"/>
                </a:solidFill>
                <a:latin typeface="Cambria" pitchFamily="34" charset="0"/>
                <a:ea typeface="Cambria" pitchFamily="34" charset="-122"/>
                <a:cs typeface="Cambria" pitchFamily="34" charset="-120"/>
              </a:rPr>
              <a:t>Éducation</a:t>
            </a:r>
            <a:endParaRPr lang="en-US" sz="1600" dirty="0"/>
          </a:p>
        </p:txBody>
      </p:sp>
      <p:sp>
        <p:nvSpPr>
          <p:cNvPr id="15" name="Shape 11"/>
          <p:cNvSpPr/>
          <p:nvPr/>
        </p:nvSpPr>
        <p:spPr>
          <a:xfrm>
            <a:off x="3364992" y="3291840"/>
            <a:ext cx="2651760" cy="1920240"/>
          </a:xfrm>
          <a:prstGeom prst="roundRect">
            <a:avLst>
              <a:gd name="adj" fmla="val 5714"/>
            </a:avLst>
          </a:prstGeom>
          <a:solidFill>
            <a:srgbClr val="EAFAF1"/>
          </a:solidFill>
          <a:ln w="12700">
            <a:solidFill>
              <a:srgbClr val="CDEFDB"/>
            </a:solidFill>
            <a:prstDash val="solid"/>
          </a:ln>
        </p:spPr>
      </p:sp>
      <p:sp>
        <p:nvSpPr>
          <p:cNvPr id="16" name="Shape 12"/>
          <p:cNvSpPr/>
          <p:nvPr/>
        </p:nvSpPr>
        <p:spPr>
          <a:xfrm>
            <a:off x="4233672" y="3566160"/>
            <a:ext cx="914400" cy="914400"/>
          </a:xfrm>
          <a:prstGeom prst="roundRect">
            <a:avLst>
              <a:gd name="adj" fmla="val 28000"/>
            </a:avLst>
          </a:prstGeom>
          <a:solidFill>
            <a:srgbClr val="2E6F40"/>
          </a:solidFill>
          <a:ln/>
        </p:spPr>
      </p:sp>
      <p:sp>
        <p:nvSpPr>
          <p:cNvPr id="17" name="Text 13"/>
          <p:cNvSpPr/>
          <p:nvPr/>
        </p:nvSpPr>
        <p:spPr>
          <a:xfrm>
            <a:off x="4233672"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4"/>
          <p:cNvSpPr/>
          <p:nvPr/>
        </p:nvSpPr>
        <p:spPr>
          <a:xfrm>
            <a:off x="3364992" y="4572000"/>
            <a:ext cx="2651760" cy="457200"/>
          </a:xfrm>
          <a:prstGeom prst="rect">
            <a:avLst/>
          </a:prstGeom>
          <a:noFill/>
          <a:ln/>
        </p:spPr>
        <p:txBody>
          <a:bodyPr wrap="square" lIns="0" tIns="0" rIns="0" bIns="0" rtlCol="0" anchor="ctr"/>
          <a:lstStyle/>
          <a:p>
            <a:pPr algn="ctr" indent="0" marL="0">
              <a:buNone/>
            </a:pPr>
            <a:r>
              <a:rPr lang="en-US" sz="1600" b="1" dirty="0">
                <a:solidFill>
                  <a:srgbClr val="1A2B26"/>
                </a:solidFill>
                <a:latin typeface="Cambria" pitchFamily="34" charset="0"/>
                <a:ea typeface="Cambria" pitchFamily="34" charset="-122"/>
                <a:cs typeface="Cambria" pitchFamily="34" charset="-120"/>
              </a:rPr>
              <a:t>Immigration</a:t>
            </a:r>
            <a:endParaRPr lang="en-US" sz="1600" dirty="0"/>
          </a:p>
        </p:txBody>
      </p:sp>
      <p:sp>
        <p:nvSpPr>
          <p:cNvPr id="19" name="Shape 15"/>
          <p:cNvSpPr/>
          <p:nvPr/>
        </p:nvSpPr>
        <p:spPr>
          <a:xfrm>
            <a:off x="6181344" y="3291840"/>
            <a:ext cx="2651760" cy="1920240"/>
          </a:xfrm>
          <a:prstGeom prst="roundRect">
            <a:avLst>
              <a:gd name="adj" fmla="val 5714"/>
            </a:avLst>
          </a:prstGeom>
          <a:solidFill>
            <a:srgbClr val="EAFAF1"/>
          </a:solidFill>
          <a:ln w="12700">
            <a:solidFill>
              <a:srgbClr val="CDEFDB"/>
            </a:solidFill>
            <a:prstDash val="solid"/>
          </a:ln>
        </p:spPr>
      </p:sp>
      <p:sp>
        <p:nvSpPr>
          <p:cNvPr id="20" name="Shape 16"/>
          <p:cNvSpPr/>
          <p:nvPr/>
        </p:nvSpPr>
        <p:spPr>
          <a:xfrm>
            <a:off x="7050024" y="3566160"/>
            <a:ext cx="914400" cy="914400"/>
          </a:xfrm>
          <a:prstGeom prst="roundRect">
            <a:avLst>
              <a:gd name="adj" fmla="val 28000"/>
            </a:avLst>
          </a:prstGeom>
          <a:solidFill>
            <a:srgbClr val="D21034"/>
          </a:solidFill>
          <a:ln/>
        </p:spPr>
      </p:sp>
      <p:sp>
        <p:nvSpPr>
          <p:cNvPr id="21" name="Text 17"/>
          <p:cNvSpPr/>
          <p:nvPr/>
        </p:nvSpPr>
        <p:spPr>
          <a:xfrm>
            <a:off x="7050024"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18"/>
          <p:cNvSpPr/>
          <p:nvPr/>
        </p:nvSpPr>
        <p:spPr>
          <a:xfrm>
            <a:off x="6181344" y="4572000"/>
            <a:ext cx="2651760" cy="457200"/>
          </a:xfrm>
          <a:prstGeom prst="rect">
            <a:avLst/>
          </a:prstGeom>
          <a:noFill/>
          <a:ln/>
        </p:spPr>
        <p:txBody>
          <a:bodyPr wrap="square" lIns="0" tIns="0" rIns="0" bIns="0" rtlCol="0" anchor="ctr"/>
          <a:lstStyle/>
          <a:p>
            <a:pPr algn="ctr" indent="0" marL="0">
              <a:buNone/>
            </a:pPr>
            <a:r>
              <a:rPr lang="en-US" sz="1600" b="1" dirty="0">
                <a:solidFill>
                  <a:srgbClr val="1A2B26"/>
                </a:solidFill>
                <a:latin typeface="Cambria" pitchFamily="34" charset="0"/>
                <a:ea typeface="Cambria" pitchFamily="34" charset="-122"/>
                <a:cs typeface="Cambria" pitchFamily="34" charset="-120"/>
              </a:rPr>
              <a:t>Services</a:t>
            </a:r>
            <a:endParaRPr lang="en-US" sz="1600" dirty="0"/>
          </a:p>
        </p:txBody>
      </p:sp>
      <p:sp>
        <p:nvSpPr>
          <p:cNvPr id="23" name="Shape 19"/>
          <p:cNvSpPr/>
          <p:nvPr/>
        </p:nvSpPr>
        <p:spPr>
          <a:xfrm>
            <a:off x="8997696" y="3291840"/>
            <a:ext cx="2651760" cy="1920240"/>
          </a:xfrm>
          <a:prstGeom prst="roundRect">
            <a:avLst>
              <a:gd name="adj" fmla="val 5714"/>
            </a:avLst>
          </a:prstGeom>
          <a:solidFill>
            <a:srgbClr val="EAFAF1"/>
          </a:solidFill>
          <a:ln w="12700">
            <a:solidFill>
              <a:srgbClr val="CDEFDB"/>
            </a:solidFill>
            <a:prstDash val="solid"/>
          </a:ln>
        </p:spPr>
      </p:sp>
      <p:sp>
        <p:nvSpPr>
          <p:cNvPr id="24" name="Shape 20"/>
          <p:cNvSpPr/>
          <p:nvPr/>
        </p:nvSpPr>
        <p:spPr>
          <a:xfrm>
            <a:off x="9866376" y="3566160"/>
            <a:ext cx="914400" cy="914400"/>
          </a:xfrm>
          <a:prstGeom prst="roundRect">
            <a:avLst>
              <a:gd name="adj" fmla="val 28000"/>
            </a:avLst>
          </a:prstGeom>
          <a:solidFill>
            <a:srgbClr val="065C3C"/>
          </a:solidFill>
          <a:ln/>
        </p:spPr>
      </p:sp>
      <p:sp>
        <p:nvSpPr>
          <p:cNvPr id="25" name="Text 21"/>
          <p:cNvSpPr/>
          <p:nvPr/>
        </p:nvSpPr>
        <p:spPr>
          <a:xfrm>
            <a:off x="9866376"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2"/>
          <p:cNvSpPr/>
          <p:nvPr/>
        </p:nvSpPr>
        <p:spPr>
          <a:xfrm>
            <a:off x="8997696" y="4572000"/>
            <a:ext cx="2651760" cy="457200"/>
          </a:xfrm>
          <a:prstGeom prst="rect">
            <a:avLst/>
          </a:prstGeom>
          <a:noFill/>
          <a:ln/>
        </p:spPr>
        <p:txBody>
          <a:bodyPr wrap="square" lIns="0" tIns="0" rIns="0" bIns="0" rtlCol="0" anchor="ctr"/>
          <a:lstStyle/>
          <a:p>
            <a:pPr algn="ctr" indent="0" marL="0">
              <a:buNone/>
            </a:pPr>
            <a:r>
              <a:rPr lang="en-US" sz="1600" b="1" dirty="0">
                <a:solidFill>
                  <a:srgbClr val="1A2B26"/>
                </a:solidFill>
                <a:latin typeface="Cambria" pitchFamily="34" charset="0"/>
                <a:ea typeface="Cambria" pitchFamily="34" charset="-122"/>
                <a:cs typeface="Cambria" pitchFamily="34" charset="-120"/>
              </a:rPr>
              <a:t>Ingénierie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VISION</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Du Togo à l'Afrique francophone</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11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920240"/>
            <a:ext cx="3520440" cy="3108960"/>
          </a:xfrm>
          <a:prstGeom prst="roundRect">
            <a:avLst>
              <a:gd name="adj" fmla="val 3529"/>
            </a:avLst>
          </a:prstGeom>
          <a:solidFill>
            <a:srgbClr val="EAFAF1"/>
          </a:solidFill>
          <a:ln w="12700">
            <a:solidFill>
              <a:srgbClr val="CDEFDB"/>
            </a:solidFill>
            <a:prstDash val="solid"/>
          </a:ln>
        </p:spPr>
      </p:sp>
      <p:sp>
        <p:nvSpPr>
          <p:cNvPr id="11" name="Shape 7"/>
          <p:cNvSpPr/>
          <p:nvPr/>
        </p:nvSpPr>
        <p:spPr>
          <a:xfrm>
            <a:off x="822960" y="2194560"/>
            <a:ext cx="731520" cy="731520"/>
          </a:xfrm>
          <a:prstGeom prst="roundRect">
            <a:avLst>
              <a:gd name="adj" fmla="val 30000"/>
            </a:avLst>
          </a:prstGeom>
          <a:solidFill>
            <a:srgbClr val="0B8457"/>
          </a:solidFill>
          <a:ln/>
        </p:spPr>
      </p:sp>
      <p:sp>
        <p:nvSpPr>
          <p:cNvPr id="12" name="Text 8"/>
          <p:cNvSpPr/>
          <p:nvPr/>
        </p:nvSpPr>
        <p:spPr>
          <a:xfrm>
            <a:off x="822960" y="21945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3" name="Text 9"/>
          <p:cNvSpPr/>
          <p:nvPr/>
        </p:nvSpPr>
        <p:spPr>
          <a:xfrm>
            <a:off x="822960" y="3108960"/>
            <a:ext cx="2971800" cy="548640"/>
          </a:xfrm>
          <a:prstGeom prst="rect">
            <a:avLst/>
          </a:prstGeom>
          <a:noFill/>
          <a:ln/>
        </p:spPr>
        <p:txBody>
          <a:bodyPr wrap="square" lIns="0" tIns="0" rIns="0" bIns="0" rtlCol="0" anchor="ctr"/>
          <a:lstStyle/>
          <a:p>
            <a:pPr algn="l" indent="0" marL="0">
              <a:buNone/>
            </a:pPr>
            <a:r>
              <a:rPr lang="en-US" sz="1600" b="1" dirty="0">
                <a:solidFill>
                  <a:srgbClr val="1A2B26"/>
                </a:solidFill>
                <a:latin typeface="Cambria" pitchFamily="34" charset="0"/>
                <a:ea typeface="Cambria" pitchFamily="34" charset="-122"/>
                <a:cs typeface="Cambria" pitchFamily="34" charset="-120"/>
              </a:rPr>
              <a:t>Consolider le Togo</a:t>
            </a:r>
            <a:endParaRPr lang="en-US" sz="1600" dirty="0"/>
          </a:p>
        </p:txBody>
      </p:sp>
      <p:sp>
        <p:nvSpPr>
          <p:cNvPr id="14" name="Text 10"/>
          <p:cNvSpPr/>
          <p:nvPr/>
        </p:nvSpPr>
        <p:spPr>
          <a:xfrm>
            <a:off x="822960" y="3657600"/>
            <a:ext cx="2971800" cy="1188720"/>
          </a:xfrm>
          <a:prstGeom prst="rect">
            <a:avLst/>
          </a:prstGeom>
          <a:noFill/>
          <a:ln/>
        </p:spPr>
        <p:txBody>
          <a:bodyPr wrap="square" lIns="0" tIns="0" rIns="0" bIns="0" rtlCol="0" anchor="ctr"/>
          <a:lstStyle/>
          <a:p>
            <a:pPr algn="l" indent="0" marL="0">
              <a:lnSpc>
                <a:spcPct val="110000"/>
              </a:lnSpc>
              <a:buNone/>
            </a:pPr>
            <a:r>
              <a:rPr lang="en-US" sz="1250" dirty="0">
                <a:solidFill>
                  <a:srgbClr val="5C6B66"/>
                </a:solidFill>
                <a:latin typeface="Calibri" pitchFamily="34" charset="0"/>
                <a:ea typeface="Calibri" pitchFamily="34" charset="-122"/>
                <a:cs typeface="Calibri" pitchFamily="34" charset="-120"/>
              </a:rPr>
              <a:t>Compléter les contenus vidéo et convertir les premiers abonnés payants.</a:t>
            </a:r>
            <a:endParaRPr lang="en-US" sz="1250" dirty="0"/>
          </a:p>
        </p:txBody>
      </p:sp>
      <p:sp>
        <p:nvSpPr>
          <p:cNvPr id="15" name="Shape 11"/>
          <p:cNvSpPr/>
          <p:nvPr/>
        </p:nvSpPr>
        <p:spPr>
          <a:xfrm>
            <a:off x="4251960" y="1920240"/>
            <a:ext cx="3520440" cy="3108960"/>
          </a:xfrm>
          <a:prstGeom prst="roundRect">
            <a:avLst>
              <a:gd name="adj" fmla="val 3529"/>
            </a:avLst>
          </a:prstGeom>
          <a:solidFill>
            <a:srgbClr val="EAFAF1"/>
          </a:solidFill>
          <a:ln w="12700">
            <a:solidFill>
              <a:srgbClr val="CDEFDB"/>
            </a:solidFill>
            <a:prstDash val="solid"/>
          </a:ln>
        </p:spPr>
      </p:sp>
      <p:sp>
        <p:nvSpPr>
          <p:cNvPr id="16" name="Shape 12"/>
          <p:cNvSpPr/>
          <p:nvPr/>
        </p:nvSpPr>
        <p:spPr>
          <a:xfrm>
            <a:off x="4526280" y="2194560"/>
            <a:ext cx="731520" cy="731520"/>
          </a:xfrm>
          <a:prstGeom prst="roundRect">
            <a:avLst>
              <a:gd name="adj" fmla="val 30000"/>
            </a:avLst>
          </a:prstGeom>
          <a:solidFill>
            <a:srgbClr val="2E6F40"/>
          </a:solidFill>
          <a:ln/>
        </p:spPr>
      </p:sp>
      <p:sp>
        <p:nvSpPr>
          <p:cNvPr id="17" name="Text 13"/>
          <p:cNvSpPr/>
          <p:nvPr/>
        </p:nvSpPr>
        <p:spPr>
          <a:xfrm>
            <a:off x="4526280" y="21945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8" name="Text 14"/>
          <p:cNvSpPr/>
          <p:nvPr/>
        </p:nvSpPr>
        <p:spPr>
          <a:xfrm>
            <a:off x="4526280" y="3108960"/>
            <a:ext cx="2971800" cy="548640"/>
          </a:xfrm>
          <a:prstGeom prst="rect">
            <a:avLst/>
          </a:prstGeom>
          <a:noFill/>
          <a:ln/>
        </p:spPr>
        <p:txBody>
          <a:bodyPr wrap="square" lIns="0" tIns="0" rIns="0" bIns="0" rtlCol="0" anchor="ctr"/>
          <a:lstStyle/>
          <a:p>
            <a:pPr algn="l" indent="0" marL="0">
              <a:buNone/>
            </a:pPr>
            <a:r>
              <a:rPr lang="en-US" sz="1600" b="1" dirty="0">
                <a:solidFill>
                  <a:srgbClr val="1A2B26"/>
                </a:solidFill>
                <a:latin typeface="Cambria" pitchFamily="34" charset="0"/>
                <a:ea typeface="Cambria" pitchFamily="34" charset="-122"/>
                <a:cs typeface="Cambria" pitchFamily="34" charset="-120"/>
              </a:rPr>
              <a:t>Densifier et monétiser</a:t>
            </a:r>
            <a:endParaRPr lang="en-US" sz="1600" dirty="0"/>
          </a:p>
        </p:txBody>
      </p:sp>
      <p:sp>
        <p:nvSpPr>
          <p:cNvPr id="19" name="Text 15"/>
          <p:cNvSpPr/>
          <p:nvPr/>
        </p:nvSpPr>
        <p:spPr>
          <a:xfrm>
            <a:off x="4526280" y="3657600"/>
            <a:ext cx="2971800" cy="1188720"/>
          </a:xfrm>
          <a:prstGeom prst="rect">
            <a:avLst/>
          </a:prstGeom>
          <a:noFill/>
          <a:ln/>
        </p:spPr>
        <p:txBody>
          <a:bodyPr wrap="square" lIns="0" tIns="0" rIns="0" bIns="0" rtlCol="0" anchor="ctr"/>
          <a:lstStyle/>
          <a:p>
            <a:pPr algn="l" indent="0" marL="0">
              <a:lnSpc>
                <a:spcPct val="110000"/>
              </a:lnSpc>
              <a:buNone/>
            </a:pPr>
            <a:r>
              <a:rPr lang="en-US" sz="1250" dirty="0">
                <a:solidFill>
                  <a:srgbClr val="5C6B66"/>
                </a:solidFill>
                <a:latin typeface="Calibri" pitchFamily="34" charset="0"/>
                <a:ea typeface="Calibri" pitchFamily="34" charset="-122"/>
                <a:cs typeface="Calibri" pitchFamily="34" charset="-120"/>
              </a:rPr>
              <a:t>Tutorat, kits d'examen et partenariats écoles pour atteindre la rentabilité.</a:t>
            </a:r>
            <a:endParaRPr lang="en-US" sz="1250" dirty="0"/>
          </a:p>
        </p:txBody>
      </p:sp>
      <p:sp>
        <p:nvSpPr>
          <p:cNvPr id="20" name="Shape 16"/>
          <p:cNvSpPr/>
          <p:nvPr/>
        </p:nvSpPr>
        <p:spPr>
          <a:xfrm>
            <a:off x="7955280" y="1920240"/>
            <a:ext cx="3520440" cy="3108960"/>
          </a:xfrm>
          <a:prstGeom prst="roundRect">
            <a:avLst>
              <a:gd name="adj" fmla="val 3529"/>
            </a:avLst>
          </a:prstGeom>
          <a:solidFill>
            <a:srgbClr val="EAFAF1"/>
          </a:solidFill>
          <a:ln w="12700">
            <a:solidFill>
              <a:srgbClr val="CDEFDB"/>
            </a:solidFill>
            <a:prstDash val="solid"/>
          </a:ln>
        </p:spPr>
      </p:sp>
      <p:sp>
        <p:nvSpPr>
          <p:cNvPr id="21" name="Shape 17"/>
          <p:cNvSpPr/>
          <p:nvPr/>
        </p:nvSpPr>
        <p:spPr>
          <a:xfrm>
            <a:off x="8229600" y="2194560"/>
            <a:ext cx="731520" cy="731520"/>
          </a:xfrm>
          <a:prstGeom prst="roundRect">
            <a:avLst>
              <a:gd name="adj" fmla="val 30000"/>
            </a:avLst>
          </a:prstGeom>
          <a:solidFill>
            <a:srgbClr val="065C3C"/>
          </a:solidFill>
          <a:ln/>
        </p:spPr>
      </p:sp>
      <p:sp>
        <p:nvSpPr>
          <p:cNvPr id="22" name="Text 18"/>
          <p:cNvSpPr/>
          <p:nvPr/>
        </p:nvSpPr>
        <p:spPr>
          <a:xfrm>
            <a:off x="8229600" y="21945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23" name="Text 19"/>
          <p:cNvSpPr/>
          <p:nvPr/>
        </p:nvSpPr>
        <p:spPr>
          <a:xfrm>
            <a:off x="8229600" y="3108960"/>
            <a:ext cx="2971800" cy="548640"/>
          </a:xfrm>
          <a:prstGeom prst="rect">
            <a:avLst/>
          </a:prstGeom>
          <a:noFill/>
          <a:ln/>
        </p:spPr>
        <p:txBody>
          <a:bodyPr wrap="square" lIns="0" tIns="0" rIns="0" bIns="0" rtlCol="0" anchor="ctr"/>
          <a:lstStyle/>
          <a:p>
            <a:pPr algn="l" indent="0" marL="0">
              <a:buNone/>
            </a:pPr>
            <a:r>
              <a:rPr lang="en-US" sz="1600" b="1" dirty="0">
                <a:solidFill>
                  <a:srgbClr val="1A2B26"/>
                </a:solidFill>
                <a:latin typeface="Cambria" pitchFamily="34" charset="0"/>
                <a:ea typeface="Cambria" pitchFamily="34" charset="-122"/>
                <a:cs typeface="Cambria" pitchFamily="34" charset="-120"/>
              </a:rPr>
              <a:t>Répliquer la recette</a:t>
            </a:r>
            <a:endParaRPr lang="en-US" sz="1600" dirty="0"/>
          </a:p>
        </p:txBody>
      </p:sp>
      <p:sp>
        <p:nvSpPr>
          <p:cNvPr id="24" name="Text 20"/>
          <p:cNvSpPr/>
          <p:nvPr/>
        </p:nvSpPr>
        <p:spPr>
          <a:xfrm>
            <a:off x="8229600" y="3657600"/>
            <a:ext cx="2971800" cy="1188720"/>
          </a:xfrm>
          <a:prstGeom prst="rect">
            <a:avLst/>
          </a:prstGeom>
          <a:noFill/>
          <a:ln/>
        </p:spPr>
        <p:txBody>
          <a:bodyPr wrap="square" lIns="0" tIns="0" rIns="0" bIns="0" rtlCol="0" anchor="ctr"/>
          <a:lstStyle/>
          <a:p>
            <a:pPr algn="l" indent="0" marL="0">
              <a:lnSpc>
                <a:spcPct val="110000"/>
              </a:lnSpc>
              <a:buNone/>
            </a:pPr>
            <a:r>
              <a:rPr lang="en-US" sz="1250" dirty="0">
                <a:solidFill>
                  <a:srgbClr val="5C6B66"/>
                </a:solidFill>
                <a:latin typeface="Calibri" pitchFamily="34" charset="0"/>
                <a:ea typeface="Calibri" pitchFamily="34" charset="-122"/>
                <a:cs typeface="Calibri" pitchFamily="34" charset="-120"/>
              </a:rPr>
              <a:t>Étendre aux pays voisins partageant le programme francophone.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LA LEVÉE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3000" b="1" dirty="0">
                <a:solidFill>
                  <a:srgbClr val="1A2B26"/>
                </a:solidFill>
                <a:latin typeface="Cambria" pitchFamily="34" charset="0"/>
                <a:ea typeface="Cambria" pitchFamily="34" charset="-122"/>
                <a:cs typeface="Cambria" pitchFamily="34" charset="-120"/>
              </a:rPr>
              <a:t>Où ira votre investissement</a:t>
            </a:r>
            <a:endParaRPr lang="en-US" sz="30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12 · 13</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783080"/>
            <a:ext cx="10972800" cy="548640"/>
          </a:xfrm>
          <a:prstGeom prst="rect">
            <a:avLst/>
          </a:prstGeom>
          <a:noFill/>
          <a:ln/>
        </p:spPr>
        <p:txBody>
          <a:bodyPr wrap="square" lIns="0" tIns="0" rIns="0" bIns="0" rtlCol="0" anchor="ctr"/>
          <a:lstStyle/>
          <a:p>
            <a:pPr algn="l" indent="0" marL="0">
              <a:buNone/>
            </a:pPr>
            <a:r>
              <a:rPr lang="en-US" sz="1550" dirty="0">
                <a:solidFill>
                  <a:srgbClr val="1A2B26"/>
                </a:solidFill>
                <a:latin typeface="Calibri" pitchFamily="34" charset="0"/>
                <a:ea typeface="Calibri" pitchFamily="34" charset="-122"/>
                <a:cs typeface="Calibri" pitchFamily="34" charset="-120"/>
              </a:rPr>
              <a:t>Nous levons des fonds pour accélérer la production de contenu, la technologie et l'acquisition d'élèves.</a:t>
            </a:r>
            <a:endParaRPr lang="en-US" sz="1550" dirty="0"/>
          </a:p>
        </p:txBody>
      </p:sp>
      <p:sp>
        <p:nvSpPr>
          <p:cNvPr id="11" name="Shape 7"/>
          <p:cNvSpPr/>
          <p:nvPr/>
        </p:nvSpPr>
        <p:spPr>
          <a:xfrm>
            <a:off x="548640" y="2514600"/>
            <a:ext cx="5394960" cy="1371600"/>
          </a:xfrm>
          <a:prstGeom prst="roundRect">
            <a:avLst>
              <a:gd name="adj" fmla="val 8000"/>
            </a:avLst>
          </a:prstGeom>
          <a:solidFill>
            <a:srgbClr val="EAFAF1"/>
          </a:solidFill>
          <a:ln w="12700">
            <a:solidFill>
              <a:srgbClr val="CDEFDB"/>
            </a:solidFill>
            <a:prstDash val="solid"/>
          </a:ln>
        </p:spPr>
      </p:sp>
      <p:sp>
        <p:nvSpPr>
          <p:cNvPr id="12" name="Shape 8"/>
          <p:cNvSpPr/>
          <p:nvPr/>
        </p:nvSpPr>
        <p:spPr>
          <a:xfrm>
            <a:off x="804672" y="2770632"/>
            <a:ext cx="603504" cy="603504"/>
          </a:xfrm>
          <a:prstGeom prst="roundRect">
            <a:avLst>
              <a:gd name="adj" fmla="val 30303"/>
            </a:avLst>
          </a:prstGeom>
          <a:solidFill>
            <a:srgbClr val="0B8457"/>
          </a:solidFill>
          <a:ln/>
        </p:spPr>
      </p:sp>
      <p:sp>
        <p:nvSpPr>
          <p:cNvPr id="13" name="Text 9"/>
          <p:cNvSpPr/>
          <p:nvPr/>
        </p:nvSpPr>
        <p:spPr>
          <a:xfrm>
            <a:off x="804672" y="277063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0"/>
          <p:cNvSpPr/>
          <p:nvPr/>
        </p:nvSpPr>
        <p:spPr>
          <a:xfrm>
            <a:off x="1554480" y="273405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Production vidéo STIM</a:t>
            </a:r>
            <a:endParaRPr lang="en-US" sz="1500" dirty="0"/>
          </a:p>
        </p:txBody>
      </p:sp>
      <p:sp>
        <p:nvSpPr>
          <p:cNvPr id="15" name="Text 11"/>
          <p:cNvSpPr/>
          <p:nvPr/>
        </p:nvSpPr>
        <p:spPr>
          <a:xfrm>
            <a:off x="822960" y="3429000"/>
            <a:ext cx="4846320" cy="3200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Compléter les modules vidéo dans toutes les matières et tous les niveaux.</a:t>
            </a:r>
            <a:endParaRPr lang="en-US" sz="1250" dirty="0"/>
          </a:p>
        </p:txBody>
      </p:sp>
      <p:sp>
        <p:nvSpPr>
          <p:cNvPr id="16" name="Shape 12"/>
          <p:cNvSpPr/>
          <p:nvPr/>
        </p:nvSpPr>
        <p:spPr>
          <a:xfrm>
            <a:off x="6126480" y="2514600"/>
            <a:ext cx="5394960" cy="1371600"/>
          </a:xfrm>
          <a:prstGeom prst="roundRect">
            <a:avLst>
              <a:gd name="adj" fmla="val 8000"/>
            </a:avLst>
          </a:prstGeom>
          <a:solidFill>
            <a:srgbClr val="EAFAF1"/>
          </a:solidFill>
          <a:ln w="12700">
            <a:solidFill>
              <a:srgbClr val="CDEFDB"/>
            </a:solidFill>
            <a:prstDash val="solid"/>
          </a:ln>
        </p:spPr>
      </p:sp>
      <p:sp>
        <p:nvSpPr>
          <p:cNvPr id="17" name="Shape 13"/>
          <p:cNvSpPr/>
          <p:nvPr/>
        </p:nvSpPr>
        <p:spPr>
          <a:xfrm>
            <a:off x="6382512" y="2770632"/>
            <a:ext cx="603504" cy="603504"/>
          </a:xfrm>
          <a:prstGeom prst="roundRect">
            <a:avLst>
              <a:gd name="adj" fmla="val 30303"/>
            </a:avLst>
          </a:prstGeom>
          <a:solidFill>
            <a:srgbClr val="2E6F40"/>
          </a:solidFill>
          <a:ln/>
        </p:spPr>
      </p:sp>
      <p:sp>
        <p:nvSpPr>
          <p:cNvPr id="18" name="Text 14"/>
          <p:cNvSpPr/>
          <p:nvPr/>
        </p:nvSpPr>
        <p:spPr>
          <a:xfrm>
            <a:off x="6382512" y="277063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5"/>
          <p:cNvSpPr/>
          <p:nvPr/>
        </p:nvSpPr>
        <p:spPr>
          <a:xfrm>
            <a:off x="7132320" y="273405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Plateforme et IA</a:t>
            </a:r>
            <a:endParaRPr lang="en-US" sz="1500" dirty="0"/>
          </a:p>
        </p:txBody>
      </p:sp>
      <p:sp>
        <p:nvSpPr>
          <p:cNvPr id="20" name="Text 16"/>
          <p:cNvSpPr/>
          <p:nvPr/>
        </p:nvSpPr>
        <p:spPr>
          <a:xfrm>
            <a:off x="6400800" y="3429000"/>
            <a:ext cx="4846320" cy="3200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Renforcer le tuteur IA, le moteur d'examens et l'expérience mobile.</a:t>
            </a:r>
            <a:endParaRPr lang="en-US" sz="1250" dirty="0"/>
          </a:p>
        </p:txBody>
      </p:sp>
      <p:sp>
        <p:nvSpPr>
          <p:cNvPr id="21" name="Shape 17"/>
          <p:cNvSpPr/>
          <p:nvPr/>
        </p:nvSpPr>
        <p:spPr>
          <a:xfrm>
            <a:off x="548640" y="4023360"/>
            <a:ext cx="5394960" cy="1371600"/>
          </a:xfrm>
          <a:prstGeom prst="roundRect">
            <a:avLst>
              <a:gd name="adj" fmla="val 8000"/>
            </a:avLst>
          </a:prstGeom>
          <a:solidFill>
            <a:srgbClr val="EAFAF1"/>
          </a:solidFill>
          <a:ln w="12700">
            <a:solidFill>
              <a:srgbClr val="CDEFDB"/>
            </a:solidFill>
            <a:prstDash val="solid"/>
          </a:ln>
        </p:spPr>
      </p:sp>
      <p:sp>
        <p:nvSpPr>
          <p:cNvPr id="22" name="Shape 18"/>
          <p:cNvSpPr/>
          <p:nvPr/>
        </p:nvSpPr>
        <p:spPr>
          <a:xfrm>
            <a:off x="804672" y="4279392"/>
            <a:ext cx="603504" cy="603504"/>
          </a:xfrm>
          <a:prstGeom prst="roundRect">
            <a:avLst>
              <a:gd name="adj" fmla="val 30303"/>
            </a:avLst>
          </a:prstGeom>
          <a:solidFill>
            <a:srgbClr val="D21034"/>
          </a:solidFill>
          <a:ln/>
        </p:spPr>
      </p:sp>
      <p:sp>
        <p:nvSpPr>
          <p:cNvPr id="23" name="Text 19"/>
          <p:cNvSpPr/>
          <p:nvPr/>
        </p:nvSpPr>
        <p:spPr>
          <a:xfrm>
            <a:off x="804672" y="4279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Text 20"/>
          <p:cNvSpPr/>
          <p:nvPr/>
        </p:nvSpPr>
        <p:spPr>
          <a:xfrm>
            <a:off x="1554480" y="424281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Marketing et acquisition</a:t>
            </a:r>
            <a:endParaRPr lang="en-US" sz="1500" dirty="0"/>
          </a:p>
        </p:txBody>
      </p:sp>
      <p:sp>
        <p:nvSpPr>
          <p:cNvPr id="25" name="Text 21"/>
          <p:cNvSpPr/>
          <p:nvPr/>
        </p:nvSpPr>
        <p:spPr>
          <a:xfrm>
            <a:off x="822960" y="4937760"/>
            <a:ext cx="4846320" cy="3200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Faire connaître la plateforme aux familles et convertir les abonnés.</a:t>
            </a:r>
            <a:endParaRPr lang="en-US" sz="1250" dirty="0"/>
          </a:p>
        </p:txBody>
      </p:sp>
      <p:sp>
        <p:nvSpPr>
          <p:cNvPr id="26" name="Shape 22"/>
          <p:cNvSpPr/>
          <p:nvPr/>
        </p:nvSpPr>
        <p:spPr>
          <a:xfrm>
            <a:off x="6126480" y="4023360"/>
            <a:ext cx="5394960" cy="1371600"/>
          </a:xfrm>
          <a:prstGeom prst="roundRect">
            <a:avLst>
              <a:gd name="adj" fmla="val 8000"/>
            </a:avLst>
          </a:prstGeom>
          <a:solidFill>
            <a:srgbClr val="EAFAF1"/>
          </a:solidFill>
          <a:ln w="12700">
            <a:solidFill>
              <a:srgbClr val="CDEFDB"/>
            </a:solidFill>
            <a:prstDash val="solid"/>
          </a:ln>
        </p:spPr>
      </p:sp>
      <p:sp>
        <p:nvSpPr>
          <p:cNvPr id="27" name="Shape 23"/>
          <p:cNvSpPr/>
          <p:nvPr/>
        </p:nvSpPr>
        <p:spPr>
          <a:xfrm>
            <a:off x="6382512" y="4279392"/>
            <a:ext cx="603504" cy="603504"/>
          </a:xfrm>
          <a:prstGeom prst="roundRect">
            <a:avLst>
              <a:gd name="adj" fmla="val 30303"/>
            </a:avLst>
          </a:prstGeom>
          <a:solidFill>
            <a:srgbClr val="065C3C"/>
          </a:solidFill>
          <a:ln/>
        </p:spPr>
      </p:sp>
      <p:sp>
        <p:nvSpPr>
          <p:cNvPr id="28" name="Text 24"/>
          <p:cNvSpPr/>
          <p:nvPr/>
        </p:nvSpPr>
        <p:spPr>
          <a:xfrm>
            <a:off x="6382512" y="427939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9" name="Text 25"/>
          <p:cNvSpPr/>
          <p:nvPr/>
        </p:nvSpPr>
        <p:spPr>
          <a:xfrm>
            <a:off x="7132320" y="4242816"/>
            <a:ext cx="4160520" cy="502920"/>
          </a:xfrm>
          <a:prstGeom prst="rect">
            <a:avLst/>
          </a:prstGeom>
          <a:noFill/>
          <a:ln/>
        </p:spPr>
        <p:txBody>
          <a:bodyPr wrap="square" lIns="0" tIns="0" rIns="0" bIns="0" rtlCol="0" anchor="ctr"/>
          <a:lstStyle/>
          <a:p>
            <a:pPr algn="l" indent="0" marL="0">
              <a:buNone/>
            </a:pPr>
            <a:r>
              <a:rPr lang="en-US" sz="1500" b="1" dirty="0">
                <a:solidFill>
                  <a:srgbClr val="1A2B26"/>
                </a:solidFill>
                <a:latin typeface="Cambria" pitchFamily="34" charset="0"/>
                <a:ea typeface="Cambria" pitchFamily="34" charset="-122"/>
                <a:cs typeface="Cambria" pitchFamily="34" charset="-120"/>
              </a:rPr>
              <a:t>Équipe</a:t>
            </a:r>
            <a:endParaRPr lang="en-US" sz="1500" dirty="0"/>
          </a:p>
        </p:txBody>
      </p:sp>
      <p:sp>
        <p:nvSpPr>
          <p:cNvPr id="30" name="Text 26"/>
          <p:cNvSpPr/>
          <p:nvPr/>
        </p:nvSpPr>
        <p:spPr>
          <a:xfrm>
            <a:off x="6400800" y="4937760"/>
            <a:ext cx="4846320" cy="320040"/>
          </a:xfrm>
          <a:prstGeom prst="rect">
            <a:avLst/>
          </a:prstGeom>
          <a:noFill/>
          <a:ln/>
        </p:spPr>
        <p:txBody>
          <a:bodyPr wrap="square" lIns="0" tIns="0" rIns="0" bIns="0" rtlCol="0" anchor="t"/>
          <a:lstStyle/>
          <a:p>
            <a:pPr algn="l" indent="0" marL="0">
              <a:lnSpc>
                <a:spcPct val="105000"/>
              </a:lnSpc>
              <a:buNone/>
            </a:pPr>
            <a:r>
              <a:rPr lang="en-US" sz="1250" dirty="0">
                <a:solidFill>
                  <a:srgbClr val="5C6B66"/>
                </a:solidFill>
                <a:latin typeface="Calibri" pitchFamily="34" charset="0"/>
                <a:ea typeface="Calibri" pitchFamily="34" charset="-122"/>
                <a:cs typeface="Calibri" pitchFamily="34" charset="-120"/>
              </a:rPr>
              <a:t>Recruter les talents pédagogiques et techniques clés.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914400" cy="91440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21792" y="576072"/>
            <a:ext cx="768096" cy="768096"/>
          </a:xfrm>
          <a:prstGeom prst="ellipse">
            <a:avLst/>
          </a:prstGeom>
        </p:spPr>
      </p:pic>
      <p:sp>
        <p:nvSpPr>
          <p:cNvPr id="4" name="Text 1"/>
          <p:cNvSpPr/>
          <p:nvPr/>
        </p:nvSpPr>
        <p:spPr>
          <a:xfrm>
            <a:off x="1600200" y="658368"/>
            <a:ext cx="2743200"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Togo</a:t>
            </a:r>
            <a:pPr algn="l" indent="0" marL="0">
              <a:buNone/>
            </a:pPr>
            <a:r>
              <a:rPr lang="en-US" sz="2000" b="1" dirty="0">
                <a:solidFill>
                  <a:srgbClr val="FFCE00"/>
                </a:solidFill>
                <a:latin typeface="Cambria" pitchFamily="34" charset="0"/>
                <a:ea typeface="Cambria" pitchFamily="34" charset="-122"/>
                <a:cs typeface="Cambria" pitchFamily="34" charset="-120"/>
              </a:rPr>
              <a:t>Academy</a:t>
            </a:r>
            <a:endParaRPr lang="en-US" sz="2000" dirty="0"/>
          </a:p>
        </p:txBody>
      </p:sp>
      <p:sp>
        <p:nvSpPr>
          <p:cNvPr id="5" name="Text 2"/>
          <p:cNvSpPr/>
          <p:nvPr/>
        </p:nvSpPr>
        <p:spPr>
          <a:xfrm>
            <a:off x="566928" y="2011680"/>
            <a:ext cx="73152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REJOIGNEZ-NOUS</a:t>
            </a:r>
            <a:endParaRPr lang="en-US" sz="1300" dirty="0"/>
          </a:p>
        </p:txBody>
      </p:sp>
      <p:sp>
        <p:nvSpPr>
          <p:cNvPr id="6" name="Text 3"/>
          <p:cNvSpPr/>
          <p:nvPr/>
        </p:nvSpPr>
        <p:spPr>
          <a:xfrm>
            <a:off x="548640" y="2423160"/>
            <a:ext cx="10607040" cy="1463040"/>
          </a:xfrm>
          <a:prstGeom prst="rect">
            <a:avLst/>
          </a:prstGeom>
          <a:noFill/>
          <a:ln/>
        </p:spPr>
        <p:txBody>
          <a:bodyPr wrap="square" lIns="0" tIns="0" rIns="0" bIns="0" rtlCol="0" anchor="ctr"/>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Investissons dans</a:t>
            </a:r>
            <a:endParaRPr lang="en-US" sz="4000" dirty="0"/>
          </a:p>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une génération.</a:t>
            </a:r>
            <a:endParaRPr lang="en-US" sz="4000" dirty="0"/>
          </a:p>
        </p:txBody>
      </p:sp>
      <p:sp>
        <p:nvSpPr>
          <p:cNvPr id="7" name="Text 4"/>
          <p:cNvSpPr/>
          <p:nvPr/>
        </p:nvSpPr>
        <p:spPr>
          <a:xfrm>
            <a:off x="566928" y="4023360"/>
            <a:ext cx="10058400" cy="640080"/>
          </a:xfrm>
          <a:prstGeom prst="rect">
            <a:avLst/>
          </a:prstGeom>
          <a:noFill/>
          <a:ln/>
        </p:spPr>
        <p:txBody>
          <a:bodyPr wrap="square" lIns="0" tIns="0" rIns="0" bIns="0" rtlCol="0" anchor="ctr"/>
          <a:lstStyle/>
          <a:p>
            <a:pPr algn="l" indent="0" marL="0">
              <a:buNone/>
            </a:pPr>
            <a:r>
              <a:rPr lang="en-US" sz="1500" dirty="0">
                <a:solidFill>
                  <a:srgbClr val="CDEFDB"/>
                </a:solidFill>
                <a:latin typeface="Calibri" pitchFamily="34" charset="0"/>
                <a:ea typeface="Calibri" pitchFamily="34" charset="-122"/>
                <a:cs typeface="Calibri" pitchFamily="34" charset="-120"/>
              </a:rPr>
              <a:t>Rejoignez-nous pour démocratiser l'éducation de qualité au Togo et au-delà. Discutons de l'opportunité.</a:t>
            </a:r>
            <a:endParaRPr lang="en-US" sz="1500" dirty="0"/>
          </a:p>
        </p:txBody>
      </p:sp>
      <p:sp>
        <p:nvSpPr>
          <p:cNvPr id="8" name="Shape 5"/>
          <p:cNvSpPr/>
          <p:nvPr/>
        </p:nvSpPr>
        <p:spPr>
          <a:xfrm>
            <a:off x="548640" y="5029200"/>
            <a:ext cx="3840480" cy="822960"/>
          </a:xfrm>
          <a:prstGeom prst="roundRect">
            <a:avLst>
              <a:gd name="adj" fmla="val 11111"/>
            </a:avLst>
          </a:prstGeom>
          <a:solidFill>
            <a:srgbClr val="EAFAF1"/>
          </a:solidFill>
          <a:ln/>
        </p:spPr>
      </p:sp>
      <p:sp>
        <p:nvSpPr>
          <p:cNvPr id="9" name="Text 6"/>
          <p:cNvSpPr/>
          <p:nvPr/>
        </p:nvSpPr>
        <p:spPr>
          <a:xfrm>
            <a:off x="731520" y="5029200"/>
            <a:ext cx="35661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CONTACT
</a:t>
            </a:r>
            <a:endParaRPr lang="en-US" sz="1000" dirty="0"/>
          </a:p>
          <a:p>
            <a:pPr algn="l" indent="0" marL="0">
              <a:buNone/>
            </a:pPr>
            <a:r>
              <a:rPr lang="en-US" sz="1500" b="1" dirty="0">
                <a:solidFill>
                  <a:srgbClr val="1A2B26"/>
                </a:solidFill>
                <a:latin typeface="Calibri" pitchFamily="34" charset="0"/>
                <a:ea typeface="Calibri" pitchFamily="34" charset="-122"/>
                <a:cs typeface="Calibri" pitchFamily="34" charset="-120"/>
              </a:rPr>
              <a:t>info@groupebm.net</a:t>
            </a:r>
            <a:endParaRPr lang="en-US" sz="1000" dirty="0"/>
          </a:p>
        </p:txBody>
      </p:sp>
      <p:sp>
        <p:nvSpPr>
          <p:cNvPr id="10" name="Shape 7"/>
          <p:cNvSpPr/>
          <p:nvPr/>
        </p:nvSpPr>
        <p:spPr>
          <a:xfrm>
            <a:off x="4572000" y="5029200"/>
            <a:ext cx="4754880" cy="822960"/>
          </a:xfrm>
          <a:prstGeom prst="roundRect">
            <a:avLst>
              <a:gd name="adj" fmla="val 11111"/>
            </a:avLst>
          </a:prstGeom>
          <a:solidFill>
            <a:srgbClr val="EAFAF1"/>
          </a:solidFill>
          <a:ln/>
        </p:spPr>
      </p:sp>
      <p:sp>
        <p:nvSpPr>
          <p:cNvPr id="11" name="Text 8"/>
          <p:cNvSpPr/>
          <p:nvPr/>
        </p:nvSpPr>
        <p:spPr>
          <a:xfrm>
            <a:off x="4754880" y="5029200"/>
            <a:ext cx="44805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EN LIGNE
</a:t>
            </a:r>
            <a:endParaRPr lang="en-US" sz="1000" dirty="0"/>
          </a:p>
          <a:p>
            <a:pPr algn="l" indent="0" marL="0">
              <a:buNone/>
            </a:pPr>
            <a:r>
              <a:rPr lang="en-US" sz="1400" b="1" dirty="0">
                <a:solidFill>
                  <a:srgbClr val="1A2B26"/>
                </a:solidFill>
                <a:latin typeface="Calibri" pitchFamily="34" charset="0"/>
                <a:ea typeface="Calibri" pitchFamily="34" charset="-122"/>
                <a:cs typeface="Calibri" pitchFamily="34" charset="-120"/>
              </a:rPr>
              <a:t>academie.groupebm.net · groupebm.net</a:t>
            </a:r>
            <a:endParaRPr lang="en-US" sz="1000" dirty="0"/>
          </a:p>
        </p:txBody>
      </p:sp>
      <p:pic>
        <p:nvPicPr>
          <p:cNvPr id="12" name="Image 1" descr="/Users/nbawana/Desktop/COWORK/CLAUDE-CODE/togo-academy/public/gbm-logo.png">    </p:cNvPr>
          <p:cNvPicPr>
            <a:picLocks noChangeAspect="1"/>
          </p:cNvPicPr>
          <p:nvPr/>
        </p:nvPicPr>
        <p:blipFill>
          <a:blip r:embed="rId2"/>
          <a:stretch>
            <a:fillRect/>
          </a:stretch>
        </p:blipFill>
        <p:spPr>
          <a:xfrm>
            <a:off x="10241280" y="5074920"/>
            <a:ext cx="731520" cy="731520"/>
          </a:xfrm>
          <a:prstGeom prst="rect">
            <a:avLst/>
          </a:prstGeom>
        </p:spPr>
      </p:pic>
      <p:sp>
        <p:nvSpPr>
          <p:cNvPr id="13" name="Shape 9"/>
          <p:cNvSpPr/>
          <p:nvPr/>
        </p:nvSpPr>
        <p:spPr>
          <a:xfrm>
            <a:off x="10058400" y="6355080"/>
            <a:ext cx="274320" cy="274320"/>
          </a:xfrm>
          <a:prstGeom prst="oval">
            <a:avLst/>
          </a:prstGeom>
          <a:solidFill>
            <a:srgbClr val="0B8457"/>
          </a:solidFill>
          <a:ln/>
        </p:spPr>
      </p:sp>
      <p:sp>
        <p:nvSpPr>
          <p:cNvPr id="14" name="Shape 10"/>
          <p:cNvSpPr/>
          <p:nvPr/>
        </p:nvSpPr>
        <p:spPr>
          <a:xfrm>
            <a:off x="10515600" y="6355080"/>
            <a:ext cx="274320" cy="274320"/>
          </a:xfrm>
          <a:prstGeom prst="oval">
            <a:avLst/>
          </a:prstGeom>
          <a:solidFill>
            <a:srgbClr val="FFCE00"/>
          </a:solidFill>
          <a:ln/>
        </p:spPr>
      </p:sp>
      <p:sp>
        <p:nvSpPr>
          <p:cNvPr id="15" name="Shape 11"/>
          <p:cNvSpPr/>
          <p:nvPr/>
        </p:nvSpPr>
        <p:spPr>
          <a:xfrm>
            <a:off x="10972800" y="6355080"/>
            <a:ext cx="274320" cy="274320"/>
          </a:xfrm>
          <a:prstGeom prst="oval">
            <a:avLst/>
          </a:prstGeom>
          <a:solidFill>
            <a:srgbClr val="D21034"/>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Togo Academy</dc:creator>
  <cp:lastModifiedBy>Togo Academy</cp:lastModifiedBy>
  <cp:revision>1</cp:revision>
  <dcterms:created xsi:type="dcterms:W3CDTF">2026-07-18T06:03:47Z</dcterms:created>
  <dcterms:modified xsi:type="dcterms:W3CDTF">2026-07-18T06:03:47Z</dcterms:modified>
</cp:coreProperties>
</file>