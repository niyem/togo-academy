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merci d'être venus. Je m'appelle Niyem Bawana, et je dirige Togo Academy. Aujourd'hui, je veux vous montrer comment votre enfant peut mieux comprendre ses cours et réussir ses examens, directement depuis un téléphone, où qu'il soit.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Vous le savez mieux que moi : accompagner un enfant n'est pas toujours simple. À la maison, on ne peut pas toujours l'aider en maths ou en physique. En classe, les effectifs sont chargés et il n'ose pas toujours poser ses questions. Et quand il révise seul, il ne sait pas s'il est vraiment prêt. C'est exactement ce que nous venons résoudre.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Togo Academy, c'est une nouvelle façon d'apprendre. Des vidéos claires qui expliquent une seule idée à la fois. Un tuteur intelligent, disponible jour et nuit, qui répond aux questions de votre enfant. Des quiz qui corrigent tout de suite. Et des certificats pour valider ce qu'il a appris.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c'est très simple à utiliser. En trois étapes : on crée un compte en une minute, on apprend en regardant les vidéos et en s'entraînant, puis on passe les examens et on obtient son certificat. Et rassurez-vous : plusieurs leçons sont gratuites, sans carte bancaire.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matières de votre enfant sont réunies au même endroit : les mathématiques, la physique, la chimie, les sciences physiques, la SVT, la technologie et l'anglais. Sept matières, une seule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de la plateforme, c'est le tuteur intelligent. Votre enfant peut lui poser une question à tout moment, comme à un professeur patient. Il ne donne jamais la réponse toute faite : il guide, il donne des indices, pour que l'enfant trouve par lui-même. Et il est là jour et nuit. Il ne remplace pas l'enseignant : il le prolonge à la maison.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qu'est-ce que votre enfant y gagne ? Il peut revoir une leçon autant de fois qu'il le faut, à son rythme. Il suit ses progrès semaine après semaine. Il s'entraîne sur de vrais sujets d'examen, corrigés aussitôt. Et surtout, il reprend confiance en 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vous, les parents, vous n'êtes pas laissés de côté. Avec un compte parent, vous suivez les leçons terminées, les scores aux quiz et la progression de votre enfant. Le tout à petit prix, payable simplement par Flooz ou par virement bancaire, sans engagement compliqué.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cela tient dans un simple téléphone. La plateforme est légère et rapide, même quand la connexion est faible. Les fiches se téléchargent pour réviser hors ligne. Le paiement est local. Et le contenu suit fidèlement le programme togolais.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du prix, car nous l'avons voulu juste. On commence gratuitement, sans carte bancaire. Ensuite : dès mille francs par semaine pour une seule matière, trois mille francs par mois pour toute la classe, sept mille cinq cents francs par trimestre, notre formule recommandée, ou vingt-cinq mille francs par an pour toute la plateforme. Et je veux insister sur un point : tout le primaire, du CP1 au CM2, est entièrement gratuit, sur la plateforme comme sur notre chaîne YouTube.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Vous vous posez sûrement quelques questions. Peut-on essayer gratuitement ? Oui. Comment payer ? Par Flooz ou par virement. Faut-il un ordinateur ? Non, un simple téléphone suffit. Est-ce le bon programme ? Oui, celui du Togo. Je réponds volontiers à toutes vos autres questions dans un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Alors n'attendez pas. Créez un compte dès aujourd'hui et laissez votre enfant essayer gratuitement. Offrons-lui les moyens de réussir, où qu'il soit. Merci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6F40"/>
        </a:solidFill>
      </p:bgPr>
    </p:bg>
    <p:spTree>
      <p:nvGrpSpPr>
        <p:cNvPr id="1" name=""/>
        <p:cNvGrpSpPr/>
        <p:nvPr/>
      </p:nvGrpSpPr>
      <p:grpSpPr>
        <a:xfrm>
          <a:off x="0" y="0"/>
          <a:ext cx="0" cy="0"/>
          <a:chOff x="0" y="0"/>
          <a:chExt cx="0" cy="0"/>
        </a:xfrm>
      </p:grpSpPr>
      <p:sp>
        <p:nvSpPr>
          <p:cNvPr id="2" name="Shape 0"/>
          <p:cNvSpPr/>
          <p:nvPr/>
        </p:nvSpPr>
        <p:spPr>
          <a:xfrm>
            <a:off x="548640" y="502920"/>
            <a:ext cx="1051560" cy="1051560"/>
          </a:xfrm>
          <a:prstGeom prst="roundRect">
            <a:avLst>
              <a:gd name="adj" fmla="val 18000"/>
            </a:avLst>
          </a:prstGeom>
          <a:solidFill>
            <a:srgbClr val="FFFFFF"/>
          </a:solidFill>
          <a:ln/>
          <a:effectLst>
            <a:outerShdw sx="100000" sy="100000" kx="0" ky="0" algn="bl" rotWithShape="0" blurRad="76200" dist="25400" dir="5400000">
              <a:srgbClr val="000000">
                <a:alpha val="18000"/>
              </a:srgbClr>
            </a:outerShdw>
          </a:effectLst>
        </p:spPr>
      </p:sp>
      <p:pic>
        <p:nvPicPr>
          <p:cNvPr id="3" name="Image 0" descr="/Users/nbawana/Desktop/COWORK/CLAUDE-CODE/togo-academy/public/togo-academy-logo.png">    </p:cNvPr>
          <p:cNvPicPr>
            <a:picLocks noChangeAspect="1"/>
          </p:cNvPicPr>
          <p:nvPr/>
        </p:nvPicPr>
        <p:blipFill>
          <a:blip r:embed="rId1"/>
          <a:stretch>
            <a:fillRect/>
          </a:stretch>
        </p:blipFill>
        <p:spPr>
          <a:xfrm>
            <a:off x="632765" y="587045"/>
            <a:ext cx="883310" cy="883310"/>
          </a:xfrm>
          <a:prstGeom prst="ellipse">
            <a:avLst/>
          </a:prstGeom>
        </p:spPr>
      </p:pic>
      <p:sp>
        <p:nvSpPr>
          <p:cNvPr id="4" name="Text 1"/>
          <p:cNvSpPr/>
          <p:nvPr/>
        </p:nvSpPr>
        <p:spPr>
          <a:xfrm>
            <a:off x="1783080" y="713232"/>
            <a:ext cx="2743200" cy="36576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Togo</a:t>
            </a:r>
            <a:pPr algn="l" indent="0" marL="0">
              <a:buNone/>
            </a:pPr>
            <a:r>
              <a:rPr lang="en-US" sz="2400" b="1" dirty="0">
                <a:solidFill>
                  <a:srgbClr val="FFCE00"/>
                </a:solidFill>
                <a:latin typeface="Cambria" pitchFamily="34" charset="0"/>
                <a:ea typeface="Cambria" pitchFamily="34" charset="-122"/>
                <a:cs typeface="Cambria" pitchFamily="34" charset="-120"/>
              </a:rPr>
              <a:t>Academy</a:t>
            </a:r>
            <a:endParaRPr lang="en-US" sz="2400" dirty="0"/>
          </a:p>
        </p:txBody>
      </p:sp>
      <p:sp>
        <p:nvSpPr>
          <p:cNvPr id="5" name="Text 2"/>
          <p:cNvSpPr/>
          <p:nvPr/>
        </p:nvSpPr>
        <p:spPr>
          <a:xfrm>
            <a:off x="566928" y="1965960"/>
            <a:ext cx="8229600" cy="320040"/>
          </a:xfrm>
          <a:prstGeom prst="rect">
            <a:avLst/>
          </a:prstGeom>
          <a:noFill/>
          <a:ln/>
        </p:spPr>
        <p:txBody>
          <a:bodyPr wrap="square" lIns="0" tIns="0" rIns="0" bIns="0" rtlCol="0" anchor="ctr"/>
          <a:lstStyle/>
          <a:p>
            <a:pPr algn="l" indent="0" marL="0">
              <a:buNone/>
            </a:pPr>
            <a:r>
              <a:rPr lang="en-US" sz="1300" b="1" spc="300" kern="0" dirty="0">
                <a:solidFill>
                  <a:srgbClr val="FFCE00"/>
                </a:solidFill>
                <a:latin typeface="Calibri" pitchFamily="34" charset="0"/>
                <a:ea typeface="Calibri" pitchFamily="34" charset="-122"/>
                <a:cs typeface="Calibri" pitchFamily="34" charset="-120"/>
              </a:rPr>
              <a:t>POUR LES ÉLÈVES ET LES PARENTS</a:t>
            </a:r>
            <a:endParaRPr lang="en-US" sz="1300" dirty="0"/>
          </a:p>
        </p:txBody>
      </p:sp>
      <p:sp>
        <p:nvSpPr>
          <p:cNvPr id="6" name="Text 3"/>
          <p:cNvSpPr/>
          <p:nvPr/>
        </p:nvSpPr>
        <p:spPr>
          <a:xfrm>
            <a:off x="548640" y="2377440"/>
            <a:ext cx="10789920" cy="1828800"/>
          </a:xfrm>
          <a:prstGeom prst="rect">
            <a:avLst/>
          </a:prstGeom>
          <a:noFill/>
          <a:ln/>
        </p:spPr>
        <p:txBody>
          <a:bodyPr wrap="square" lIns="0" tIns="0" rIns="0" bIns="0" rtlCol="0" anchor="ctr"/>
          <a:lstStyle/>
          <a:p>
            <a:pPr algn="l" indent="0" marL="0">
              <a:lnSpc>
                <a:spcPct val="102000"/>
              </a:lnSpc>
              <a:buNone/>
            </a:pPr>
            <a:r>
              <a:rPr lang="en-US" sz="4400" b="1" dirty="0">
                <a:solidFill>
                  <a:srgbClr val="FFFFFF"/>
                </a:solidFill>
                <a:latin typeface="Cambria" pitchFamily="34" charset="0"/>
                <a:ea typeface="Cambria" pitchFamily="34" charset="-122"/>
                <a:cs typeface="Cambria" pitchFamily="34" charset="-120"/>
              </a:rPr>
              <a:t>Réussis tes examens,</a:t>
            </a:r>
            <a:endParaRPr lang="en-US" sz="4400" dirty="0"/>
          </a:p>
          <a:p>
            <a:pPr algn="l" indent="0" marL="0">
              <a:lnSpc>
                <a:spcPct val="102000"/>
              </a:lnSpc>
              <a:buNone/>
            </a:pPr>
            <a:r>
              <a:rPr lang="en-US" sz="4400" b="1" dirty="0">
                <a:solidFill>
                  <a:srgbClr val="FFFFFF"/>
                </a:solidFill>
                <a:latin typeface="Cambria" pitchFamily="34" charset="0"/>
                <a:ea typeface="Cambria" pitchFamily="34" charset="-122"/>
                <a:cs typeface="Cambria" pitchFamily="34" charset="-120"/>
              </a:rPr>
              <a:t>où que tu sois.</a:t>
            </a:r>
            <a:endParaRPr lang="en-US" sz="4400" dirty="0"/>
          </a:p>
        </p:txBody>
      </p:sp>
      <p:sp>
        <p:nvSpPr>
          <p:cNvPr id="7" name="Text 4"/>
          <p:cNvSpPr/>
          <p:nvPr/>
        </p:nvSpPr>
        <p:spPr>
          <a:xfrm>
            <a:off x="566928" y="4434840"/>
            <a:ext cx="10058400" cy="731520"/>
          </a:xfrm>
          <a:prstGeom prst="rect">
            <a:avLst/>
          </a:prstGeom>
          <a:noFill/>
          <a:ln/>
        </p:spPr>
        <p:txBody>
          <a:bodyPr wrap="square" lIns="0" tIns="0" rIns="0" bIns="0" rtlCol="0" anchor="ctr"/>
          <a:lstStyle/>
          <a:p>
            <a:pPr algn="l" indent="0" marL="0">
              <a:buNone/>
            </a:pPr>
            <a:r>
              <a:rPr lang="en-US" sz="1600" dirty="0">
                <a:solidFill>
                  <a:srgbClr val="CDEFDB"/>
                </a:solidFill>
                <a:latin typeface="Calibri" pitchFamily="34" charset="0"/>
                <a:ea typeface="Calibri" pitchFamily="34" charset="-122"/>
                <a:cs typeface="Calibri" pitchFamily="34" charset="-120"/>
              </a:rPr>
              <a:t>Des leçons claires et un tuteur toujours disponible, directement sur ton téléphone.</a:t>
            </a:r>
            <a:endParaRPr lang="en-US" sz="1600" dirty="0"/>
          </a:p>
        </p:txBody>
      </p:sp>
      <p:sp>
        <p:nvSpPr>
          <p:cNvPr id="8" name="Shape 5"/>
          <p:cNvSpPr/>
          <p:nvPr/>
        </p:nvSpPr>
        <p:spPr>
          <a:xfrm>
            <a:off x="9997135" y="6035040"/>
            <a:ext cx="292608" cy="292608"/>
          </a:xfrm>
          <a:prstGeom prst="oval">
            <a:avLst/>
          </a:prstGeom>
          <a:solidFill>
            <a:srgbClr val="0B8457"/>
          </a:solidFill>
          <a:ln/>
        </p:spPr>
      </p:sp>
      <p:sp>
        <p:nvSpPr>
          <p:cNvPr id="9" name="Shape 6"/>
          <p:cNvSpPr/>
          <p:nvPr/>
        </p:nvSpPr>
        <p:spPr>
          <a:xfrm>
            <a:off x="10454335" y="6035040"/>
            <a:ext cx="292608" cy="292608"/>
          </a:xfrm>
          <a:prstGeom prst="oval">
            <a:avLst/>
          </a:prstGeom>
          <a:solidFill>
            <a:srgbClr val="FFCE00"/>
          </a:solidFill>
          <a:ln/>
        </p:spPr>
      </p:sp>
      <p:sp>
        <p:nvSpPr>
          <p:cNvPr id="10" name="Shape 7"/>
          <p:cNvSpPr/>
          <p:nvPr/>
        </p:nvSpPr>
        <p:spPr>
          <a:xfrm>
            <a:off x="10911535" y="6035040"/>
            <a:ext cx="292608" cy="292608"/>
          </a:xfrm>
          <a:prstGeom prst="oval">
            <a:avLst/>
          </a:prstGeom>
          <a:solidFill>
            <a:srgbClr val="D21034"/>
          </a:solidFill>
          <a:ln/>
        </p:spPr>
      </p:sp>
      <p:pic>
        <p:nvPicPr>
          <p:cNvPr id="11" name="Image 1" descr="/Users/nbawana/Desktop/COWORK/CLAUDE-CODE/togo-academy/public/gbm-logo.png">    </p:cNvPr>
          <p:cNvPicPr>
            <a:picLocks noChangeAspect="1"/>
          </p:cNvPicPr>
          <p:nvPr/>
        </p:nvPicPr>
        <p:blipFill>
          <a:blip r:embed="rId2"/>
          <a:stretch>
            <a:fillRect/>
          </a:stretch>
        </p:blipFill>
        <p:spPr>
          <a:xfrm>
            <a:off x="548640" y="6080760"/>
            <a:ext cx="365760" cy="365760"/>
          </a:xfrm>
          <a:prstGeom prst="rect">
            <a:avLst/>
          </a:prstGeom>
        </p:spPr>
      </p:pic>
      <p:sp>
        <p:nvSpPr>
          <p:cNvPr id="12" name="Text 8"/>
          <p:cNvSpPr/>
          <p:nvPr/>
        </p:nvSpPr>
        <p:spPr>
          <a:xfrm>
            <a:off x="1005840" y="6080760"/>
            <a:ext cx="8229600" cy="365760"/>
          </a:xfrm>
          <a:prstGeom prst="rect">
            <a:avLst/>
          </a:prstGeom>
          <a:noFill/>
          <a:ln/>
        </p:spPr>
        <p:txBody>
          <a:bodyPr wrap="square" lIns="0" tIns="0" rIns="0" bIns="0" rtlCol="0" anchor="ctr"/>
          <a:lstStyle/>
          <a:p>
            <a:pPr algn="l" indent="0" marL="0">
              <a:buNone/>
            </a:pPr>
            <a:r>
              <a:rPr lang="en-US" sz="1100" dirty="0">
                <a:solidFill>
                  <a:srgbClr val="CDEFDB"/>
                </a:solidFill>
                <a:latin typeface="Calibri" pitchFamily="34" charset="0"/>
                <a:ea typeface="Calibri" pitchFamily="34" charset="-122"/>
                <a:cs typeface="Calibri" pitchFamily="34" charset="-120"/>
              </a:rPr>
              <a:t>Un département de Groupe BM  ·  academie.groupebm.net</a:t>
            </a:r>
            <a:endParaRPr lang="en-US" sz="1100" dirty="0"/>
          </a:p>
        </p:txBody>
      </p:sp>
      <p:sp>
        <p:nvSpPr>
          <p:cNvPr id="13" name="Text 9"/>
          <p:cNvSpPr/>
          <p:nvPr/>
        </p:nvSpPr>
        <p:spPr>
          <a:xfrm>
            <a:off x="566928" y="5212080"/>
            <a:ext cx="8229600" cy="320040"/>
          </a:xfrm>
          <a:prstGeom prst="rect">
            <a:avLst/>
          </a:prstGeom>
          <a:noFill/>
          <a:ln/>
        </p:spPr>
        <p:txBody>
          <a:bodyPr wrap="square" lIns="0" tIns="0" rIns="0" bIns="0" rtlCol="0" anchor="ctr"/>
          <a:lstStyle/>
          <a:p>
            <a:pPr algn="l" indent="0" marL="0">
              <a:buNone/>
            </a:pPr>
            <a:r>
              <a:rPr lang="en-US" sz="1300" dirty="0">
                <a:solidFill>
                  <a:srgbClr val="CDEFDB"/>
                </a:solidFill>
                <a:latin typeface="Calibri" pitchFamily="34" charset="0"/>
                <a:ea typeface="Calibri" pitchFamily="34" charset="-122"/>
                <a:cs typeface="Calibri" pitchFamily="34" charset="-120"/>
              </a:rPr>
              <a:t>Présenté par  </a:t>
            </a:r>
            <a:pPr algn="l" indent="0" marL="0">
              <a:buNone/>
            </a:pPr>
            <a:r>
              <a:rPr lang="en-US" sz="1300" b="1" dirty="0">
                <a:solidFill>
                  <a:srgbClr val="FFFFFF"/>
                </a:solidFill>
                <a:latin typeface="Calibri" pitchFamily="34" charset="0"/>
                <a:ea typeface="Calibri" pitchFamily="34" charset="-122"/>
                <a:cs typeface="Calibri" pitchFamily="34" charset="-120"/>
              </a:rPr>
              <a:t>Niyem M. Bawana, Ph.D.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LE DÉFI</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Apprendre les sciences n'est pas toujours facile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02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3566160" cy="3291840"/>
          </a:xfrm>
          <a:prstGeom prst="roundRect">
            <a:avLst>
              <a:gd name="adj" fmla="val 3333"/>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Pas d'aide à la maison</a:t>
            </a:r>
            <a:endParaRPr lang="en-US" sz="1450" dirty="0"/>
          </a:p>
        </p:txBody>
      </p:sp>
      <p:sp>
        <p:nvSpPr>
          <p:cNvPr id="14" name="Text 10"/>
          <p:cNvSpPr/>
          <p:nvPr/>
        </p:nvSpPr>
        <p:spPr>
          <a:xfrm>
            <a:off x="82296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Les parents ne peuvent pas toujours expliquer les maths ou la physique.</a:t>
            </a:r>
            <a:endParaRPr lang="en-US" sz="1200" dirty="0"/>
          </a:p>
        </p:txBody>
      </p:sp>
      <p:sp>
        <p:nvSpPr>
          <p:cNvPr id="15" name="Shape 11"/>
          <p:cNvSpPr/>
          <p:nvPr/>
        </p:nvSpPr>
        <p:spPr>
          <a:xfrm>
            <a:off x="4251960" y="1783080"/>
            <a:ext cx="3566160" cy="3291840"/>
          </a:xfrm>
          <a:prstGeom prst="roundRect">
            <a:avLst>
              <a:gd name="adj" fmla="val 3333"/>
            </a:avLst>
          </a:prstGeom>
          <a:solidFill>
            <a:srgbClr val="EAFAF1"/>
          </a:solidFill>
          <a:ln w="12700">
            <a:solidFill>
              <a:srgbClr val="CDEFDB"/>
            </a:solidFill>
            <a:prstDash val="solid"/>
          </a:ln>
        </p:spPr>
      </p:sp>
      <p:sp>
        <p:nvSpPr>
          <p:cNvPr id="16" name="Shape 12"/>
          <p:cNvSpPr/>
          <p:nvPr/>
        </p:nvSpPr>
        <p:spPr>
          <a:xfrm>
            <a:off x="4507992" y="2039112"/>
            <a:ext cx="603504" cy="603504"/>
          </a:xfrm>
          <a:prstGeom prst="roundRect">
            <a:avLst>
              <a:gd name="adj" fmla="val 30303"/>
            </a:avLst>
          </a:prstGeom>
          <a:solidFill>
            <a:srgbClr val="2E6F40"/>
          </a:solidFill>
          <a:ln/>
        </p:spPr>
      </p:sp>
      <p:sp>
        <p:nvSpPr>
          <p:cNvPr id="17" name="Text 13"/>
          <p:cNvSpPr/>
          <p:nvPr/>
        </p:nvSpPr>
        <p:spPr>
          <a:xfrm>
            <a:off x="450799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525780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Classes surchargées</a:t>
            </a:r>
            <a:endParaRPr lang="en-US" sz="1450" dirty="0"/>
          </a:p>
        </p:txBody>
      </p:sp>
      <p:sp>
        <p:nvSpPr>
          <p:cNvPr id="19" name="Text 15"/>
          <p:cNvSpPr/>
          <p:nvPr/>
        </p:nvSpPr>
        <p:spPr>
          <a:xfrm>
            <a:off x="452628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Difficile de poser ses questions et d'avancer à son rythme.</a:t>
            </a:r>
            <a:endParaRPr lang="en-US" sz="1200" dirty="0"/>
          </a:p>
        </p:txBody>
      </p:sp>
      <p:sp>
        <p:nvSpPr>
          <p:cNvPr id="20" name="Shape 16"/>
          <p:cNvSpPr/>
          <p:nvPr/>
        </p:nvSpPr>
        <p:spPr>
          <a:xfrm>
            <a:off x="7955280" y="1783080"/>
            <a:ext cx="3566160" cy="3291840"/>
          </a:xfrm>
          <a:prstGeom prst="roundRect">
            <a:avLst>
              <a:gd name="adj" fmla="val 3333"/>
            </a:avLst>
          </a:prstGeom>
          <a:solidFill>
            <a:srgbClr val="EAFAF1"/>
          </a:solidFill>
          <a:ln w="12700">
            <a:solidFill>
              <a:srgbClr val="CDEFDB"/>
            </a:solidFill>
            <a:prstDash val="solid"/>
          </a:ln>
        </p:spPr>
      </p:sp>
      <p:sp>
        <p:nvSpPr>
          <p:cNvPr id="21" name="Shape 17"/>
          <p:cNvSpPr/>
          <p:nvPr/>
        </p:nvSpPr>
        <p:spPr>
          <a:xfrm>
            <a:off x="8211312" y="2039112"/>
            <a:ext cx="603504" cy="603504"/>
          </a:xfrm>
          <a:prstGeom prst="roundRect">
            <a:avLst>
              <a:gd name="adj" fmla="val 30303"/>
            </a:avLst>
          </a:prstGeom>
          <a:solidFill>
            <a:srgbClr val="D21034"/>
          </a:solidFill>
          <a:ln/>
        </p:spPr>
      </p:sp>
      <p:sp>
        <p:nvSpPr>
          <p:cNvPr id="22" name="Text 18"/>
          <p:cNvSpPr/>
          <p:nvPr/>
        </p:nvSpPr>
        <p:spPr>
          <a:xfrm>
            <a:off x="82113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896112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Réviser seul</a:t>
            </a:r>
            <a:endParaRPr lang="en-US" sz="1450" dirty="0"/>
          </a:p>
        </p:txBody>
      </p:sp>
      <p:sp>
        <p:nvSpPr>
          <p:cNvPr id="24" name="Text 20"/>
          <p:cNvSpPr/>
          <p:nvPr/>
        </p:nvSpPr>
        <p:spPr>
          <a:xfrm>
            <a:off x="822960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Sans repères, on ne sait pas si on est vraiment prêt pour l'examen.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LA SOLUTION</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Une nouvelle façon d'apprendre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03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Des vidéos claires</a:t>
            </a:r>
            <a:endParaRPr lang="en-US" sz="145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Chaque leçon explique une seule idée, simplement et en images.</a:t>
            </a:r>
            <a:endParaRPr lang="en-US" sz="120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2E6F40"/>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Un tuteur toujours là</a:t>
            </a:r>
            <a:endParaRPr lang="en-US" sz="145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Il répond à tes questions et te donne des indices, jour et nuit.</a:t>
            </a:r>
            <a:endParaRPr lang="en-US" sz="120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D21034"/>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Des quiz qui corrigent</a:t>
            </a:r>
            <a:endParaRPr lang="en-US" sz="145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Tu sais tout de suite si tu as compris, et pourquoi.</a:t>
            </a:r>
            <a:endParaRPr lang="en-US" sz="120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65C3C"/>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Des certificats</a:t>
            </a:r>
            <a:endParaRPr lang="en-US" sz="145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Valide tes acquis et garde une preuve de ta réussite.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EN 3 ÉTAPES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Comment ça marche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04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920240"/>
            <a:ext cx="3520440" cy="3108960"/>
          </a:xfrm>
          <a:prstGeom prst="roundRect">
            <a:avLst>
              <a:gd name="adj" fmla="val 3529"/>
            </a:avLst>
          </a:prstGeom>
          <a:solidFill>
            <a:srgbClr val="EAFAF1"/>
          </a:solidFill>
          <a:ln w="12700">
            <a:solidFill>
              <a:srgbClr val="CDEFDB"/>
            </a:solidFill>
            <a:prstDash val="solid"/>
          </a:ln>
        </p:spPr>
      </p:sp>
      <p:sp>
        <p:nvSpPr>
          <p:cNvPr id="11" name="Shape 7"/>
          <p:cNvSpPr/>
          <p:nvPr/>
        </p:nvSpPr>
        <p:spPr>
          <a:xfrm>
            <a:off x="822960" y="2194560"/>
            <a:ext cx="777240" cy="777240"/>
          </a:xfrm>
          <a:prstGeom prst="roundRect">
            <a:avLst>
              <a:gd name="adj" fmla="val 30588"/>
            </a:avLst>
          </a:prstGeom>
          <a:solidFill>
            <a:srgbClr val="0B8457"/>
          </a:solidFill>
          <a:ln/>
        </p:spPr>
      </p:sp>
      <p:sp>
        <p:nvSpPr>
          <p:cNvPr id="12" name="Text 8"/>
          <p:cNvSpPr/>
          <p:nvPr/>
        </p:nvSpPr>
        <p:spPr>
          <a:xfrm>
            <a:off x="82296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3" name="Text 9"/>
          <p:cNvSpPr/>
          <p:nvPr/>
        </p:nvSpPr>
        <p:spPr>
          <a:xfrm>
            <a:off x="82296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S'inscrire</a:t>
            </a:r>
            <a:endParaRPr lang="en-US" sz="1700" dirty="0"/>
          </a:p>
        </p:txBody>
      </p:sp>
      <p:sp>
        <p:nvSpPr>
          <p:cNvPr id="14" name="Text 10"/>
          <p:cNvSpPr/>
          <p:nvPr/>
        </p:nvSpPr>
        <p:spPr>
          <a:xfrm>
            <a:off x="82296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Crée ton compte en une minute. Des leçons sont gratuites, sans carte bancaire.</a:t>
            </a:r>
            <a:endParaRPr lang="en-US" sz="1250" dirty="0"/>
          </a:p>
        </p:txBody>
      </p:sp>
      <p:sp>
        <p:nvSpPr>
          <p:cNvPr id="15" name="Shape 11"/>
          <p:cNvSpPr/>
          <p:nvPr/>
        </p:nvSpPr>
        <p:spPr>
          <a:xfrm>
            <a:off x="4251960" y="1920240"/>
            <a:ext cx="3520440" cy="3108960"/>
          </a:xfrm>
          <a:prstGeom prst="roundRect">
            <a:avLst>
              <a:gd name="adj" fmla="val 3529"/>
            </a:avLst>
          </a:prstGeom>
          <a:solidFill>
            <a:srgbClr val="EAFAF1"/>
          </a:solidFill>
          <a:ln w="12700">
            <a:solidFill>
              <a:srgbClr val="CDEFDB"/>
            </a:solidFill>
            <a:prstDash val="solid"/>
          </a:ln>
        </p:spPr>
      </p:sp>
      <p:sp>
        <p:nvSpPr>
          <p:cNvPr id="16" name="Shape 12"/>
          <p:cNvSpPr/>
          <p:nvPr/>
        </p:nvSpPr>
        <p:spPr>
          <a:xfrm>
            <a:off x="4526280" y="2194560"/>
            <a:ext cx="777240" cy="777240"/>
          </a:xfrm>
          <a:prstGeom prst="roundRect">
            <a:avLst>
              <a:gd name="adj" fmla="val 30588"/>
            </a:avLst>
          </a:prstGeom>
          <a:solidFill>
            <a:srgbClr val="2E6F40"/>
          </a:solidFill>
          <a:ln/>
        </p:spPr>
      </p:sp>
      <p:sp>
        <p:nvSpPr>
          <p:cNvPr id="17" name="Text 13"/>
          <p:cNvSpPr/>
          <p:nvPr/>
        </p:nvSpPr>
        <p:spPr>
          <a:xfrm>
            <a:off x="452628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8" name="Text 14"/>
          <p:cNvSpPr/>
          <p:nvPr/>
        </p:nvSpPr>
        <p:spPr>
          <a:xfrm>
            <a:off x="452628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Apprendre</a:t>
            </a:r>
            <a:endParaRPr lang="en-US" sz="1700" dirty="0"/>
          </a:p>
        </p:txBody>
      </p:sp>
      <p:sp>
        <p:nvSpPr>
          <p:cNvPr id="19" name="Text 15"/>
          <p:cNvSpPr/>
          <p:nvPr/>
        </p:nvSpPr>
        <p:spPr>
          <a:xfrm>
            <a:off x="452628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Regarde, réponds aux quiz, pose tes questions au tuteur IA, télécharge tes fiches.</a:t>
            </a:r>
            <a:endParaRPr lang="en-US" sz="1250" dirty="0"/>
          </a:p>
        </p:txBody>
      </p:sp>
      <p:sp>
        <p:nvSpPr>
          <p:cNvPr id="20" name="Shape 16"/>
          <p:cNvSpPr/>
          <p:nvPr/>
        </p:nvSpPr>
        <p:spPr>
          <a:xfrm>
            <a:off x="7955280" y="1920240"/>
            <a:ext cx="3520440" cy="3108960"/>
          </a:xfrm>
          <a:prstGeom prst="roundRect">
            <a:avLst>
              <a:gd name="adj" fmla="val 3529"/>
            </a:avLst>
          </a:prstGeom>
          <a:solidFill>
            <a:srgbClr val="EAFAF1"/>
          </a:solidFill>
          <a:ln w="12700">
            <a:solidFill>
              <a:srgbClr val="CDEFDB"/>
            </a:solidFill>
            <a:prstDash val="solid"/>
          </a:ln>
        </p:spPr>
      </p:sp>
      <p:sp>
        <p:nvSpPr>
          <p:cNvPr id="21" name="Shape 17"/>
          <p:cNvSpPr/>
          <p:nvPr/>
        </p:nvSpPr>
        <p:spPr>
          <a:xfrm>
            <a:off x="8229600" y="2194560"/>
            <a:ext cx="777240" cy="777240"/>
          </a:xfrm>
          <a:prstGeom prst="roundRect">
            <a:avLst>
              <a:gd name="adj" fmla="val 30588"/>
            </a:avLst>
          </a:prstGeom>
          <a:solidFill>
            <a:srgbClr val="065C3C"/>
          </a:solidFill>
          <a:ln/>
        </p:spPr>
      </p:sp>
      <p:sp>
        <p:nvSpPr>
          <p:cNvPr id="22" name="Text 18"/>
          <p:cNvSpPr/>
          <p:nvPr/>
        </p:nvSpPr>
        <p:spPr>
          <a:xfrm>
            <a:off x="822960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3" name="Text 19"/>
          <p:cNvSpPr/>
          <p:nvPr/>
        </p:nvSpPr>
        <p:spPr>
          <a:xfrm>
            <a:off x="822960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Réussir</a:t>
            </a:r>
            <a:endParaRPr lang="en-US" sz="1700" dirty="0"/>
          </a:p>
        </p:txBody>
      </p:sp>
      <p:sp>
        <p:nvSpPr>
          <p:cNvPr id="24" name="Text 20"/>
          <p:cNvSpPr/>
          <p:nvPr/>
        </p:nvSpPr>
        <p:spPr>
          <a:xfrm>
            <a:off x="822960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Passe les évaluations et les examens, obtiens ton certificat.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LES MATIÈRES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Toutes tes matières, au même endroit</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05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2148840"/>
            <a:ext cx="2651760" cy="1371600"/>
          </a:xfrm>
          <a:prstGeom prst="roundRect">
            <a:avLst>
              <a:gd name="adj" fmla="val 8000"/>
            </a:avLst>
          </a:prstGeom>
          <a:solidFill>
            <a:srgbClr val="EAFAF1"/>
          </a:solidFill>
          <a:ln w="12700">
            <a:solidFill>
              <a:srgbClr val="CDEFDB"/>
            </a:solidFill>
            <a:prstDash val="solid"/>
          </a:ln>
        </p:spPr>
      </p:sp>
      <p:sp>
        <p:nvSpPr>
          <p:cNvPr id="11" name="Shape 7"/>
          <p:cNvSpPr/>
          <p:nvPr/>
        </p:nvSpPr>
        <p:spPr>
          <a:xfrm>
            <a:off x="749808" y="2514600"/>
            <a:ext cx="640080" cy="640080"/>
          </a:xfrm>
          <a:prstGeom prst="roundRect">
            <a:avLst>
              <a:gd name="adj" fmla="val 30000"/>
            </a:avLst>
          </a:prstGeom>
          <a:solidFill>
            <a:srgbClr val="0B8457"/>
          </a:solidFill>
          <a:ln/>
        </p:spPr>
      </p:sp>
      <p:sp>
        <p:nvSpPr>
          <p:cNvPr id="12" name="Text 8"/>
          <p:cNvSpPr/>
          <p:nvPr/>
        </p:nvSpPr>
        <p:spPr>
          <a:xfrm>
            <a:off x="749808" y="2514600"/>
            <a:ext cx="640080" cy="64008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13" name="Text 9"/>
          <p:cNvSpPr/>
          <p:nvPr/>
        </p:nvSpPr>
        <p:spPr>
          <a:xfrm>
            <a:off x="1463040" y="2148840"/>
            <a:ext cx="1645920" cy="1371600"/>
          </a:xfrm>
          <a:prstGeom prst="rect">
            <a:avLst/>
          </a:prstGeom>
          <a:noFill/>
          <a:ln/>
        </p:spPr>
        <p:txBody>
          <a:bodyPr wrap="square" lIns="0" tIns="0" rIns="0" bIns="0" rtlCol="0" anchor="ctr"/>
          <a:lstStyle/>
          <a:p>
            <a:pPr algn="l" indent="0" marL="0">
              <a:buNone/>
            </a:pPr>
            <a:r>
              <a:rPr lang="en-US" sz="1350" b="1" dirty="0">
                <a:solidFill>
                  <a:srgbClr val="1A2B26"/>
                </a:solidFill>
                <a:latin typeface="Cambria" pitchFamily="34" charset="0"/>
                <a:ea typeface="Cambria" pitchFamily="34" charset="-122"/>
                <a:cs typeface="Cambria" pitchFamily="34" charset="-120"/>
              </a:rPr>
              <a:t>Mathématiques</a:t>
            </a:r>
            <a:endParaRPr lang="en-US" sz="1350" dirty="0"/>
          </a:p>
        </p:txBody>
      </p:sp>
      <p:sp>
        <p:nvSpPr>
          <p:cNvPr id="14" name="Shape 10"/>
          <p:cNvSpPr/>
          <p:nvPr/>
        </p:nvSpPr>
        <p:spPr>
          <a:xfrm>
            <a:off x="3364992" y="2148840"/>
            <a:ext cx="2651760" cy="1371600"/>
          </a:xfrm>
          <a:prstGeom prst="roundRect">
            <a:avLst>
              <a:gd name="adj" fmla="val 8000"/>
            </a:avLst>
          </a:prstGeom>
          <a:solidFill>
            <a:srgbClr val="EAFAF1"/>
          </a:solidFill>
          <a:ln w="12700">
            <a:solidFill>
              <a:srgbClr val="CDEFDB"/>
            </a:solidFill>
            <a:prstDash val="solid"/>
          </a:ln>
        </p:spPr>
      </p:sp>
      <p:sp>
        <p:nvSpPr>
          <p:cNvPr id="15" name="Shape 11"/>
          <p:cNvSpPr/>
          <p:nvPr/>
        </p:nvSpPr>
        <p:spPr>
          <a:xfrm>
            <a:off x="3566160" y="2514600"/>
            <a:ext cx="640080" cy="640080"/>
          </a:xfrm>
          <a:prstGeom prst="roundRect">
            <a:avLst>
              <a:gd name="adj" fmla="val 30000"/>
            </a:avLst>
          </a:prstGeom>
          <a:solidFill>
            <a:srgbClr val="0B8457"/>
          </a:solidFill>
          <a:ln/>
        </p:spPr>
      </p:sp>
      <p:sp>
        <p:nvSpPr>
          <p:cNvPr id="16" name="Text 12"/>
          <p:cNvSpPr/>
          <p:nvPr/>
        </p:nvSpPr>
        <p:spPr>
          <a:xfrm>
            <a:off x="3566160" y="2514600"/>
            <a:ext cx="640080" cy="64008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17" name="Text 13"/>
          <p:cNvSpPr/>
          <p:nvPr/>
        </p:nvSpPr>
        <p:spPr>
          <a:xfrm>
            <a:off x="4279392" y="2148840"/>
            <a:ext cx="1645920" cy="1371600"/>
          </a:xfrm>
          <a:prstGeom prst="rect">
            <a:avLst/>
          </a:prstGeom>
          <a:noFill/>
          <a:ln/>
        </p:spPr>
        <p:txBody>
          <a:bodyPr wrap="square" lIns="0" tIns="0" rIns="0" bIns="0" rtlCol="0" anchor="ctr"/>
          <a:lstStyle/>
          <a:p>
            <a:pPr algn="l" indent="0" marL="0">
              <a:buNone/>
            </a:pPr>
            <a:r>
              <a:rPr lang="en-US" sz="1350" b="1" dirty="0">
                <a:solidFill>
                  <a:srgbClr val="1A2B26"/>
                </a:solidFill>
                <a:latin typeface="Cambria" pitchFamily="34" charset="0"/>
                <a:ea typeface="Cambria" pitchFamily="34" charset="-122"/>
                <a:cs typeface="Cambria" pitchFamily="34" charset="-120"/>
              </a:rPr>
              <a:t>Physique</a:t>
            </a:r>
            <a:endParaRPr lang="en-US" sz="1350" dirty="0"/>
          </a:p>
        </p:txBody>
      </p:sp>
      <p:sp>
        <p:nvSpPr>
          <p:cNvPr id="18" name="Shape 14"/>
          <p:cNvSpPr/>
          <p:nvPr/>
        </p:nvSpPr>
        <p:spPr>
          <a:xfrm>
            <a:off x="6181344" y="2148840"/>
            <a:ext cx="2651760" cy="1371600"/>
          </a:xfrm>
          <a:prstGeom prst="roundRect">
            <a:avLst>
              <a:gd name="adj" fmla="val 8000"/>
            </a:avLst>
          </a:prstGeom>
          <a:solidFill>
            <a:srgbClr val="EAFAF1"/>
          </a:solidFill>
          <a:ln w="12700">
            <a:solidFill>
              <a:srgbClr val="CDEFDB"/>
            </a:solidFill>
            <a:prstDash val="solid"/>
          </a:ln>
        </p:spPr>
      </p:sp>
      <p:sp>
        <p:nvSpPr>
          <p:cNvPr id="19" name="Shape 15"/>
          <p:cNvSpPr/>
          <p:nvPr/>
        </p:nvSpPr>
        <p:spPr>
          <a:xfrm>
            <a:off x="6382512" y="2514600"/>
            <a:ext cx="640080" cy="640080"/>
          </a:xfrm>
          <a:prstGeom prst="roundRect">
            <a:avLst>
              <a:gd name="adj" fmla="val 30000"/>
            </a:avLst>
          </a:prstGeom>
          <a:solidFill>
            <a:srgbClr val="0B8457"/>
          </a:solidFill>
          <a:ln/>
        </p:spPr>
      </p:sp>
      <p:sp>
        <p:nvSpPr>
          <p:cNvPr id="20" name="Text 16"/>
          <p:cNvSpPr/>
          <p:nvPr/>
        </p:nvSpPr>
        <p:spPr>
          <a:xfrm>
            <a:off x="6382512" y="2514600"/>
            <a:ext cx="640080" cy="64008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21" name="Text 17"/>
          <p:cNvSpPr/>
          <p:nvPr/>
        </p:nvSpPr>
        <p:spPr>
          <a:xfrm>
            <a:off x="7095744" y="2148840"/>
            <a:ext cx="1645920" cy="1371600"/>
          </a:xfrm>
          <a:prstGeom prst="rect">
            <a:avLst/>
          </a:prstGeom>
          <a:noFill/>
          <a:ln/>
        </p:spPr>
        <p:txBody>
          <a:bodyPr wrap="square" lIns="0" tIns="0" rIns="0" bIns="0" rtlCol="0" anchor="ctr"/>
          <a:lstStyle/>
          <a:p>
            <a:pPr algn="l" indent="0" marL="0">
              <a:buNone/>
            </a:pPr>
            <a:r>
              <a:rPr lang="en-US" sz="1350" b="1" dirty="0">
                <a:solidFill>
                  <a:srgbClr val="1A2B26"/>
                </a:solidFill>
                <a:latin typeface="Cambria" pitchFamily="34" charset="0"/>
                <a:ea typeface="Cambria" pitchFamily="34" charset="-122"/>
                <a:cs typeface="Cambria" pitchFamily="34" charset="-120"/>
              </a:rPr>
              <a:t>Chimie</a:t>
            </a:r>
            <a:endParaRPr lang="en-US" sz="1350" dirty="0"/>
          </a:p>
        </p:txBody>
      </p:sp>
      <p:sp>
        <p:nvSpPr>
          <p:cNvPr id="22" name="Shape 18"/>
          <p:cNvSpPr/>
          <p:nvPr/>
        </p:nvSpPr>
        <p:spPr>
          <a:xfrm>
            <a:off x="8997696" y="2148840"/>
            <a:ext cx="2651760" cy="1371600"/>
          </a:xfrm>
          <a:prstGeom prst="roundRect">
            <a:avLst>
              <a:gd name="adj" fmla="val 8000"/>
            </a:avLst>
          </a:prstGeom>
          <a:solidFill>
            <a:srgbClr val="EAFAF1"/>
          </a:solidFill>
          <a:ln w="12700">
            <a:solidFill>
              <a:srgbClr val="CDEFDB"/>
            </a:solidFill>
            <a:prstDash val="solid"/>
          </a:ln>
        </p:spPr>
      </p:sp>
      <p:sp>
        <p:nvSpPr>
          <p:cNvPr id="23" name="Shape 19"/>
          <p:cNvSpPr/>
          <p:nvPr/>
        </p:nvSpPr>
        <p:spPr>
          <a:xfrm>
            <a:off x="9198864" y="2514600"/>
            <a:ext cx="640080" cy="640080"/>
          </a:xfrm>
          <a:prstGeom prst="roundRect">
            <a:avLst>
              <a:gd name="adj" fmla="val 30000"/>
            </a:avLst>
          </a:prstGeom>
          <a:solidFill>
            <a:srgbClr val="0B8457"/>
          </a:solidFill>
          <a:ln/>
        </p:spPr>
      </p:sp>
      <p:sp>
        <p:nvSpPr>
          <p:cNvPr id="24" name="Text 20"/>
          <p:cNvSpPr/>
          <p:nvPr/>
        </p:nvSpPr>
        <p:spPr>
          <a:xfrm>
            <a:off x="9198864" y="2514600"/>
            <a:ext cx="640080" cy="64008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25" name="Text 21"/>
          <p:cNvSpPr/>
          <p:nvPr/>
        </p:nvSpPr>
        <p:spPr>
          <a:xfrm>
            <a:off x="9912096" y="2148840"/>
            <a:ext cx="1645920" cy="1371600"/>
          </a:xfrm>
          <a:prstGeom prst="rect">
            <a:avLst/>
          </a:prstGeom>
          <a:noFill/>
          <a:ln/>
        </p:spPr>
        <p:txBody>
          <a:bodyPr wrap="square" lIns="0" tIns="0" rIns="0" bIns="0" rtlCol="0" anchor="ctr"/>
          <a:lstStyle/>
          <a:p>
            <a:pPr algn="l" indent="0" marL="0">
              <a:buNone/>
            </a:pPr>
            <a:r>
              <a:rPr lang="en-US" sz="1350" b="1" dirty="0">
                <a:solidFill>
                  <a:srgbClr val="1A2B26"/>
                </a:solidFill>
                <a:latin typeface="Cambria" pitchFamily="34" charset="0"/>
                <a:ea typeface="Cambria" pitchFamily="34" charset="-122"/>
                <a:cs typeface="Cambria" pitchFamily="34" charset="-120"/>
              </a:rPr>
              <a:t>Sciences physiques</a:t>
            </a:r>
            <a:endParaRPr lang="en-US" sz="1350" dirty="0"/>
          </a:p>
        </p:txBody>
      </p:sp>
      <p:sp>
        <p:nvSpPr>
          <p:cNvPr id="26" name="Shape 22"/>
          <p:cNvSpPr/>
          <p:nvPr/>
        </p:nvSpPr>
        <p:spPr>
          <a:xfrm>
            <a:off x="548640" y="3749040"/>
            <a:ext cx="2651760" cy="1371600"/>
          </a:xfrm>
          <a:prstGeom prst="roundRect">
            <a:avLst>
              <a:gd name="adj" fmla="val 8000"/>
            </a:avLst>
          </a:prstGeom>
          <a:solidFill>
            <a:srgbClr val="EAFAF1"/>
          </a:solidFill>
          <a:ln w="12700">
            <a:solidFill>
              <a:srgbClr val="CDEFDB"/>
            </a:solidFill>
            <a:prstDash val="solid"/>
          </a:ln>
        </p:spPr>
      </p:sp>
      <p:sp>
        <p:nvSpPr>
          <p:cNvPr id="27" name="Shape 23"/>
          <p:cNvSpPr/>
          <p:nvPr/>
        </p:nvSpPr>
        <p:spPr>
          <a:xfrm>
            <a:off x="749808" y="4114800"/>
            <a:ext cx="640080" cy="640080"/>
          </a:xfrm>
          <a:prstGeom prst="roundRect">
            <a:avLst>
              <a:gd name="adj" fmla="val 30000"/>
            </a:avLst>
          </a:prstGeom>
          <a:solidFill>
            <a:srgbClr val="0B8457"/>
          </a:solidFill>
          <a:ln/>
        </p:spPr>
      </p:sp>
      <p:sp>
        <p:nvSpPr>
          <p:cNvPr id="28" name="Text 24"/>
          <p:cNvSpPr/>
          <p:nvPr/>
        </p:nvSpPr>
        <p:spPr>
          <a:xfrm>
            <a:off x="749808" y="4114800"/>
            <a:ext cx="640080" cy="64008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29" name="Text 25"/>
          <p:cNvSpPr/>
          <p:nvPr/>
        </p:nvSpPr>
        <p:spPr>
          <a:xfrm>
            <a:off x="1463040" y="3749040"/>
            <a:ext cx="1645920" cy="1371600"/>
          </a:xfrm>
          <a:prstGeom prst="rect">
            <a:avLst/>
          </a:prstGeom>
          <a:noFill/>
          <a:ln/>
        </p:spPr>
        <p:txBody>
          <a:bodyPr wrap="square" lIns="0" tIns="0" rIns="0" bIns="0" rtlCol="0" anchor="ctr"/>
          <a:lstStyle/>
          <a:p>
            <a:pPr algn="l" indent="0" marL="0">
              <a:buNone/>
            </a:pPr>
            <a:r>
              <a:rPr lang="en-US" sz="1350" b="1" dirty="0">
                <a:solidFill>
                  <a:srgbClr val="1A2B26"/>
                </a:solidFill>
                <a:latin typeface="Cambria" pitchFamily="34" charset="0"/>
                <a:ea typeface="Cambria" pitchFamily="34" charset="-122"/>
                <a:cs typeface="Cambria" pitchFamily="34" charset="-120"/>
              </a:rPr>
              <a:t>SVT</a:t>
            </a:r>
            <a:endParaRPr lang="en-US" sz="1350" dirty="0"/>
          </a:p>
        </p:txBody>
      </p:sp>
      <p:sp>
        <p:nvSpPr>
          <p:cNvPr id="30" name="Shape 26"/>
          <p:cNvSpPr/>
          <p:nvPr/>
        </p:nvSpPr>
        <p:spPr>
          <a:xfrm>
            <a:off x="3364992" y="3749040"/>
            <a:ext cx="2651760" cy="1371600"/>
          </a:xfrm>
          <a:prstGeom prst="roundRect">
            <a:avLst>
              <a:gd name="adj" fmla="val 8000"/>
            </a:avLst>
          </a:prstGeom>
          <a:solidFill>
            <a:srgbClr val="EAFAF1"/>
          </a:solidFill>
          <a:ln w="12700">
            <a:solidFill>
              <a:srgbClr val="CDEFDB"/>
            </a:solidFill>
            <a:prstDash val="solid"/>
          </a:ln>
        </p:spPr>
      </p:sp>
      <p:sp>
        <p:nvSpPr>
          <p:cNvPr id="31" name="Shape 27"/>
          <p:cNvSpPr/>
          <p:nvPr/>
        </p:nvSpPr>
        <p:spPr>
          <a:xfrm>
            <a:off x="3566160" y="4114800"/>
            <a:ext cx="640080" cy="640080"/>
          </a:xfrm>
          <a:prstGeom prst="roundRect">
            <a:avLst>
              <a:gd name="adj" fmla="val 30000"/>
            </a:avLst>
          </a:prstGeom>
          <a:solidFill>
            <a:srgbClr val="0B8457"/>
          </a:solidFill>
          <a:ln/>
        </p:spPr>
      </p:sp>
      <p:sp>
        <p:nvSpPr>
          <p:cNvPr id="32" name="Text 28"/>
          <p:cNvSpPr/>
          <p:nvPr/>
        </p:nvSpPr>
        <p:spPr>
          <a:xfrm>
            <a:off x="3566160" y="4114800"/>
            <a:ext cx="640080" cy="64008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33" name="Text 29"/>
          <p:cNvSpPr/>
          <p:nvPr/>
        </p:nvSpPr>
        <p:spPr>
          <a:xfrm>
            <a:off x="4279392" y="3749040"/>
            <a:ext cx="1645920" cy="1371600"/>
          </a:xfrm>
          <a:prstGeom prst="rect">
            <a:avLst/>
          </a:prstGeom>
          <a:noFill/>
          <a:ln/>
        </p:spPr>
        <p:txBody>
          <a:bodyPr wrap="square" lIns="0" tIns="0" rIns="0" bIns="0" rtlCol="0" anchor="ctr"/>
          <a:lstStyle/>
          <a:p>
            <a:pPr algn="l" indent="0" marL="0">
              <a:buNone/>
            </a:pPr>
            <a:r>
              <a:rPr lang="en-US" sz="1350" b="1" dirty="0">
                <a:solidFill>
                  <a:srgbClr val="1A2B26"/>
                </a:solidFill>
                <a:latin typeface="Cambria" pitchFamily="34" charset="0"/>
                <a:ea typeface="Cambria" pitchFamily="34" charset="-122"/>
                <a:cs typeface="Cambria" pitchFamily="34" charset="-120"/>
              </a:rPr>
              <a:t>Technologie</a:t>
            </a:r>
            <a:endParaRPr lang="en-US" sz="1350" dirty="0"/>
          </a:p>
        </p:txBody>
      </p:sp>
      <p:sp>
        <p:nvSpPr>
          <p:cNvPr id="34" name="Shape 30"/>
          <p:cNvSpPr/>
          <p:nvPr/>
        </p:nvSpPr>
        <p:spPr>
          <a:xfrm>
            <a:off x="6181344" y="3749040"/>
            <a:ext cx="2651760" cy="1371600"/>
          </a:xfrm>
          <a:prstGeom prst="roundRect">
            <a:avLst>
              <a:gd name="adj" fmla="val 8000"/>
            </a:avLst>
          </a:prstGeom>
          <a:solidFill>
            <a:srgbClr val="EAFAF1"/>
          </a:solidFill>
          <a:ln w="12700">
            <a:solidFill>
              <a:srgbClr val="CDEFDB"/>
            </a:solidFill>
            <a:prstDash val="solid"/>
          </a:ln>
        </p:spPr>
      </p:sp>
      <p:sp>
        <p:nvSpPr>
          <p:cNvPr id="35" name="Shape 31"/>
          <p:cNvSpPr/>
          <p:nvPr/>
        </p:nvSpPr>
        <p:spPr>
          <a:xfrm>
            <a:off x="6382512" y="4114800"/>
            <a:ext cx="640080" cy="640080"/>
          </a:xfrm>
          <a:prstGeom prst="roundRect">
            <a:avLst>
              <a:gd name="adj" fmla="val 30000"/>
            </a:avLst>
          </a:prstGeom>
          <a:solidFill>
            <a:srgbClr val="0B8457"/>
          </a:solidFill>
          <a:ln/>
        </p:spPr>
      </p:sp>
      <p:sp>
        <p:nvSpPr>
          <p:cNvPr id="36" name="Text 32"/>
          <p:cNvSpPr/>
          <p:nvPr/>
        </p:nvSpPr>
        <p:spPr>
          <a:xfrm>
            <a:off x="6382512" y="4114800"/>
            <a:ext cx="640080" cy="64008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37" name="Text 33"/>
          <p:cNvSpPr/>
          <p:nvPr/>
        </p:nvSpPr>
        <p:spPr>
          <a:xfrm>
            <a:off x="7095744" y="3749040"/>
            <a:ext cx="1645920" cy="1371600"/>
          </a:xfrm>
          <a:prstGeom prst="rect">
            <a:avLst/>
          </a:prstGeom>
          <a:noFill/>
          <a:ln/>
        </p:spPr>
        <p:txBody>
          <a:bodyPr wrap="square" lIns="0" tIns="0" rIns="0" bIns="0" rtlCol="0" anchor="ctr"/>
          <a:lstStyle/>
          <a:p>
            <a:pPr algn="l" indent="0" marL="0">
              <a:buNone/>
            </a:pPr>
            <a:r>
              <a:rPr lang="en-US" sz="1350" b="1" dirty="0">
                <a:solidFill>
                  <a:srgbClr val="1A2B26"/>
                </a:solidFill>
                <a:latin typeface="Cambria" pitchFamily="34" charset="0"/>
                <a:ea typeface="Cambria" pitchFamily="34" charset="-122"/>
                <a:cs typeface="Cambria" pitchFamily="34" charset="-120"/>
              </a:rPr>
              <a:t>Anglais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TON COMPAGNON D'ÉTUDE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Un tuteur rien que pour toi</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06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3566160" cy="3291840"/>
          </a:xfrm>
          <a:prstGeom prst="roundRect">
            <a:avLst>
              <a:gd name="adj" fmla="val 3333"/>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Il répond à tes questions</a:t>
            </a:r>
            <a:endParaRPr lang="en-US" sz="1450" dirty="0"/>
          </a:p>
        </p:txBody>
      </p:sp>
      <p:sp>
        <p:nvSpPr>
          <p:cNvPr id="14" name="Text 10"/>
          <p:cNvSpPr/>
          <p:nvPr/>
        </p:nvSpPr>
        <p:spPr>
          <a:xfrm>
            <a:off x="82296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Pose ta question à tout moment, comme à un professeur patient.</a:t>
            </a:r>
            <a:endParaRPr lang="en-US" sz="1200" dirty="0"/>
          </a:p>
        </p:txBody>
      </p:sp>
      <p:sp>
        <p:nvSpPr>
          <p:cNvPr id="15" name="Shape 11"/>
          <p:cNvSpPr/>
          <p:nvPr/>
        </p:nvSpPr>
        <p:spPr>
          <a:xfrm>
            <a:off x="4251960" y="1783080"/>
            <a:ext cx="3566160" cy="3291840"/>
          </a:xfrm>
          <a:prstGeom prst="roundRect">
            <a:avLst>
              <a:gd name="adj" fmla="val 3333"/>
            </a:avLst>
          </a:prstGeom>
          <a:solidFill>
            <a:srgbClr val="EAFAF1"/>
          </a:solidFill>
          <a:ln w="12700">
            <a:solidFill>
              <a:srgbClr val="CDEFDB"/>
            </a:solidFill>
            <a:prstDash val="solid"/>
          </a:ln>
        </p:spPr>
      </p:sp>
      <p:sp>
        <p:nvSpPr>
          <p:cNvPr id="16" name="Shape 12"/>
          <p:cNvSpPr/>
          <p:nvPr/>
        </p:nvSpPr>
        <p:spPr>
          <a:xfrm>
            <a:off x="4507992" y="2039112"/>
            <a:ext cx="603504" cy="603504"/>
          </a:xfrm>
          <a:prstGeom prst="roundRect">
            <a:avLst>
              <a:gd name="adj" fmla="val 30303"/>
            </a:avLst>
          </a:prstGeom>
          <a:solidFill>
            <a:srgbClr val="2E6F40"/>
          </a:solidFill>
          <a:ln/>
        </p:spPr>
      </p:sp>
      <p:sp>
        <p:nvSpPr>
          <p:cNvPr id="17" name="Text 13"/>
          <p:cNvSpPr/>
          <p:nvPr/>
        </p:nvSpPr>
        <p:spPr>
          <a:xfrm>
            <a:off x="450799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525780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Il te guide, sans tricher</a:t>
            </a:r>
            <a:endParaRPr lang="en-US" sz="1450" dirty="0"/>
          </a:p>
        </p:txBody>
      </p:sp>
      <p:sp>
        <p:nvSpPr>
          <p:cNvPr id="19" name="Text 15"/>
          <p:cNvSpPr/>
          <p:nvPr/>
        </p:nvSpPr>
        <p:spPr>
          <a:xfrm>
            <a:off x="452628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Il donne des indices pour t'aider à trouver la réponse toi-même.</a:t>
            </a:r>
            <a:endParaRPr lang="en-US" sz="1200" dirty="0"/>
          </a:p>
        </p:txBody>
      </p:sp>
      <p:sp>
        <p:nvSpPr>
          <p:cNvPr id="20" name="Shape 16"/>
          <p:cNvSpPr/>
          <p:nvPr/>
        </p:nvSpPr>
        <p:spPr>
          <a:xfrm>
            <a:off x="7955280" y="1783080"/>
            <a:ext cx="3566160" cy="3291840"/>
          </a:xfrm>
          <a:prstGeom prst="roundRect">
            <a:avLst>
              <a:gd name="adj" fmla="val 3333"/>
            </a:avLst>
          </a:prstGeom>
          <a:solidFill>
            <a:srgbClr val="EAFAF1"/>
          </a:solidFill>
          <a:ln w="12700">
            <a:solidFill>
              <a:srgbClr val="CDEFDB"/>
            </a:solidFill>
            <a:prstDash val="solid"/>
          </a:ln>
        </p:spPr>
      </p:sp>
      <p:sp>
        <p:nvSpPr>
          <p:cNvPr id="21" name="Shape 17"/>
          <p:cNvSpPr/>
          <p:nvPr/>
        </p:nvSpPr>
        <p:spPr>
          <a:xfrm>
            <a:off x="8211312" y="2039112"/>
            <a:ext cx="603504" cy="603504"/>
          </a:xfrm>
          <a:prstGeom prst="roundRect">
            <a:avLst>
              <a:gd name="adj" fmla="val 30303"/>
            </a:avLst>
          </a:prstGeom>
          <a:solidFill>
            <a:srgbClr val="D21034"/>
          </a:solidFill>
          <a:ln/>
        </p:spPr>
      </p:sp>
      <p:sp>
        <p:nvSpPr>
          <p:cNvPr id="22" name="Text 18"/>
          <p:cNvSpPr/>
          <p:nvPr/>
        </p:nvSpPr>
        <p:spPr>
          <a:xfrm>
            <a:off x="82113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896112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Disponible jour et nuit</a:t>
            </a:r>
            <a:endParaRPr lang="en-US" sz="1450" dirty="0"/>
          </a:p>
        </p:txBody>
      </p:sp>
      <p:sp>
        <p:nvSpPr>
          <p:cNvPr id="24" name="Text 20"/>
          <p:cNvSpPr/>
          <p:nvPr/>
        </p:nvSpPr>
        <p:spPr>
          <a:xfrm>
            <a:off x="822960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À la maison, dans le transport ou tard le soir, il est toujours là.</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CE QUE TU GAGNES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Apprends à ton rythme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07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Revois autant que tu veux</a:t>
            </a:r>
            <a:endParaRPr lang="en-US" sz="145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Mets sur pause, recommence la vidéo, jusqu'à ce que ce soit clair.</a:t>
            </a:r>
            <a:endParaRPr lang="en-US" sz="120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2E6F40"/>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Suis tes progrès</a:t>
            </a:r>
            <a:endParaRPr lang="en-US" sz="145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Vois tes leçons terminées et tes scores monter, semaine après semaine.</a:t>
            </a:r>
            <a:endParaRPr lang="en-US" sz="120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D21034"/>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Entraîne-toi aux examens</a:t>
            </a:r>
            <a:endParaRPr lang="en-US" sz="145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Des évaluations au vrai format, du CEPD au BAC, corrigées aussitôt.</a:t>
            </a:r>
            <a:endParaRPr lang="en-US" sz="120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65C3C"/>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Gagne en confiance</a:t>
            </a:r>
            <a:endParaRPr lang="en-US" sz="145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Comprendre vraiment, c'est arrêter de stresser et croire en soi.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POUR LES FAMILLES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Les parents gardent l'œil</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08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3200400"/>
          </a:xfrm>
          <a:prstGeom prst="roundRect">
            <a:avLst>
              <a:gd name="adj" fmla="val 342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2E6F40"/>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Un compte parent</a:t>
            </a:r>
            <a:endParaRPr lang="en-US" sz="1450" dirty="0"/>
          </a:p>
        </p:txBody>
      </p:sp>
      <p:sp>
        <p:nvSpPr>
          <p:cNvPr id="14" name="Text 10"/>
          <p:cNvSpPr/>
          <p:nvPr/>
        </p:nvSpPr>
        <p:spPr>
          <a:xfrm>
            <a:off x="822960" y="2697480"/>
            <a:ext cx="4846320" cy="214884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Reliez vos enfants à votre compte et suivez leurs leçons terminées, leurs scores aux quiz et leur progression vers les certificats, en toute transparence.</a:t>
            </a:r>
            <a:endParaRPr lang="en-US" sz="1200" dirty="0"/>
          </a:p>
        </p:txBody>
      </p:sp>
      <p:sp>
        <p:nvSpPr>
          <p:cNvPr id="15" name="Shape 11"/>
          <p:cNvSpPr/>
          <p:nvPr/>
        </p:nvSpPr>
        <p:spPr>
          <a:xfrm>
            <a:off x="6126480" y="1783080"/>
            <a:ext cx="5486400" cy="3200400"/>
          </a:xfrm>
          <a:prstGeom prst="roundRect">
            <a:avLst>
              <a:gd name="adj" fmla="val 342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0B8457"/>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1984248"/>
            <a:ext cx="425196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Abordable et sûr</a:t>
            </a:r>
            <a:endParaRPr lang="en-US" sz="1450" dirty="0"/>
          </a:p>
        </p:txBody>
      </p:sp>
      <p:sp>
        <p:nvSpPr>
          <p:cNvPr id="19" name="Text 15"/>
          <p:cNvSpPr/>
          <p:nvPr/>
        </p:nvSpPr>
        <p:spPr>
          <a:xfrm>
            <a:off x="6400800" y="2697480"/>
            <a:ext cx="4937760" cy="214884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Des leçons gratuites pour essayer, puis un abonnement à petit prix. Paiement simple par Flooz ou virement, sans engagement compliqué.</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PARTOUT, TOUT LE TEMPS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Tout tient dans ton téléphone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09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Pensé pour le mobile</a:t>
            </a:r>
            <a:endParaRPr lang="en-US" sz="145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Léger et rapide, même quand la connexion est faible.</a:t>
            </a:r>
            <a:endParaRPr lang="en-US" sz="120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2E6F40"/>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Fiches à télécharger</a:t>
            </a:r>
            <a:endParaRPr lang="en-US" sz="145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Garde tes résumés pour réviser, même hors ligne.</a:t>
            </a:r>
            <a:endParaRPr lang="en-US" sz="120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D21034"/>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Flooz ou virement</a:t>
            </a:r>
            <a:endParaRPr lang="en-US" sz="145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Paiement mobile Flooz ou virement bancaire, sans carte requise.</a:t>
            </a:r>
            <a:endParaRPr lang="en-US" sz="120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65C3C"/>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Programme togolais</a:t>
            </a:r>
            <a:endParaRPr lang="en-US" sz="145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Un contenu fidèle à ce que tu apprends en classe.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NOS TARIFS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Un prix juste pour réussir</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10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03520" cy="3931920"/>
          </a:xfrm>
          <a:prstGeom prst="roundRect">
            <a:avLst>
              <a:gd name="adj" fmla="val 3256"/>
            </a:avLst>
          </a:prstGeom>
          <a:solidFill>
            <a:srgbClr val="EAFAF1"/>
          </a:solidFill>
          <a:ln w="12700">
            <a:solidFill>
              <a:srgbClr val="CDEFDB"/>
            </a:solidFill>
            <a:prstDash val="solid"/>
          </a:ln>
        </p:spPr>
      </p:sp>
      <p:sp>
        <p:nvSpPr>
          <p:cNvPr id="11" name="Text 7"/>
          <p:cNvSpPr/>
          <p:nvPr/>
        </p:nvSpPr>
        <p:spPr>
          <a:xfrm>
            <a:off x="868680" y="2057400"/>
            <a:ext cx="4572000" cy="274320"/>
          </a:xfrm>
          <a:prstGeom prst="rect">
            <a:avLst/>
          </a:prstGeom>
          <a:noFill/>
          <a:ln/>
        </p:spPr>
        <p:txBody>
          <a:bodyPr wrap="square" lIns="0" tIns="0" rIns="0" bIns="0" rtlCol="0" anchor="ctr"/>
          <a:lstStyle/>
          <a:p>
            <a:pPr algn="l" indent="0" marL="0">
              <a:buNone/>
            </a:pPr>
            <a:r>
              <a:rPr lang="en-US" sz="1100" b="1" spc="200" kern="0" dirty="0">
                <a:solidFill>
                  <a:srgbClr val="0B8457"/>
                </a:solidFill>
                <a:latin typeface="Calibri" pitchFamily="34" charset="0"/>
                <a:ea typeface="Calibri" pitchFamily="34" charset="-122"/>
                <a:cs typeface="Calibri" pitchFamily="34" charset="-120"/>
              </a:rPr>
              <a:t>POUR ESSAYER</a:t>
            </a:r>
            <a:endParaRPr lang="en-US" sz="1100" dirty="0"/>
          </a:p>
        </p:txBody>
      </p:sp>
      <p:sp>
        <p:nvSpPr>
          <p:cNvPr id="12" name="Text 8"/>
          <p:cNvSpPr/>
          <p:nvPr/>
        </p:nvSpPr>
        <p:spPr>
          <a:xfrm>
            <a:off x="868680" y="2331720"/>
            <a:ext cx="4572000" cy="822960"/>
          </a:xfrm>
          <a:prstGeom prst="rect">
            <a:avLst/>
          </a:prstGeom>
          <a:noFill/>
          <a:ln/>
        </p:spPr>
        <p:txBody>
          <a:bodyPr wrap="square" lIns="0" tIns="0" rIns="0" bIns="0" rtlCol="0" anchor="ctr"/>
          <a:lstStyle/>
          <a:p>
            <a:pPr algn="l" indent="0" marL="0">
              <a:buNone/>
            </a:pPr>
            <a:r>
              <a:rPr lang="en-US" sz="4000" b="1" dirty="0">
                <a:solidFill>
                  <a:srgbClr val="1A2B26"/>
                </a:solidFill>
                <a:latin typeface="Cambria" pitchFamily="34" charset="0"/>
                <a:ea typeface="Cambria" pitchFamily="34" charset="-122"/>
                <a:cs typeface="Cambria" pitchFamily="34" charset="-120"/>
              </a:rPr>
              <a:t>Gratuit</a:t>
            </a:r>
            <a:endParaRPr lang="en-US" sz="4000" dirty="0"/>
          </a:p>
        </p:txBody>
      </p:sp>
      <p:sp>
        <p:nvSpPr>
          <p:cNvPr id="13" name="Text 9"/>
          <p:cNvSpPr/>
          <p:nvPr/>
        </p:nvSpPr>
        <p:spPr>
          <a:xfrm>
            <a:off x="868680" y="3200400"/>
            <a:ext cx="4663440" cy="822960"/>
          </a:xfrm>
          <a:prstGeom prst="rect">
            <a:avLst/>
          </a:prstGeom>
          <a:noFill/>
          <a:ln/>
        </p:spPr>
        <p:txBody>
          <a:bodyPr wrap="square" lIns="0" tIns="0" rIns="0" bIns="0" rtlCol="0" anchor="ctr"/>
          <a:lstStyle/>
          <a:p>
            <a:pPr algn="l" indent="0" marL="0">
              <a:lnSpc>
                <a:spcPct val="110000"/>
              </a:lnSpc>
              <a:buNone/>
            </a:pPr>
            <a:r>
              <a:rPr lang="en-US" sz="1250" dirty="0">
                <a:solidFill>
                  <a:srgbClr val="5C6B66"/>
                </a:solidFill>
                <a:latin typeface="Calibri" pitchFamily="34" charset="0"/>
                <a:ea typeface="Calibri" pitchFamily="34" charset="-122"/>
                <a:cs typeface="Calibri" pitchFamily="34" charset="-120"/>
              </a:rPr>
              <a:t>Des leçons d'essai gratuites, sans carte bancaire. Découvre la plateforme à ton rythme.</a:t>
            </a:r>
            <a:endParaRPr lang="en-US" sz="1250" dirty="0"/>
          </a:p>
        </p:txBody>
      </p:sp>
      <p:sp>
        <p:nvSpPr>
          <p:cNvPr id="14" name="Text 10"/>
          <p:cNvSpPr/>
          <p:nvPr/>
        </p:nvSpPr>
        <p:spPr>
          <a:xfrm>
            <a:off x="1143000" y="4160520"/>
            <a:ext cx="4480560" cy="365760"/>
          </a:xfrm>
          <a:prstGeom prst="rect">
            <a:avLst/>
          </a:prstGeom>
          <a:noFill/>
          <a:ln/>
        </p:spPr>
        <p:txBody>
          <a:bodyPr wrap="square" lIns="0" tIns="0" rIns="0" bIns="0" rtlCol="0" anchor="ctr"/>
          <a:lstStyle/>
          <a:p>
            <a:pPr algn="l" indent="0" marL="0">
              <a:buNone/>
            </a:pPr>
            <a:r>
              <a:rPr lang="en-US" sz="1300" b="1" dirty="0">
                <a:solidFill>
                  <a:srgbClr val="0B8457"/>
                </a:solidFill>
                <a:latin typeface="Calibri" pitchFamily="34" charset="0"/>
                <a:ea typeface="Calibri" pitchFamily="34" charset="-122"/>
                <a:cs typeface="Calibri" pitchFamily="34" charset="-120"/>
              </a:rPr>
              <a:t>✓  </a:t>
            </a:r>
            <a:pPr algn="l" indent="0" marL="0">
              <a:buNone/>
            </a:pPr>
            <a:r>
              <a:rPr lang="en-US" sz="1300" dirty="0">
                <a:solidFill>
                  <a:srgbClr val="1A2B26"/>
                </a:solidFill>
                <a:latin typeface="Calibri" pitchFamily="34" charset="0"/>
                <a:ea typeface="Calibri" pitchFamily="34" charset="-122"/>
                <a:cs typeface="Calibri" pitchFamily="34" charset="-120"/>
              </a:rPr>
              <a:t>Leçons vidéo d'essai</a:t>
            </a:r>
            <a:endParaRPr lang="en-US" sz="1300" dirty="0"/>
          </a:p>
        </p:txBody>
      </p:sp>
      <p:sp>
        <p:nvSpPr>
          <p:cNvPr id="15" name="Text 11"/>
          <p:cNvSpPr/>
          <p:nvPr/>
        </p:nvSpPr>
        <p:spPr>
          <a:xfrm>
            <a:off x="1143000" y="4617720"/>
            <a:ext cx="4480560" cy="365760"/>
          </a:xfrm>
          <a:prstGeom prst="rect">
            <a:avLst/>
          </a:prstGeom>
          <a:noFill/>
          <a:ln/>
        </p:spPr>
        <p:txBody>
          <a:bodyPr wrap="square" lIns="0" tIns="0" rIns="0" bIns="0" rtlCol="0" anchor="ctr"/>
          <a:lstStyle/>
          <a:p>
            <a:pPr algn="l" indent="0" marL="0">
              <a:buNone/>
            </a:pPr>
            <a:r>
              <a:rPr lang="en-US" sz="1300" b="1" dirty="0">
                <a:solidFill>
                  <a:srgbClr val="0B8457"/>
                </a:solidFill>
                <a:latin typeface="Calibri" pitchFamily="34" charset="0"/>
                <a:ea typeface="Calibri" pitchFamily="34" charset="-122"/>
                <a:cs typeface="Calibri" pitchFamily="34" charset="-120"/>
              </a:rPr>
              <a:t>✓  </a:t>
            </a:r>
            <a:pPr algn="l" indent="0" marL="0">
              <a:buNone/>
            </a:pPr>
            <a:r>
              <a:rPr lang="en-US" sz="1300" dirty="0">
                <a:solidFill>
                  <a:srgbClr val="1A2B26"/>
                </a:solidFill>
                <a:latin typeface="Calibri" pitchFamily="34" charset="0"/>
                <a:ea typeface="Calibri" pitchFamily="34" charset="-122"/>
                <a:cs typeface="Calibri" pitchFamily="34" charset="-120"/>
              </a:rPr>
              <a:t>Quiz de découverte</a:t>
            </a:r>
            <a:endParaRPr lang="en-US" sz="1300" dirty="0"/>
          </a:p>
        </p:txBody>
      </p:sp>
      <p:sp>
        <p:nvSpPr>
          <p:cNvPr id="16" name="Shape 12"/>
          <p:cNvSpPr/>
          <p:nvPr/>
        </p:nvSpPr>
        <p:spPr>
          <a:xfrm>
            <a:off x="6309360" y="1783080"/>
            <a:ext cx="5303520" cy="3931920"/>
          </a:xfrm>
          <a:prstGeom prst="roundRect">
            <a:avLst>
              <a:gd name="adj" fmla="val 3256"/>
            </a:avLst>
          </a:prstGeom>
          <a:solidFill>
            <a:srgbClr val="2E6F40"/>
          </a:solidFill>
          <a:ln/>
          <a:effectLst>
            <a:outerShdw sx="100000" sy="100000" kx="0" ky="0" algn="bl" rotWithShape="0" blurRad="101600" dist="38100" dir="5400000">
              <a:srgbClr val="000000">
                <a:alpha val="20000"/>
              </a:srgbClr>
            </a:outerShdw>
          </a:effectLst>
        </p:spPr>
      </p:sp>
      <p:sp>
        <p:nvSpPr>
          <p:cNvPr id="17" name="Text 13"/>
          <p:cNvSpPr/>
          <p:nvPr/>
        </p:nvSpPr>
        <p:spPr>
          <a:xfrm>
            <a:off x="6629400" y="2057400"/>
            <a:ext cx="4572000" cy="274320"/>
          </a:xfrm>
          <a:prstGeom prst="rect">
            <a:avLst/>
          </a:prstGeom>
          <a:noFill/>
          <a:ln/>
        </p:spPr>
        <p:txBody>
          <a:bodyPr wrap="square" lIns="0" tIns="0" rIns="0" bIns="0" rtlCol="0" anchor="ctr"/>
          <a:lstStyle/>
          <a:p>
            <a:pPr algn="l" indent="0" marL="0">
              <a:buNone/>
            </a:pPr>
            <a:r>
              <a:rPr lang="en-US" sz="1100" b="1" spc="200" kern="0" dirty="0">
                <a:solidFill>
                  <a:srgbClr val="FFCE00"/>
                </a:solidFill>
                <a:latin typeface="Calibri" pitchFamily="34" charset="0"/>
                <a:ea typeface="Calibri" pitchFamily="34" charset="-122"/>
                <a:cs typeface="Calibri" pitchFamily="34" charset="-120"/>
              </a:rPr>
              <a:t>S'ABONNER</a:t>
            </a:r>
            <a:endParaRPr lang="en-US" sz="1100" dirty="0"/>
          </a:p>
        </p:txBody>
      </p:sp>
      <p:sp>
        <p:nvSpPr>
          <p:cNvPr id="18" name="Text 14"/>
          <p:cNvSpPr/>
          <p:nvPr/>
        </p:nvSpPr>
        <p:spPr>
          <a:xfrm>
            <a:off x="6629400" y="2331720"/>
            <a:ext cx="4846320" cy="82296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Dès 1 000 </a:t>
            </a:r>
            <a:pPr algn="l" indent="0" marL="0">
              <a:buNone/>
            </a:pPr>
            <a:r>
              <a:rPr lang="en-US" sz="1500" b="1" dirty="0">
                <a:solidFill>
                  <a:srgbClr val="CDEFDB"/>
                </a:solidFill>
                <a:latin typeface="Cambria" pitchFamily="34" charset="0"/>
                <a:ea typeface="Cambria" pitchFamily="34" charset="-122"/>
                <a:cs typeface="Cambria" pitchFamily="34" charset="-120"/>
              </a:rPr>
              <a:t>FCFA / semaine</a:t>
            </a:r>
            <a:endParaRPr lang="en-US" sz="3800" dirty="0"/>
          </a:p>
        </p:txBody>
      </p:sp>
      <p:sp>
        <p:nvSpPr>
          <p:cNvPr id="19" name="Text 15"/>
          <p:cNvSpPr/>
          <p:nvPr/>
        </p:nvSpPr>
        <p:spPr>
          <a:xfrm>
            <a:off x="6629400" y="3200400"/>
            <a:ext cx="4754880" cy="822960"/>
          </a:xfrm>
          <a:prstGeom prst="rect">
            <a:avLst/>
          </a:prstGeom>
          <a:noFill/>
          <a:ln/>
        </p:spPr>
        <p:txBody>
          <a:bodyPr wrap="square" lIns="0" tIns="0" rIns="0" bIns="0" rtlCol="0" anchor="ctr"/>
          <a:lstStyle/>
          <a:p>
            <a:pPr algn="l" indent="0" marL="0">
              <a:lnSpc>
                <a:spcPct val="110000"/>
              </a:lnSpc>
              <a:buNone/>
            </a:pPr>
            <a:r>
              <a:rPr lang="en-US" sz="1250" dirty="0">
                <a:solidFill>
                  <a:srgbClr val="EAFAF1"/>
                </a:solidFill>
                <a:latin typeface="Calibri" pitchFamily="34" charset="0"/>
                <a:ea typeface="Calibri" pitchFamily="34" charset="-122"/>
                <a:cs typeface="Calibri" pitchFamily="34" charset="-120"/>
              </a:rPr>
              <a:t>Choisis la formule qui te convient : une matière, toute ta classe, ou toute la plateforme.</a:t>
            </a:r>
            <a:endParaRPr lang="en-US" sz="1250" dirty="0"/>
          </a:p>
        </p:txBody>
      </p:sp>
      <p:sp>
        <p:nvSpPr>
          <p:cNvPr id="20" name="Text 16"/>
          <p:cNvSpPr/>
          <p:nvPr/>
        </p:nvSpPr>
        <p:spPr>
          <a:xfrm>
            <a:off x="6903720" y="3950208"/>
            <a:ext cx="4663440" cy="365760"/>
          </a:xfrm>
          <a:prstGeom prst="rect">
            <a:avLst/>
          </a:prstGeom>
          <a:noFill/>
          <a:ln/>
        </p:spPr>
        <p:txBody>
          <a:bodyPr wrap="square" lIns="0" tIns="0" rIns="0" bIns="0" rtlCol="0" anchor="ctr"/>
          <a:lstStyle/>
          <a:p>
            <a:pPr algn="l" indent="0" marL="0">
              <a:buNone/>
            </a:pPr>
            <a:r>
              <a:rPr lang="en-US" sz="1250" b="1" dirty="0">
                <a:solidFill>
                  <a:srgbClr val="FFCE00"/>
                </a:solidFill>
                <a:latin typeface="Calibri" pitchFamily="34" charset="0"/>
                <a:ea typeface="Calibri" pitchFamily="34" charset="-122"/>
                <a:cs typeface="Calibri" pitchFamily="34" charset="-120"/>
              </a:rPr>
              <a:t>✓  </a:t>
            </a:r>
            <a:pPr algn="l" indent="0" marL="0">
              <a:buNone/>
            </a:pPr>
            <a:r>
              <a:rPr lang="en-US" sz="1250" dirty="0">
                <a:solidFill>
                  <a:srgbClr val="FFFFFF"/>
                </a:solidFill>
                <a:latin typeface="Calibri" pitchFamily="34" charset="0"/>
                <a:ea typeface="Calibri" pitchFamily="34" charset="-122"/>
                <a:cs typeface="Calibri" pitchFamily="34" charset="-120"/>
              </a:rPr>
              <a:t>1 matière — 1 000 FCFA / semaine</a:t>
            </a:r>
            <a:endParaRPr lang="en-US" sz="1250" dirty="0"/>
          </a:p>
        </p:txBody>
      </p:sp>
      <p:sp>
        <p:nvSpPr>
          <p:cNvPr id="21" name="Text 17"/>
          <p:cNvSpPr/>
          <p:nvPr/>
        </p:nvSpPr>
        <p:spPr>
          <a:xfrm>
            <a:off x="6903720" y="4370832"/>
            <a:ext cx="4663440" cy="365760"/>
          </a:xfrm>
          <a:prstGeom prst="rect">
            <a:avLst/>
          </a:prstGeom>
          <a:noFill/>
          <a:ln/>
        </p:spPr>
        <p:txBody>
          <a:bodyPr wrap="square" lIns="0" tIns="0" rIns="0" bIns="0" rtlCol="0" anchor="ctr"/>
          <a:lstStyle/>
          <a:p>
            <a:pPr algn="l" indent="0" marL="0">
              <a:buNone/>
            </a:pPr>
            <a:r>
              <a:rPr lang="en-US" sz="1250" b="1" dirty="0">
                <a:solidFill>
                  <a:srgbClr val="FFCE00"/>
                </a:solidFill>
                <a:latin typeface="Calibri" pitchFamily="34" charset="0"/>
                <a:ea typeface="Calibri" pitchFamily="34" charset="-122"/>
                <a:cs typeface="Calibri" pitchFamily="34" charset="-120"/>
              </a:rPr>
              <a:t>✓  </a:t>
            </a:r>
            <a:pPr algn="l" indent="0" marL="0">
              <a:buNone/>
            </a:pPr>
            <a:r>
              <a:rPr lang="en-US" sz="1250" dirty="0">
                <a:solidFill>
                  <a:srgbClr val="FFFFFF"/>
                </a:solidFill>
                <a:latin typeface="Calibri" pitchFamily="34" charset="0"/>
                <a:ea typeface="Calibri" pitchFamily="34" charset="-122"/>
                <a:cs typeface="Calibri" pitchFamily="34" charset="-120"/>
              </a:rPr>
              <a:t>Toute la classe — 3 000 FCFA / mois</a:t>
            </a:r>
            <a:endParaRPr lang="en-US" sz="1250" dirty="0"/>
          </a:p>
        </p:txBody>
      </p:sp>
      <p:sp>
        <p:nvSpPr>
          <p:cNvPr id="22" name="Text 18"/>
          <p:cNvSpPr/>
          <p:nvPr/>
        </p:nvSpPr>
        <p:spPr>
          <a:xfrm>
            <a:off x="6903720" y="4791456"/>
            <a:ext cx="4663440" cy="365760"/>
          </a:xfrm>
          <a:prstGeom prst="rect">
            <a:avLst/>
          </a:prstGeom>
          <a:noFill/>
          <a:ln/>
        </p:spPr>
        <p:txBody>
          <a:bodyPr wrap="square" lIns="0" tIns="0" rIns="0" bIns="0" rtlCol="0" anchor="ctr"/>
          <a:lstStyle/>
          <a:p>
            <a:pPr algn="l" indent="0" marL="0">
              <a:buNone/>
            </a:pPr>
            <a:r>
              <a:rPr lang="en-US" sz="1250" b="1" dirty="0">
                <a:solidFill>
                  <a:srgbClr val="FFCE00"/>
                </a:solidFill>
                <a:latin typeface="Calibri" pitchFamily="34" charset="0"/>
                <a:ea typeface="Calibri" pitchFamily="34" charset="-122"/>
                <a:cs typeface="Calibri" pitchFamily="34" charset="-120"/>
              </a:rPr>
              <a:t>✓  </a:t>
            </a:r>
            <a:pPr algn="l" indent="0" marL="0">
              <a:buNone/>
            </a:pPr>
            <a:r>
              <a:rPr lang="en-US" sz="1250" dirty="0">
                <a:solidFill>
                  <a:srgbClr val="FFFFFF"/>
                </a:solidFill>
                <a:latin typeface="Calibri" pitchFamily="34" charset="0"/>
                <a:ea typeface="Calibri" pitchFamily="34" charset="-122"/>
                <a:cs typeface="Calibri" pitchFamily="34" charset="-120"/>
              </a:rPr>
              <a:t>Trimestre, recommandé — 7 500 FCFA</a:t>
            </a:r>
            <a:endParaRPr lang="en-US" sz="1250" dirty="0"/>
          </a:p>
        </p:txBody>
      </p:sp>
      <p:sp>
        <p:nvSpPr>
          <p:cNvPr id="23" name="Text 19"/>
          <p:cNvSpPr/>
          <p:nvPr/>
        </p:nvSpPr>
        <p:spPr>
          <a:xfrm>
            <a:off x="6903720" y="5212080"/>
            <a:ext cx="4663440" cy="365760"/>
          </a:xfrm>
          <a:prstGeom prst="rect">
            <a:avLst/>
          </a:prstGeom>
          <a:noFill/>
          <a:ln/>
        </p:spPr>
        <p:txBody>
          <a:bodyPr wrap="square" lIns="0" tIns="0" rIns="0" bIns="0" rtlCol="0" anchor="ctr"/>
          <a:lstStyle/>
          <a:p>
            <a:pPr algn="l" indent="0" marL="0">
              <a:buNone/>
            </a:pPr>
            <a:r>
              <a:rPr lang="en-US" sz="1250" b="1" dirty="0">
                <a:solidFill>
                  <a:srgbClr val="FFCE00"/>
                </a:solidFill>
                <a:latin typeface="Calibri" pitchFamily="34" charset="0"/>
                <a:ea typeface="Calibri" pitchFamily="34" charset="-122"/>
                <a:cs typeface="Calibri" pitchFamily="34" charset="-120"/>
              </a:rPr>
              <a:t>✓  </a:t>
            </a:r>
            <a:pPr algn="l" indent="0" marL="0">
              <a:buNone/>
            </a:pPr>
            <a:r>
              <a:rPr lang="en-US" sz="1250" dirty="0">
                <a:solidFill>
                  <a:srgbClr val="FFFFFF"/>
                </a:solidFill>
                <a:latin typeface="Calibri" pitchFamily="34" charset="0"/>
                <a:ea typeface="Calibri" pitchFamily="34" charset="-122"/>
                <a:cs typeface="Calibri" pitchFamily="34" charset="-120"/>
              </a:rPr>
              <a:t>Toute la plateforme — 25 000 FCFA / an</a:t>
            </a:r>
            <a:endParaRPr lang="en-US" sz="1250" dirty="0"/>
          </a:p>
        </p:txBody>
      </p:sp>
      <p:sp>
        <p:nvSpPr>
          <p:cNvPr id="24" name="Text 20"/>
          <p:cNvSpPr/>
          <p:nvPr/>
        </p:nvSpPr>
        <p:spPr>
          <a:xfrm>
            <a:off x="548640" y="5870448"/>
            <a:ext cx="11064240" cy="365760"/>
          </a:xfrm>
          <a:prstGeom prst="rect">
            <a:avLst/>
          </a:prstGeom>
          <a:noFill/>
          <a:ln/>
        </p:spPr>
        <p:txBody>
          <a:bodyPr wrap="square" lIns="0" tIns="0" rIns="0" bIns="0" rtlCol="0" anchor="ctr"/>
          <a:lstStyle/>
          <a:p>
            <a:pPr algn="ctr" indent="0" marL="0">
              <a:buNone/>
            </a:pPr>
            <a:r>
              <a:rPr lang="en-US" sz="1300" b="1" dirty="0">
                <a:solidFill>
                  <a:srgbClr val="0B8457"/>
                </a:solidFill>
                <a:latin typeface="Calibri" pitchFamily="34" charset="0"/>
                <a:ea typeface="Calibri" pitchFamily="34" charset="-122"/>
                <a:cs typeface="Calibri" pitchFamily="34" charset="-120"/>
              </a:rPr>
              <a:t>🎁  </a:t>
            </a:r>
            <a:pPr algn="ctr" indent="0" marL="0">
              <a:buNone/>
            </a:pPr>
            <a:r>
              <a:rPr lang="en-US" sz="1300" b="1" dirty="0">
                <a:solidFill>
                  <a:srgbClr val="1A2B26"/>
                </a:solidFill>
                <a:latin typeface="Calibri" pitchFamily="34" charset="0"/>
                <a:ea typeface="Calibri" pitchFamily="34" charset="-122"/>
                <a:cs typeface="Calibri" pitchFamily="34" charset="-120"/>
              </a:rPr>
              <a:t>Primaire (CP1 à CM2) : 100% gratuit, sur la plateforme et sur notre chaîne YouTube.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QUESTIONS FRÉQUENTES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Vous vous demandez peut-être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11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37360"/>
            <a:ext cx="5394960" cy="960120"/>
          </a:xfrm>
          <a:prstGeom prst="roundRect">
            <a:avLst>
              <a:gd name="adj" fmla="val 9524"/>
            </a:avLst>
          </a:prstGeom>
          <a:solidFill>
            <a:srgbClr val="EAFAF1"/>
          </a:solidFill>
          <a:ln w="12700">
            <a:solidFill>
              <a:srgbClr val="CDEFDB"/>
            </a:solidFill>
            <a:prstDash val="solid"/>
          </a:ln>
        </p:spPr>
      </p:sp>
      <p:sp>
        <p:nvSpPr>
          <p:cNvPr id="11" name="Text 7"/>
          <p:cNvSpPr/>
          <p:nvPr/>
        </p:nvSpPr>
        <p:spPr>
          <a:xfrm>
            <a:off x="777240" y="1847088"/>
            <a:ext cx="4937760" cy="365760"/>
          </a:xfrm>
          <a:prstGeom prst="rect">
            <a:avLst/>
          </a:prstGeom>
          <a:noFill/>
          <a:ln/>
        </p:spPr>
        <p:txBody>
          <a:bodyPr wrap="square" lIns="0" tIns="0" rIns="0" bIns="0" rtlCol="0" anchor="ctr"/>
          <a:lstStyle/>
          <a:p>
            <a:pPr algn="l" indent="0" marL="0">
              <a:buNone/>
            </a:pPr>
            <a:r>
              <a:rPr lang="en-US" sz="1350" b="1" dirty="0">
                <a:solidFill>
                  <a:srgbClr val="065C3C"/>
                </a:solidFill>
                <a:latin typeface="Cambria" pitchFamily="34" charset="0"/>
                <a:ea typeface="Cambria" pitchFamily="34" charset="-122"/>
                <a:cs typeface="Cambria" pitchFamily="34" charset="-120"/>
              </a:rPr>
              <a:t>Peut-on essayer gratuitement ?</a:t>
            </a:r>
            <a:endParaRPr lang="en-US" sz="1350" dirty="0"/>
          </a:p>
        </p:txBody>
      </p:sp>
      <p:sp>
        <p:nvSpPr>
          <p:cNvPr id="12" name="Text 8"/>
          <p:cNvSpPr/>
          <p:nvPr/>
        </p:nvSpPr>
        <p:spPr>
          <a:xfrm>
            <a:off x="777240" y="2194560"/>
            <a:ext cx="4937760" cy="457200"/>
          </a:xfrm>
          <a:prstGeom prst="rect">
            <a:avLst/>
          </a:prstGeom>
          <a:noFill/>
          <a:ln/>
        </p:spPr>
        <p:txBody>
          <a:bodyPr wrap="square" lIns="0" tIns="0" rIns="0" bIns="0" rtlCol="0" anchor="ctr"/>
          <a:lstStyle/>
          <a:p>
            <a:pPr algn="l" indent="0" marL="0">
              <a:lnSpc>
                <a:spcPct val="100000"/>
              </a:lnSpc>
              <a:buNone/>
            </a:pPr>
            <a:r>
              <a:rPr lang="en-US" sz="1150" dirty="0">
                <a:solidFill>
                  <a:srgbClr val="5C6B66"/>
                </a:solidFill>
                <a:latin typeface="Calibri" pitchFamily="34" charset="0"/>
                <a:ea typeface="Calibri" pitchFamily="34" charset="-122"/>
                <a:cs typeface="Calibri" pitchFamily="34" charset="-120"/>
              </a:rPr>
              <a:t>Oui. Des leçons d'essai sont gratuites, sans carte bancaire.</a:t>
            </a:r>
            <a:endParaRPr lang="en-US" sz="1150" dirty="0"/>
          </a:p>
        </p:txBody>
      </p:sp>
      <p:sp>
        <p:nvSpPr>
          <p:cNvPr id="13" name="Shape 9"/>
          <p:cNvSpPr/>
          <p:nvPr/>
        </p:nvSpPr>
        <p:spPr>
          <a:xfrm>
            <a:off x="548640" y="2834640"/>
            <a:ext cx="5394960" cy="960120"/>
          </a:xfrm>
          <a:prstGeom prst="roundRect">
            <a:avLst>
              <a:gd name="adj" fmla="val 9524"/>
            </a:avLst>
          </a:prstGeom>
          <a:solidFill>
            <a:srgbClr val="EAFAF1"/>
          </a:solidFill>
          <a:ln w="12700">
            <a:solidFill>
              <a:srgbClr val="CDEFDB"/>
            </a:solidFill>
            <a:prstDash val="solid"/>
          </a:ln>
        </p:spPr>
      </p:sp>
      <p:sp>
        <p:nvSpPr>
          <p:cNvPr id="14" name="Text 10"/>
          <p:cNvSpPr/>
          <p:nvPr/>
        </p:nvSpPr>
        <p:spPr>
          <a:xfrm>
            <a:off x="777240" y="2944368"/>
            <a:ext cx="4937760" cy="365760"/>
          </a:xfrm>
          <a:prstGeom prst="rect">
            <a:avLst/>
          </a:prstGeom>
          <a:noFill/>
          <a:ln/>
        </p:spPr>
        <p:txBody>
          <a:bodyPr wrap="square" lIns="0" tIns="0" rIns="0" bIns="0" rtlCol="0" anchor="ctr"/>
          <a:lstStyle/>
          <a:p>
            <a:pPr algn="l" indent="0" marL="0">
              <a:buNone/>
            </a:pPr>
            <a:r>
              <a:rPr lang="en-US" sz="1350" b="1" dirty="0">
                <a:solidFill>
                  <a:srgbClr val="065C3C"/>
                </a:solidFill>
                <a:latin typeface="Cambria" pitchFamily="34" charset="0"/>
                <a:ea typeface="Cambria" pitchFamily="34" charset="-122"/>
                <a:cs typeface="Cambria" pitchFamily="34" charset="-120"/>
              </a:rPr>
              <a:t>Combien coûte l'abonnement ?</a:t>
            </a:r>
            <a:endParaRPr lang="en-US" sz="1350" dirty="0"/>
          </a:p>
        </p:txBody>
      </p:sp>
      <p:sp>
        <p:nvSpPr>
          <p:cNvPr id="15" name="Text 11"/>
          <p:cNvSpPr/>
          <p:nvPr/>
        </p:nvSpPr>
        <p:spPr>
          <a:xfrm>
            <a:off x="777240" y="3291840"/>
            <a:ext cx="4937760" cy="457200"/>
          </a:xfrm>
          <a:prstGeom prst="rect">
            <a:avLst/>
          </a:prstGeom>
          <a:noFill/>
          <a:ln/>
        </p:spPr>
        <p:txBody>
          <a:bodyPr wrap="square" lIns="0" tIns="0" rIns="0" bIns="0" rtlCol="0" anchor="ctr"/>
          <a:lstStyle/>
          <a:p>
            <a:pPr algn="l" indent="0" marL="0">
              <a:lnSpc>
                <a:spcPct val="100000"/>
              </a:lnSpc>
              <a:buNone/>
            </a:pPr>
            <a:r>
              <a:rPr lang="en-US" sz="1150" dirty="0">
                <a:solidFill>
                  <a:srgbClr val="5C6B66"/>
                </a:solidFill>
                <a:latin typeface="Calibri" pitchFamily="34" charset="0"/>
                <a:ea typeface="Calibri" pitchFamily="34" charset="-122"/>
                <a:cs typeface="Calibri" pitchFamily="34" charset="-120"/>
              </a:rPr>
              <a:t>Dès 1 000 FCFA/semaine pour une matière, ou 3 000 FCFA/mois pour toute la classe.</a:t>
            </a:r>
            <a:endParaRPr lang="en-US" sz="1150" dirty="0"/>
          </a:p>
        </p:txBody>
      </p:sp>
      <p:sp>
        <p:nvSpPr>
          <p:cNvPr id="16" name="Shape 12"/>
          <p:cNvSpPr/>
          <p:nvPr/>
        </p:nvSpPr>
        <p:spPr>
          <a:xfrm>
            <a:off x="548640" y="3931920"/>
            <a:ext cx="5394960" cy="960120"/>
          </a:xfrm>
          <a:prstGeom prst="roundRect">
            <a:avLst>
              <a:gd name="adj" fmla="val 9524"/>
            </a:avLst>
          </a:prstGeom>
          <a:solidFill>
            <a:srgbClr val="EAFAF1"/>
          </a:solidFill>
          <a:ln w="12700">
            <a:solidFill>
              <a:srgbClr val="CDEFDB"/>
            </a:solidFill>
            <a:prstDash val="solid"/>
          </a:ln>
        </p:spPr>
      </p:sp>
      <p:sp>
        <p:nvSpPr>
          <p:cNvPr id="17" name="Text 13"/>
          <p:cNvSpPr/>
          <p:nvPr/>
        </p:nvSpPr>
        <p:spPr>
          <a:xfrm>
            <a:off x="777240" y="4041648"/>
            <a:ext cx="4937760" cy="365760"/>
          </a:xfrm>
          <a:prstGeom prst="rect">
            <a:avLst/>
          </a:prstGeom>
          <a:noFill/>
          <a:ln/>
        </p:spPr>
        <p:txBody>
          <a:bodyPr wrap="square" lIns="0" tIns="0" rIns="0" bIns="0" rtlCol="0" anchor="ctr"/>
          <a:lstStyle/>
          <a:p>
            <a:pPr algn="l" indent="0" marL="0">
              <a:buNone/>
            </a:pPr>
            <a:r>
              <a:rPr lang="en-US" sz="1350" b="1" dirty="0">
                <a:solidFill>
                  <a:srgbClr val="065C3C"/>
                </a:solidFill>
                <a:latin typeface="Cambria" pitchFamily="34" charset="0"/>
                <a:ea typeface="Cambria" pitchFamily="34" charset="-122"/>
                <a:cs typeface="Cambria" pitchFamily="34" charset="-120"/>
              </a:rPr>
              <a:t>Comment payer ?</a:t>
            </a:r>
            <a:endParaRPr lang="en-US" sz="1350" dirty="0"/>
          </a:p>
        </p:txBody>
      </p:sp>
      <p:sp>
        <p:nvSpPr>
          <p:cNvPr id="18" name="Text 14"/>
          <p:cNvSpPr/>
          <p:nvPr/>
        </p:nvSpPr>
        <p:spPr>
          <a:xfrm>
            <a:off x="777240" y="4389120"/>
            <a:ext cx="4937760" cy="457200"/>
          </a:xfrm>
          <a:prstGeom prst="rect">
            <a:avLst/>
          </a:prstGeom>
          <a:noFill/>
          <a:ln/>
        </p:spPr>
        <p:txBody>
          <a:bodyPr wrap="square" lIns="0" tIns="0" rIns="0" bIns="0" rtlCol="0" anchor="ctr"/>
          <a:lstStyle/>
          <a:p>
            <a:pPr algn="l" indent="0" marL="0">
              <a:lnSpc>
                <a:spcPct val="100000"/>
              </a:lnSpc>
              <a:buNone/>
            </a:pPr>
            <a:r>
              <a:rPr lang="en-US" sz="1150" dirty="0">
                <a:solidFill>
                  <a:srgbClr val="5C6B66"/>
                </a:solidFill>
                <a:latin typeface="Calibri" pitchFamily="34" charset="0"/>
                <a:ea typeface="Calibri" pitchFamily="34" charset="-122"/>
                <a:cs typeface="Calibri" pitchFamily="34" charset="-120"/>
              </a:rPr>
              <a:t>Par Flooz ou par virement, depuis votre téléphone.</a:t>
            </a:r>
            <a:endParaRPr lang="en-US" sz="1150" dirty="0"/>
          </a:p>
        </p:txBody>
      </p:sp>
      <p:sp>
        <p:nvSpPr>
          <p:cNvPr id="19" name="Shape 15"/>
          <p:cNvSpPr/>
          <p:nvPr/>
        </p:nvSpPr>
        <p:spPr>
          <a:xfrm>
            <a:off x="6126480" y="1737360"/>
            <a:ext cx="5394960" cy="960120"/>
          </a:xfrm>
          <a:prstGeom prst="roundRect">
            <a:avLst>
              <a:gd name="adj" fmla="val 9524"/>
            </a:avLst>
          </a:prstGeom>
          <a:solidFill>
            <a:srgbClr val="EAFAF1"/>
          </a:solidFill>
          <a:ln w="12700">
            <a:solidFill>
              <a:srgbClr val="CDEFDB"/>
            </a:solidFill>
            <a:prstDash val="solid"/>
          </a:ln>
        </p:spPr>
      </p:sp>
      <p:sp>
        <p:nvSpPr>
          <p:cNvPr id="20" name="Text 16"/>
          <p:cNvSpPr/>
          <p:nvPr/>
        </p:nvSpPr>
        <p:spPr>
          <a:xfrm>
            <a:off x="6355080" y="1847088"/>
            <a:ext cx="4937760" cy="365760"/>
          </a:xfrm>
          <a:prstGeom prst="rect">
            <a:avLst/>
          </a:prstGeom>
          <a:noFill/>
          <a:ln/>
        </p:spPr>
        <p:txBody>
          <a:bodyPr wrap="square" lIns="0" tIns="0" rIns="0" bIns="0" rtlCol="0" anchor="ctr"/>
          <a:lstStyle/>
          <a:p>
            <a:pPr algn="l" indent="0" marL="0">
              <a:buNone/>
            </a:pPr>
            <a:r>
              <a:rPr lang="en-US" sz="1350" b="1" dirty="0">
                <a:solidFill>
                  <a:srgbClr val="065C3C"/>
                </a:solidFill>
                <a:latin typeface="Cambria" pitchFamily="34" charset="0"/>
                <a:ea typeface="Cambria" pitchFamily="34" charset="-122"/>
                <a:cs typeface="Cambria" pitchFamily="34" charset="-120"/>
              </a:rPr>
              <a:t>Faut-il un ordinateur ?</a:t>
            </a:r>
            <a:endParaRPr lang="en-US" sz="1350" dirty="0"/>
          </a:p>
        </p:txBody>
      </p:sp>
      <p:sp>
        <p:nvSpPr>
          <p:cNvPr id="21" name="Text 17"/>
          <p:cNvSpPr/>
          <p:nvPr/>
        </p:nvSpPr>
        <p:spPr>
          <a:xfrm>
            <a:off x="6355080" y="2194560"/>
            <a:ext cx="4937760" cy="457200"/>
          </a:xfrm>
          <a:prstGeom prst="rect">
            <a:avLst/>
          </a:prstGeom>
          <a:noFill/>
          <a:ln/>
        </p:spPr>
        <p:txBody>
          <a:bodyPr wrap="square" lIns="0" tIns="0" rIns="0" bIns="0" rtlCol="0" anchor="ctr"/>
          <a:lstStyle/>
          <a:p>
            <a:pPr algn="l" indent="0" marL="0">
              <a:lnSpc>
                <a:spcPct val="100000"/>
              </a:lnSpc>
              <a:buNone/>
            </a:pPr>
            <a:r>
              <a:rPr lang="en-US" sz="1150" dirty="0">
                <a:solidFill>
                  <a:srgbClr val="5C6B66"/>
                </a:solidFill>
                <a:latin typeface="Calibri" pitchFamily="34" charset="0"/>
                <a:ea typeface="Calibri" pitchFamily="34" charset="-122"/>
                <a:cs typeface="Calibri" pitchFamily="34" charset="-120"/>
              </a:rPr>
              <a:t>Non. Un simple téléphone suffit pour tout suivre.</a:t>
            </a:r>
            <a:endParaRPr lang="en-US" sz="1150" dirty="0"/>
          </a:p>
        </p:txBody>
      </p:sp>
      <p:sp>
        <p:nvSpPr>
          <p:cNvPr id="22" name="Shape 18"/>
          <p:cNvSpPr/>
          <p:nvPr/>
        </p:nvSpPr>
        <p:spPr>
          <a:xfrm>
            <a:off x="6126480" y="2834640"/>
            <a:ext cx="5394960" cy="960120"/>
          </a:xfrm>
          <a:prstGeom prst="roundRect">
            <a:avLst>
              <a:gd name="adj" fmla="val 9524"/>
            </a:avLst>
          </a:prstGeom>
          <a:solidFill>
            <a:srgbClr val="EAFAF1"/>
          </a:solidFill>
          <a:ln w="12700">
            <a:solidFill>
              <a:srgbClr val="CDEFDB"/>
            </a:solidFill>
            <a:prstDash val="solid"/>
          </a:ln>
        </p:spPr>
      </p:sp>
      <p:sp>
        <p:nvSpPr>
          <p:cNvPr id="23" name="Text 19"/>
          <p:cNvSpPr/>
          <p:nvPr/>
        </p:nvSpPr>
        <p:spPr>
          <a:xfrm>
            <a:off x="6355080" y="2944368"/>
            <a:ext cx="4937760" cy="365760"/>
          </a:xfrm>
          <a:prstGeom prst="rect">
            <a:avLst/>
          </a:prstGeom>
          <a:noFill/>
          <a:ln/>
        </p:spPr>
        <p:txBody>
          <a:bodyPr wrap="square" lIns="0" tIns="0" rIns="0" bIns="0" rtlCol="0" anchor="ctr"/>
          <a:lstStyle/>
          <a:p>
            <a:pPr algn="l" indent="0" marL="0">
              <a:buNone/>
            </a:pPr>
            <a:r>
              <a:rPr lang="en-US" sz="1350" b="1" dirty="0">
                <a:solidFill>
                  <a:srgbClr val="065C3C"/>
                </a:solidFill>
                <a:latin typeface="Cambria" pitchFamily="34" charset="0"/>
                <a:ea typeface="Cambria" pitchFamily="34" charset="-122"/>
                <a:cs typeface="Cambria" pitchFamily="34" charset="-120"/>
              </a:rPr>
              <a:t>Est-ce le bon programme ?</a:t>
            </a:r>
            <a:endParaRPr lang="en-US" sz="1350" dirty="0"/>
          </a:p>
        </p:txBody>
      </p:sp>
      <p:sp>
        <p:nvSpPr>
          <p:cNvPr id="24" name="Text 20"/>
          <p:cNvSpPr/>
          <p:nvPr/>
        </p:nvSpPr>
        <p:spPr>
          <a:xfrm>
            <a:off x="6355080" y="3291840"/>
            <a:ext cx="4937760" cy="457200"/>
          </a:xfrm>
          <a:prstGeom prst="rect">
            <a:avLst/>
          </a:prstGeom>
          <a:noFill/>
          <a:ln/>
        </p:spPr>
        <p:txBody>
          <a:bodyPr wrap="square" lIns="0" tIns="0" rIns="0" bIns="0" rtlCol="0" anchor="ctr"/>
          <a:lstStyle/>
          <a:p>
            <a:pPr algn="l" indent="0" marL="0">
              <a:lnSpc>
                <a:spcPct val="100000"/>
              </a:lnSpc>
              <a:buNone/>
            </a:pPr>
            <a:r>
              <a:rPr lang="en-US" sz="1150" dirty="0">
                <a:solidFill>
                  <a:srgbClr val="5C6B66"/>
                </a:solidFill>
                <a:latin typeface="Calibri" pitchFamily="34" charset="0"/>
                <a:ea typeface="Calibri" pitchFamily="34" charset="-122"/>
                <a:cs typeface="Calibri" pitchFamily="34" charset="-120"/>
              </a:rPr>
              <a:t>Oui, les leçons suivent le programme officiel togolais.</a:t>
            </a:r>
            <a:endParaRPr lang="en-US" sz="1150" dirty="0"/>
          </a:p>
        </p:txBody>
      </p:sp>
      <p:sp>
        <p:nvSpPr>
          <p:cNvPr id="25" name="Shape 21"/>
          <p:cNvSpPr/>
          <p:nvPr/>
        </p:nvSpPr>
        <p:spPr>
          <a:xfrm>
            <a:off x="6126480" y="3931920"/>
            <a:ext cx="5394960" cy="960120"/>
          </a:xfrm>
          <a:prstGeom prst="roundRect">
            <a:avLst>
              <a:gd name="adj" fmla="val 9524"/>
            </a:avLst>
          </a:prstGeom>
          <a:solidFill>
            <a:srgbClr val="EAFAF1"/>
          </a:solidFill>
          <a:ln w="12700">
            <a:solidFill>
              <a:srgbClr val="CDEFDB"/>
            </a:solidFill>
            <a:prstDash val="solid"/>
          </a:ln>
        </p:spPr>
      </p:sp>
      <p:sp>
        <p:nvSpPr>
          <p:cNvPr id="26" name="Text 22"/>
          <p:cNvSpPr/>
          <p:nvPr/>
        </p:nvSpPr>
        <p:spPr>
          <a:xfrm>
            <a:off x="6355080" y="4041648"/>
            <a:ext cx="4937760" cy="365760"/>
          </a:xfrm>
          <a:prstGeom prst="rect">
            <a:avLst/>
          </a:prstGeom>
          <a:noFill/>
          <a:ln/>
        </p:spPr>
        <p:txBody>
          <a:bodyPr wrap="square" lIns="0" tIns="0" rIns="0" bIns="0" rtlCol="0" anchor="ctr"/>
          <a:lstStyle/>
          <a:p>
            <a:pPr algn="l" indent="0" marL="0">
              <a:buNone/>
            </a:pPr>
            <a:r>
              <a:rPr lang="en-US" sz="1350" b="1" dirty="0">
                <a:solidFill>
                  <a:srgbClr val="065C3C"/>
                </a:solidFill>
                <a:latin typeface="Cambria" pitchFamily="34" charset="0"/>
                <a:ea typeface="Cambria" pitchFamily="34" charset="-122"/>
                <a:cs typeface="Cambria" pitchFamily="34" charset="-120"/>
              </a:rPr>
              <a:t>Puis-je suivre mon enfant ?</a:t>
            </a:r>
            <a:endParaRPr lang="en-US" sz="1350" dirty="0"/>
          </a:p>
        </p:txBody>
      </p:sp>
      <p:sp>
        <p:nvSpPr>
          <p:cNvPr id="27" name="Text 23"/>
          <p:cNvSpPr/>
          <p:nvPr/>
        </p:nvSpPr>
        <p:spPr>
          <a:xfrm>
            <a:off x="6355080" y="4389120"/>
            <a:ext cx="4937760" cy="457200"/>
          </a:xfrm>
          <a:prstGeom prst="rect">
            <a:avLst/>
          </a:prstGeom>
          <a:noFill/>
          <a:ln/>
        </p:spPr>
        <p:txBody>
          <a:bodyPr wrap="square" lIns="0" tIns="0" rIns="0" bIns="0" rtlCol="0" anchor="ctr"/>
          <a:lstStyle/>
          <a:p>
            <a:pPr algn="l" indent="0" marL="0">
              <a:lnSpc>
                <a:spcPct val="100000"/>
              </a:lnSpc>
              <a:buNone/>
            </a:pPr>
            <a:r>
              <a:rPr lang="en-US" sz="1150" dirty="0">
                <a:solidFill>
                  <a:srgbClr val="5C6B66"/>
                </a:solidFill>
                <a:latin typeface="Calibri" pitchFamily="34" charset="0"/>
                <a:ea typeface="Calibri" pitchFamily="34" charset="-122"/>
                <a:cs typeface="Calibri" pitchFamily="34" charset="-120"/>
              </a:rPr>
              <a:t>Oui, le compte parent montre les leçons faites et les scores.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E6F40"/>
        </a:solidFill>
      </p:bgPr>
    </p:bg>
    <p:spTree>
      <p:nvGrpSpPr>
        <p:cNvPr id="1" name=""/>
        <p:cNvGrpSpPr/>
        <p:nvPr/>
      </p:nvGrpSpPr>
      <p:grpSpPr>
        <a:xfrm>
          <a:off x="0" y="0"/>
          <a:ext cx="0" cy="0"/>
          <a:chOff x="0" y="0"/>
          <a:chExt cx="0" cy="0"/>
        </a:xfrm>
      </p:grpSpPr>
      <p:sp>
        <p:nvSpPr>
          <p:cNvPr id="2" name="Shape 0"/>
          <p:cNvSpPr/>
          <p:nvPr/>
        </p:nvSpPr>
        <p:spPr>
          <a:xfrm>
            <a:off x="548640" y="502920"/>
            <a:ext cx="914400" cy="914400"/>
          </a:xfrm>
          <a:prstGeom prst="roundRect">
            <a:avLst>
              <a:gd name="adj" fmla="val 18000"/>
            </a:avLst>
          </a:prstGeom>
          <a:solidFill>
            <a:srgbClr val="FFFFFF"/>
          </a:solidFill>
          <a:ln/>
          <a:effectLst>
            <a:outerShdw sx="100000" sy="100000" kx="0" ky="0" algn="bl" rotWithShape="0" blurRad="76200" dist="25400" dir="5400000">
              <a:srgbClr val="000000">
                <a:alpha val="18000"/>
              </a:srgbClr>
            </a:outerShdw>
          </a:effectLst>
        </p:spPr>
      </p:sp>
      <p:pic>
        <p:nvPicPr>
          <p:cNvPr id="3" name="Image 0" descr="/Users/nbawana/Desktop/COWORK/CLAUDE-CODE/togo-academy/public/togo-academy-logo.png">    </p:cNvPr>
          <p:cNvPicPr>
            <a:picLocks noChangeAspect="1"/>
          </p:cNvPicPr>
          <p:nvPr/>
        </p:nvPicPr>
        <p:blipFill>
          <a:blip r:embed="rId1"/>
          <a:stretch>
            <a:fillRect/>
          </a:stretch>
        </p:blipFill>
        <p:spPr>
          <a:xfrm>
            <a:off x="621792" y="576072"/>
            <a:ext cx="768096" cy="768096"/>
          </a:xfrm>
          <a:prstGeom prst="ellipse">
            <a:avLst/>
          </a:prstGeom>
        </p:spPr>
      </p:pic>
      <p:sp>
        <p:nvSpPr>
          <p:cNvPr id="4" name="Text 1"/>
          <p:cNvSpPr/>
          <p:nvPr/>
        </p:nvSpPr>
        <p:spPr>
          <a:xfrm>
            <a:off x="1600200" y="658368"/>
            <a:ext cx="2743200" cy="36576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Togo</a:t>
            </a:r>
            <a:pPr algn="l" indent="0" marL="0">
              <a:buNone/>
            </a:pPr>
            <a:r>
              <a:rPr lang="en-US" sz="2000" b="1" dirty="0">
                <a:solidFill>
                  <a:srgbClr val="FFCE00"/>
                </a:solidFill>
                <a:latin typeface="Cambria" pitchFamily="34" charset="0"/>
                <a:ea typeface="Cambria" pitchFamily="34" charset="-122"/>
                <a:cs typeface="Cambria" pitchFamily="34" charset="-120"/>
              </a:rPr>
              <a:t>Academy</a:t>
            </a:r>
            <a:endParaRPr lang="en-US" sz="2000" dirty="0"/>
          </a:p>
        </p:txBody>
      </p:sp>
      <p:sp>
        <p:nvSpPr>
          <p:cNvPr id="5" name="Text 2"/>
          <p:cNvSpPr/>
          <p:nvPr/>
        </p:nvSpPr>
        <p:spPr>
          <a:xfrm>
            <a:off x="566928" y="2011680"/>
            <a:ext cx="8229600" cy="320040"/>
          </a:xfrm>
          <a:prstGeom prst="rect">
            <a:avLst/>
          </a:prstGeom>
          <a:noFill/>
          <a:ln/>
        </p:spPr>
        <p:txBody>
          <a:bodyPr wrap="square" lIns="0" tIns="0" rIns="0" bIns="0" rtlCol="0" anchor="ctr"/>
          <a:lstStyle/>
          <a:p>
            <a:pPr algn="l" indent="0" marL="0">
              <a:buNone/>
            </a:pPr>
            <a:r>
              <a:rPr lang="en-US" sz="1300" b="1" spc="300" kern="0" dirty="0">
                <a:solidFill>
                  <a:srgbClr val="FFCE00"/>
                </a:solidFill>
                <a:latin typeface="Calibri" pitchFamily="34" charset="0"/>
                <a:ea typeface="Calibri" pitchFamily="34" charset="-122"/>
                <a:cs typeface="Calibri" pitchFamily="34" charset="-120"/>
              </a:rPr>
              <a:t>REJOINS-NOUS</a:t>
            </a:r>
            <a:endParaRPr lang="en-US" sz="1300" dirty="0"/>
          </a:p>
        </p:txBody>
      </p:sp>
      <p:sp>
        <p:nvSpPr>
          <p:cNvPr id="6" name="Text 3"/>
          <p:cNvSpPr/>
          <p:nvPr/>
        </p:nvSpPr>
        <p:spPr>
          <a:xfrm>
            <a:off x="548640" y="2423160"/>
            <a:ext cx="10789920" cy="1463040"/>
          </a:xfrm>
          <a:prstGeom prst="rect">
            <a:avLst/>
          </a:prstGeom>
          <a:noFill/>
          <a:ln/>
        </p:spPr>
        <p:txBody>
          <a:bodyPr wrap="square" lIns="0" tIns="0" rIns="0" bIns="0" rtlCol="0" anchor="ctr"/>
          <a:lstStyle/>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Commence aujourd'hui,</a:t>
            </a:r>
            <a:endParaRPr lang="en-US" sz="4000" dirty="0"/>
          </a:p>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gratuitement.</a:t>
            </a:r>
            <a:endParaRPr lang="en-US" sz="4000" dirty="0"/>
          </a:p>
        </p:txBody>
      </p:sp>
      <p:sp>
        <p:nvSpPr>
          <p:cNvPr id="7" name="Text 4"/>
          <p:cNvSpPr/>
          <p:nvPr/>
        </p:nvSpPr>
        <p:spPr>
          <a:xfrm>
            <a:off x="566928" y="4023360"/>
            <a:ext cx="10058400" cy="822960"/>
          </a:xfrm>
          <a:prstGeom prst="rect">
            <a:avLst/>
          </a:prstGeom>
          <a:noFill/>
          <a:ln/>
        </p:spPr>
        <p:txBody>
          <a:bodyPr wrap="square" lIns="0" tIns="0" rIns="0" bIns="0" rtlCol="0" anchor="ctr"/>
          <a:lstStyle/>
          <a:p>
            <a:pPr algn="l" indent="0" marL="0">
              <a:lnSpc>
                <a:spcPct val="110000"/>
              </a:lnSpc>
              <a:buNone/>
            </a:pPr>
            <a:r>
              <a:rPr lang="en-US" sz="1500" dirty="0">
                <a:solidFill>
                  <a:srgbClr val="CDEFDB"/>
                </a:solidFill>
                <a:latin typeface="Calibri" pitchFamily="34" charset="0"/>
                <a:ea typeface="Calibri" pitchFamily="34" charset="-122"/>
                <a:cs typeface="Calibri" pitchFamily="34" charset="-120"/>
              </a:rPr>
              <a:t>Des leçons d'essai sont gratuites, sans carte bancaire. Abonnement dès 1 000 FCFA par semaine.</a:t>
            </a:r>
            <a:endParaRPr lang="en-US" sz="1500" dirty="0"/>
          </a:p>
        </p:txBody>
      </p:sp>
      <p:sp>
        <p:nvSpPr>
          <p:cNvPr id="8" name="Shape 5"/>
          <p:cNvSpPr/>
          <p:nvPr/>
        </p:nvSpPr>
        <p:spPr>
          <a:xfrm>
            <a:off x="548640" y="5074920"/>
            <a:ext cx="3840480" cy="822960"/>
          </a:xfrm>
          <a:prstGeom prst="roundRect">
            <a:avLst>
              <a:gd name="adj" fmla="val 11111"/>
            </a:avLst>
          </a:prstGeom>
          <a:solidFill>
            <a:srgbClr val="EAFAF1"/>
          </a:solidFill>
          <a:ln/>
        </p:spPr>
      </p:sp>
      <p:sp>
        <p:nvSpPr>
          <p:cNvPr id="9" name="Text 6"/>
          <p:cNvSpPr/>
          <p:nvPr/>
        </p:nvSpPr>
        <p:spPr>
          <a:xfrm>
            <a:off x="731520" y="5074920"/>
            <a:ext cx="3566160" cy="822960"/>
          </a:xfrm>
          <a:prstGeom prst="rect">
            <a:avLst/>
          </a:prstGeom>
          <a:noFill/>
          <a:ln/>
        </p:spPr>
        <p:txBody>
          <a:bodyPr wrap="square" lIns="0" tIns="0" rIns="0" bIns="0" rtlCol="0" anchor="ctr"/>
          <a:lstStyle/>
          <a:p>
            <a:pPr algn="l" indent="0" marL="0">
              <a:buNone/>
            </a:pPr>
            <a:r>
              <a:rPr lang="en-US" sz="1000" b="1" dirty="0">
                <a:solidFill>
                  <a:srgbClr val="0B8457"/>
                </a:solidFill>
                <a:latin typeface="Calibri" pitchFamily="34" charset="0"/>
                <a:ea typeface="Calibri" pitchFamily="34" charset="-122"/>
                <a:cs typeface="Calibri" pitchFamily="34" charset="-120"/>
              </a:rPr>
              <a:t>CONTACT
</a:t>
            </a:r>
            <a:endParaRPr lang="en-US" sz="1000" dirty="0"/>
          </a:p>
          <a:p>
            <a:pPr algn="l" indent="0" marL="0">
              <a:buNone/>
            </a:pPr>
            <a:r>
              <a:rPr lang="en-US" sz="1500" b="1" dirty="0">
                <a:solidFill>
                  <a:srgbClr val="1A2B26"/>
                </a:solidFill>
                <a:latin typeface="Calibri" pitchFamily="34" charset="0"/>
                <a:ea typeface="Calibri" pitchFamily="34" charset="-122"/>
                <a:cs typeface="Calibri" pitchFamily="34" charset="-120"/>
              </a:rPr>
              <a:t>info@groupebm.net</a:t>
            </a:r>
            <a:endParaRPr lang="en-US" sz="1000" dirty="0"/>
          </a:p>
        </p:txBody>
      </p:sp>
      <p:sp>
        <p:nvSpPr>
          <p:cNvPr id="10" name="Shape 7"/>
          <p:cNvSpPr/>
          <p:nvPr/>
        </p:nvSpPr>
        <p:spPr>
          <a:xfrm>
            <a:off x="4572000" y="5074920"/>
            <a:ext cx="4754880" cy="822960"/>
          </a:xfrm>
          <a:prstGeom prst="roundRect">
            <a:avLst>
              <a:gd name="adj" fmla="val 11111"/>
            </a:avLst>
          </a:prstGeom>
          <a:solidFill>
            <a:srgbClr val="EAFAF1"/>
          </a:solidFill>
          <a:ln/>
        </p:spPr>
      </p:sp>
      <p:sp>
        <p:nvSpPr>
          <p:cNvPr id="11" name="Text 8"/>
          <p:cNvSpPr/>
          <p:nvPr/>
        </p:nvSpPr>
        <p:spPr>
          <a:xfrm>
            <a:off x="4754880" y="5074920"/>
            <a:ext cx="4480560" cy="822960"/>
          </a:xfrm>
          <a:prstGeom prst="rect">
            <a:avLst/>
          </a:prstGeom>
          <a:noFill/>
          <a:ln/>
        </p:spPr>
        <p:txBody>
          <a:bodyPr wrap="square" lIns="0" tIns="0" rIns="0" bIns="0" rtlCol="0" anchor="ctr"/>
          <a:lstStyle/>
          <a:p>
            <a:pPr algn="l" indent="0" marL="0">
              <a:buNone/>
            </a:pPr>
            <a:r>
              <a:rPr lang="en-US" sz="1000" b="1" dirty="0">
                <a:solidFill>
                  <a:srgbClr val="0B8457"/>
                </a:solidFill>
                <a:latin typeface="Calibri" pitchFamily="34" charset="0"/>
                <a:ea typeface="Calibri" pitchFamily="34" charset="-122"/>
                <a:cs typeface="Calibri" pitchFamily="34" charset="-120"/>
              </a:rPr>
              <a:t>EN LIGNE
</a:t>
            </a:r>
            <a:endParaRPr lang="en-US" sz="1000" dirty="0"/>
          </a:p>
          <a:p>
            <a:pPr algn="l" indent="0" marL="0">
              <a:buNone/>
            </a:pPr>
            <a:r>
              <a:rPr lang="en-US" sz="1400" b="1" dirty="0">
                <a:solidFill>
                  <a:srgbClr val="1A2B26"/>
                </a:solidFill>
                <a:latin typeface="Calibri" pitchFamily="34" charset="0"/>
                <a:ea typeface="Calibri" pitchFamily="34" charset="-122"/>
                <a:cs typeface="Calibri" pitchFamily="34" charset="-120"/>
              </a:rPr>
              <a:t>academie.groupebm.net · groupebm.net</a:t>
            </a:r>
            <a:endParaRPr lang="en-US" sz="1000" dirty="0"/>
          </a:p>
        </p:txBody>
      </p:sp>
      <p:pic>
        <p:nvPicPr>
          <p:cNvPr id="12" name="Image 1" descr="/Users/nbawana/Desktop/COWORK/CLAUDE-CODE/togo-academy/public/gbm-logo.png">    </p:cNvPr>
          <p:cNvPicPr>
            <a:picLocks noChangeAspect="1"/>
          </p:cNvPicPr>
          <p:nvPr/>
        </p:nvPicPr>
        <p:blipFill>
          <a:blip r:embed="rId2"/>
          <a:stretch>
            <a:fillRect/>
          </a:stretch>
        </p:blipFill>
        <p:spPr>
          <a:xfrm>
            <a:off x="10241280" y="5120640"/>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2026-07-18T06:43:37Z</dcterms:created>
  <dcterms:modified xsi:type="dcterms:W3CDTF">2026-07-18T06:43:37Z</dcterms:modified>
</cp:coreProperties>
</file>