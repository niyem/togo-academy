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et merci de votre temps. Je suis Niyem Bawana, fondateur de Togo Academy. Je m'adresse à vous en tant qu'experts référents et partenaires institutionnels. Mon objectif : vous montrer que Togo Academy est un partenaire crédible et sérieux pour l'éducation au Togo, et vous proposer de construire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mission est claire : réduire l'inégalité d'accès à un enseignement scientifique de qualité, en portant les mêmes leçons et le même accompagnement à chaque élève. Nous sommes à la fois une entreprise éducative durable et un outil de démocratisation. Et ce n'est pas théorique : vingt-sept classes, deux cent soixante-sept leçons, sept matières, tout en approche par compétences.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première exigence, c'est la rigueur pédagogique. Nos contenus suivent fidèlement le programme togolais, matière par matière. Nos examens reprennent le format des épreuves officielles, du CEPD au BAC, notées sur la grille officielle. Et la progression est jalonnée de seuils et de certificats vérifiables.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méthode, c'est l'approche par compétences, appliquée pas à pas. Un concept isolé à la fois. Une mise en situation qui ancre la compétence dans un contexte réel. Une évaluation sur grille, selon les critères officiels. Et une progression mesurée, où chaque acquis validé rapproche l'élève de son certificat.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plateforme met tout cela en musique : des leçons vidéo, un tuteur intelligent dans chaque leçon, un suivi de progression visible par les élèves et les parents, le tout accessible sur mobile et à faible débit. La technologie est au service de la pédagogie, jamais l'inverse.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impact se mesure sur trois plans. L'équité, d'abord : les mêmes leçons pour chaque élève, quelle que soit sa ville. La durabilité : les abonnements financent la production et son accessibilité. Et l'échelle : la technologie porte une exigence constante à des milliers d'élèves à la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Togo Academy s'appuie sur un socle solide : nous sommes un département de Groupe BM, dont la devise est bâtir et moderniser. Nous bénéficions de ses ressources, de sa crédibilité et de son réseau, dans l'éducation, l'immigration, les services professionnels et l'ingénierie.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Alors, comment collaborer ? Plusieurs portes s'ouvrent : le conseil pédagogique pour valider et enrichir nos contenus ; les partenariats institutionnels avec les écoles et les ONG ; l'expansion régionale vers d'autres pays francophones ; et l'accès à l'écosystème Groupe BM.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veux insister sur l'équilibre de cette relation. Votre expertise renforce notre rigueur : vous relisez, vous validez, vous nous alignez sur les référentiels. Et en retour, notre plateforme amplifie votre impact : une portée directe auprès des élèves, un canal mesurable, et une vitrine pour votre 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vision dépasse le Togo. D'abord consolider la qualité sur tout le programme national. Ensuite densifier l'offre, avec le tutorat, les kits d'examen et les partenariats. Enfin répliquer la recette dans les pays voisins qui partagent le programme francophone.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nous faire confiance ? Parce que notre contenu est fidèle au programme togolais, pas importé. Parce que notre pédagogie est portée par l'intelligence artificielle, à grande échelle. Parce que la plateforme est déjà en ligne et vivante. Et parce que nous avons derrière nous l'appui de Groupe BM.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Construisons ensemble la relève de demain. Nous cherchons des experts référents et des partenaires institutionnels comme vous. Votre expertise renforce notre rigueur ; notre plateforme amplifie votre impact. Écrivez-nous à info arobase groupebm point net. Merci.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6F40"/>
        </a:solidFill>
      </p:bgPr>
    </p:bg>
    <p:spTree>
      <p:nvGrpSpPr>
        <p:cNvPr id="1" name=""/>
        <p:cNvGrpSpPr/>
        <p:nvPr/>
      </p:nvGrpSpPr>
      <p:grpSpPr>
        <a:xfrm>
          <a:off x="0" y="0"/>
          <a:ext cx="0" cy="0"/>
          <a:chOff x="0" y="0"/>
          <a:chExt cx="0" cy="0"/>
        </a:xfrm>
      </p:grpSpPr>
      <p:sp>
        <p:nvSpPr>
          <p:cNvPr id="2" name="Shape 0"/>
          <p:cNvSpPr/>
          <p:nvPr/>
        </p:nvSpPr>
        <p:spPr>
          <a:xfrm>
            <a:off x="548640" y="502920"/>
            <a:ext cx="1051560" cy="1051560"/>
          </a:xfrm>
          <a:prstGeom prst="roundRect">
            <a:avLst>
              <a:gd name="adj" fmla="val 18000"/>
            </a:avLst>
          </a:prstGeom>
          <a:solidFill>
            <a:srgbClr val="FFFFFF"/>
          </a:solidFill>
          <a:ln/>
          <a:effectLst>
            <a:outerShdw sx="100000" sy="100000" kx="0" ky="0" algn="bl" rotWithShape="0" blurRad="76200" dist="25400" dir="5400000">
              <a:srgbClr val="000000">
                <a:alpha val="18000"/>
              </a:srgbClr>
            </a:outerShdw>
          </a:effectLst>
        </p:spPr>
      </p:sp>
      <p:pic>
        <p:nvPicPr>
          <p:cNvPr id="3" name="Image 0" descr="/Users/nbawana/Desktop/COWORK/CLAUDE-CODE/togo-academy/public/togo-academy-logo.png">    </p:cNvPr>
          <p:cNvPicPr>
            <a:picLocks noChangeAspect="1"/>
          </p:cNvPicPr>
          <p:nvPr/>
        </p:nvPicPr>
        <p:blipFill>
          <a:blip r:embed="rId1"/>
          <a:stretch>
            <a:fillRect/>
          </a:stretch>
        </p:blipFill>
        <p:spPr>
          <a:xfrm>
            <a:off x="632765" y="587045"/>
            <a:ext cx="883310" cy="883310"/>
          </a:xfrm>
          <a:prstGeom prst="ellipse">
            <a:avLst/>
          </a:prstGeom>
        </p:spPr>
      </p:pic>
      <p:sp>
        <p:nvSpPr>
          <p:cNvPr id="4" name="Text 1"/>
          <p:cNvSpPr/>
          <p:nvPr/>
        </p:nvSpPr>
        <p:spPr>
          <a:xfrm>
            <a:off x="1783080" y="713232"/>
            <a:ext cx="2743200" cy="36576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Togo</a:t>
            </a:r>
            <a:pPr algn="l" indent="0" marL="0">
              <a:buNone/>
            </a:pPr>
            <a:r>
              <a:rPr lang="en-US" sz="2400" b="1" dirty="0">
                <a:solidFill>
                  <a:srgbClr val="FFCE00"/>
                </a:solidFill>
                <a:latin typeface="Cambria" pitchFamily="34" charset="0"/>
                <a:ea typeface="Cambria" pitchFamily="34" charset="-122"/>
                <a:cs typeface="Cambria" pitchFamily="34" charset="-120"/>
              </a:rPr>
              <a:t>Academy</a:t>
            </a:r>
            <a:endParaRPr lang="en-US" sz="2400" dirty="0"/>
          </a:p>
        </p:txBody>
      </p:sp>
      <p:sp>
        <p:nvSpPr>
          <p:cNvPr id="5" name="Text 2"/>
          <p:cNvSpPr/>
          <p:nvPr/>
        </p:nvSpPr>
        <p:spPr>
          <a:xfrm>
            <a:off x="566928" y="1965960"/>
            <a:ext cx="8229600" cy="320040"/>
          </a:xfrm>
          <a:prstGeom prst="rect">
            <a:avLst/>
          </a:prstGeom>
          <a:noFill/>
          <a:ln/>
        </p:spPr>
        <p:txBody>
          <a:bodyPr wrap="square" lIns="0" tIns="0" rIns="0" bIns="0" rtlCol="0" anchor="ctr"/>
          <a:lstStyle/>
          <a:p>
            <a:pPr algn="l" indent="0" marL="0">
              <a:buNone/>
            </a:pPr>
            <a:r>
              <a:rPr lang="en-US" sz="1300" b="1" spc="300" kern="0" dirty="0">
                <a:solidFill>
                  <a:srgbClr val="FFCE00"/>
                </a:solidFill>
                <a:latin typeface="Calibri" pitchFamily="34" charset="0"/>
                <a:ea typeface="Calibri" pitchFamily="34" charset="-122"/>
                <a:cs typeface="Calibri" pitchFamily="34" charset="-120"/>
              </a:rPr>
              <a:t>EXPERTS ET PARTENAIRES INSTITUTIONNELS</a:t>
            </a:r>
            <a:endParaRPr lang="en-US" sz="1300" dirty="0"/>
          </a:p>
        </p:txBody>
      </p:sp>
      <p:sp>
        <p:nvSpPr>
          <p:cNvPr id="6" name="Text 3"/>
          <p:cNvSpPr/>
          <p:nvPr/>
        </p:nvSpPr>
        <p:spPr>
          <a:xfrm>
            <a:off x="548640" y="2377440"/>
            <a:ext cx="10789920" cy="1828800"/>
          </a:xfrm>
          <a:prstGeom prst="rect">
            <a:avLst/>
          </a:prstGeom>
          <a:noFill/>
          <a:ln/>
        </p:spPr>
        <p:txBody>
          <a:bodyPr wrap="square" lIns="0" tIns="0" rIns="0" bIns="0" rtlCol="0" anchor="ctr"/>
          <a:lstStyle/>
          <a:p>
            <a:pPr algn="l" indent="0" marL="0">
              <a:lnSpc>
                <a:spcPct val="102000"/>
              </a:lnSpc>
              <a:buNone/>
            </a:pPr>
            <a:r>
              <a:rPr lang="en-US" sz="4400" b="1" dirty="0">
                <a:solidFill>
                  <a:srgbClr val="FFFFFF"/>
                </a:solidFill>
                <a:latin typeface="Cambria" pitchFamily="34" charset="0"/>
                <a:ea typeface="Cambria" pitchFamily="34" charset="-122"/>
                <a:cs typeface="Cambria" pitchFamily="34" charset="-120"/>
              </a:rPr>
              <a:t>Un partenaire crédible</a:t>
            </a:r>
            <a:endParaRPr lang="en-US" sz="4400" dirty="0"/>
          </a:p>
          <a:p>
            <a:pPr algn="l" indent="0" marL="0">
              <a:lnSpc>
                <a:spcPct val="102000"/>
              </a:lnSpc>
              <a:buNone/>
            </a:pPr>
            <a:r>
              <a:rPr lang="en-US" sz="4400" b="1" dirty="0">
                <a:solidFill>
                  <a:srgbClr val="FFFFFF"/>
                </a:solidFill>
                <a:latin typeface="Cambria" pitchFamily="34" charset="0"/>
                <a:ea typeface="Cambria" pitchFamily="34" charset="-122"/>
                <a:cs typeface="Cambria" pitchFamily="34" charset="-120"/>
              </a:rPr>
              <a:t>pour l'éducation au Togo.</a:t>
            </a:r>
            <a:endParaRPr lang="en-US" sz="4400" dirty="0"/>
          </a:p>
        </p:txBody>
      </p:sp>
      <p:sp>
        <p:nvSpPr>
          <p:cNvPr id="7" name="Text 4"/>
          <p:cNvSpPr/>
          <p:nvPr/>
        </p:nvSpPr>
        <p:spPr>
          <a:xfrm>
            <a:off x="566928" y="4434840"/>
            <a:ext cx="10058400" cy="731520"/>
          </a:xfrm>
          <a:prstGeom prst="rect">
            <a:avLst/>
          </a:prstGeom>
          <a:noFill/>
          <a:ln/>
        </p:spPr>
        <p:txBody>
          <a:bodyPr wrap="square" lIns="0" tIns="0" rIns="0" bIns="0" rtlCol="0" anchor="ctr"/>
          <a:lstStyle/>
          <a:p>
            <a:pPr algn="l" indent="0" marL="0">
              <a:buNone/>
            </a:pPr>
            <a:r>
              <a:rPr lang="en-US" sz="1600" dirty="0">
                <a:solidFill>
                  <a:srgbClr val="CDEFDB"/>
                </a:solidFill>
                <a:latin typeface="Calibri" pitchFamily="34" charset="0"/>
                <a:ea typeface="Calibri" pitchFamily="34" charset="-122"/>
                <a:cs typeface="Calibri" pitchFamily="34" charset="-120"/>
              </a:rPr>
              <a:t>Rigueur pédagogique, technologie et impact, adossés à Groupe BM.</a:t>
            </a:r>
            <a:endParaRPr lang="en-US" sz="1600" dirty="0"/>
          </a:p>
        </p:txBody>
      </p:sp>
      <p:sp>
        <p:nvSpPr>
          <p:cNvPr id="8" name="Shape 5"/>
          <p:cNvSpPr/>
          <p:nvPr/>
        </p:nvSpPr>
        <p:spPr>
          <a:xfrm>
            <a:off x="9997135" y="6035040"/>
            <a:ext cx="292608" cy="292608"/>
          </a:xfrm>
          <a:prstGeom prst="oval">
            <a:avLst/>
          </a:prstGeom>
          <a:solidFill>
            <a:srgbClr val="0B8457"/>
          </a:solidFill>
          <a:ln/>
        </p:spPr>
      </p:sp>
      <p:sp>
        <p:nvSpPr>
          <p:cNvPr id="9" name="Shape 6"/>
          <p:cNvSpPr/>
          <p:nvPr/>
        </p:nvSpPr>
        <p:spPr>
          <a:xfrm>
            <a:off x="10454335" y="6035040"/>
            <a:ext cx="292608" cy="292608"/>
          </a:xfrm>
          <a:prstGeom prst="oval">
            <a:avLst/>
          </a:prstGeom>
          <a:solidFill>
            <a:srgbClr val="FFCE00"/>
          </a:solidFill>
          <a:ln/>
        </p:spPr>
      </p:sp>
      <p:sp>
        <p:nvSpPr>
          <p:cNvPr id="10" name="Shape 7"/>
          <p:cNvSpPr/>
          <p:nvPr/>
        </p:nvSpPr>
        <p:spPr>
          <a:xfrm>
            <a:off x="10911535" y="6035040"/>
            <a:ext cx="292608" cy="292608"/>
          </a:xfrm>
          <a:prstGeom prst="oval">
            <a:avLst/>
          </a:prstGeom>
          <a:solidFill>
            <a:srgbClr val="D21034"/>
          </a:solidFill>
          <a:ln/>
        </p:spPr>
      </p:sp>
      <p:pic>
        <p:nvPicPr>
          <p:cNvPr id="11" name="Image 1" descr="/Users/nbawana/Desktop/COWORK/CLAUDE-CODE/togo-academy/public/gbm-logo.png">    </p:cNvPr>
          <p:cNvPicPr>
            <a:picLocks noChangeAspect="1"/>
          </p:cNvPicPr>
          <p:nvPr/>
        </p:nvPicPr>
        <p:blipFill>
          <a:blip r:embed="rId2"/>
          <a:stretch>
            <a:fillRect/>
          </a:stretch>
        </p:blipFill>
        <p:spPr>
          <a:xfrm>
            <a:off x="548640" y="6080760"/>
            <a:ext cx="365760" cy="365760"/>
          </a:xfrm>
          <a:prstGeom prst="rect">
            <a:avLst/>
          </a:prstGeom>
        </p:spPr>
      </p:pic>
      <p:sp>
        <p:nvSpPr>
          <p:cNvPr id="12" name="Text 8"/>
          <p:cNvSpPr/>
          <p:nvPr/>
        </p:nvSpPr>
        <p:spPr>
          <a:xfrm>
            <a:off x="1005840" y="6080760"/>
            <a:ext cx="8229600" cy="365760"/>
          </a:xfrm>
          <a:prstGeom prst="rect">
            <a:avLst/>
          </a:prstGeom>
          <a:noFill/>
          <a:ln/>
        </p:spPr>
        <p:txBody>
          <a:bodyPr wrap="square" lIns="0" tIns="0" rIns="0" bIns="0" rtlCol="0" anchor="ctr"/>
          <a:lstStyle/>
          <a:p>
            <a:pPr algn="l" indent="0" marL="0">
              <a:buNone/>
            </a:pPr>
            <a:r>
              <a:rPr lang="en-US" sz="1100" dirty="0">
                <a:solidFill>
                  <a:srgbClr val="CDEFDB"/>
                </a:solidFill>
                <a:latin typeface="Calibri" pitchFamily="34" charset="0"/>
                <a:ea typeface="Calibri" pitchFamily="34" charset="-122"/>
                <a:cs typeface="Calibri" pitchFamily="34" charset="-120"/>
              </a:rPr>
              <a:t>Un département de Groupe BM  ·  academie.groupebm.net</a:t>
            </a:r>
            <a:endParaRPr lang="en-US" sz="1100" dirty="0"/>
          </a:p>
        </p:txBody>
      </p:sp>
      <p:sp>
        <p:nvSpPr>
          <p:cNvPr id="13" name="Text 9"/>
          <p:cNvSpPr/>
          <p:nvPr/>
        </p:nvSpPr>
        <p:spPr>
          <a:xfrm>
            <a:off x="566928" y="5212080"/>
            <a:ext cx="8229600" cy="320040"/>
          </a:xfrm>
          <a:prstGeom prst="rect">
            <a:avLst/>
          </a:prstGeom>
          <a:noFill/>
          <a:ln/>
        </p:spPr>
        <p:txBody>
          <a:bodyPr wrap="square" lIns="0" tIns="0" rIns="0" bIns="0" rtlCol="0" anchor="ctr"/>
          <a:lstStyle/>
          <a:p>
            <a:pPr algn="l" indent="0" marL="0">
              <a:buNone/>
            </a:pPr>
            <a:r>
              <a:rPr lang="en-US" sz="1300" dirty="0">
                <a:solidFill>
                  <a:srgbClr val="CDEFDB"/>
                </a:solidFill>
                <a:latin typeface="Calibri" pitchFamily="34" charset="0"/>
                <a:ea typeface="Calibri" pitchFamily="34" charset="-122"/>
                <a:cs typeface="Calibri" pitchFamily="34" charset="-120"/>
              </a:rPr>
              <a:t>Présenté par  </a:t>
            </a:r>
            <a:pPr algn="l" indent="0" marL="0">
              <a:buNone/>
            </a:pPr>
            <a:r>
              <a:rPr lang="en-US" sz="1300" b="1" dirty="0">
                <a:solidFill>
                  <a:srgbClr val="FFFFFF"/>
                </a:solidFill>
                <a:latin typeface="Calibri" pitchFamily="34" charset="0"/>
                <a:ea typeface="Calibri" pitchFamily="34" charset="-122"/>
                <a:cs typeface="Calibri" pitchFamily="34" charset="-120"/>
              </a:rPr>
              <a:t>Niyem M. Bawana, Ph.D.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POURQUOI NOUS EXISTONS</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Notre mission</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02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Text 6"/>
          <p:cNvSpPr/>
          <p:nvPr/>
        </p:nvSpPr>
        <p:spPr>
          <a:xfrm>
            <a:off x="548640" y="1828800"/>
            <a:ext cx="6400800" cy="3017520"/>
          </a:xfrm>
          <a:prstGeom prst="rect">
            <a:avLst/>
          </a:prstGeom>
          <a:noFill/>
          <a:ln/>
        </p:spPr>
        <p:txBody>
          <a:bodyPr wrap="square" lIns="0" tIns="0" rIns="0" bIns="0" rtlCol="0" anchor="ctr"/>
          <a:lstStyle/>
          <a:p>
            <a:pPr algn="l" indent="0" marL="0">
              <a:lnSpc>
                <a:spcPct val="116000"/>
              </a:lnSpc>
              <a:spcAft>
                <a:spcPts val="1200"/>
              </a:spcAft>
              <a:buNone/>
            </a:pPr>
            <a:r>
              <a:rPr lang="en-US" sz="1550" dirty="0">
                <a:solidFill>
                  <a:srgbClr val="1A2B26"/>
                </a:solidFill>
                <a:latin typeface="Calibri" pitchFamily="34" charset="0"/>
                <a:ea typeface="Calibri" pitchFamily="34" charset="-122"/>
                <a:cs typeface="Calibri" pitchFamily="34" charset="-120"/>
              </a:rPr>
              <a:t>Réduire l'inégalité d'accès à un enseignement scientifique de qualité au Togo, en portant les mêmes leçons et le même accompagnement à chaque élève.</a:t>
            </a:r>
            <a:endParaRPr lang="en-US" sz="1550" dirty="0"/>
          </a:p>
          <a:p>
            <a:pPr algn="l" indent="0" marL="0">
              <a:lnSpc>
                <a:spcPct val="116000"/>
              </a:lnSpc>
              <a:buNone/>
            </a:pPr>
            <a:r>
              <a:rPr lang="en-US" sz="1550" dirty="0">
                <a:solidFill>
                  <a:srgbClr val="1A2B26"/>
                </a:solidFill>
                <a:latin typeface="Calibri" pitchFamily="34" charset="0"/>
                <a:ea typeface="Calibri" pitchFamily="34" charset="-122"/>
                <a:cs typeface="Calibri" pitchFamily="34" charset="-120"/>
              </a:rPr>
              <a:t>Une entreprise éducative durable autant qu'un outil de démocratisation : les abonnements financent la production de contenu et son accessibilité.</a:t>
            </a:r>
            <a:endParaRPr lang="en-US" sz="1550" dirty="0"/>
          </a:p>
        </p:txBody>
      </p:sp>
      <p:sp>
        <p:nvSpPr>
          <p:cNvPr id="11" name="Shape 7"/>
          <p:cNvSpPr/>
          <p:nvPr/>
        </p:nvSpPr>
        <p:spPr>
          <a:xfrm>
            <a:off x="7223760" y="1920240"/>
            <a:ext cx="2103120" cy="1554480"/>
          </a:xfrm>
          <a:prstGeom prst="roundRect">
            <a:avLst>
              <a:gd name="adj" fmla="val 7059"/>
            </a:avLst>
          </a:prstGeom>
          <a:solidFill>
            <a:srgbClr val="FFFFFF"/>
          </a:solidFill>
          <a:ln w="12700">
            <a:solidFill>
              <a:srgbClr val="CDEFDB"/>
            </a:solidFill>
            <a:prstDash val="solid"/>
          </a:ln>
          <a:effectLst>
            <a:outerShdw sx="100000" sy="100000" kx="0" ky="0" algn="bl" rotWithShape="0" blurRad="63500" dist="25400" dir="5400000">
              <a:srgbClr val="000000">
                <a:alpha val="8000"/>
              </a:srgbClr>
            </a:outerShdw>
          </a:effectLst>
        </p:spPr>
      </p:sp>
      <p:sp>
        <p:nvSpPr>
          <p:cNvPr id="12" name="Text 8"/>
          <p:cNvSpPr/>
          <p:nvPr/>
        </p:nvSpPr>
        <p:spPr>
          <a:xfrm>
            <a:off x="7315200" y="2148840"/>
            <a:ext cx="1920240" cy="777240"/>
          </a:xfrm>
          <a:prstGeom prst="rect">
            <a:avLst/>
          </a:prstGeom>
          <a:noFill/>
          <a:ln/>
        </p:spPr>
        <p:txBody>
          <a:bodyPr wrap="square" lIns="0" tIns="0" rIns="0" bIns="0" rtlCol="0" anchor="ctr"/>
          <a:lstStyle/>
          <a:p>
            <a:pPr algn="ctr" indent="0" marL="0">
              <a:buNone/>
            </a:pPr>
            <a:r>
              <a:rPr lang="en-US" sz="3400" b="1" dirty="0">
                <a:solidFill>
                  <a:srgbClr val="0B8457"/>
                </a:solidFill>
                <a:latin typeface="Cambria" pitchFamily="34" charset="0"/>
                <a:ea typeface="Cambria" pitchFamily="34" charset="-122"/>
                <a:cs typeface="Cambria" pitchFamily="34" charset="-120"/>
              </a:rPr>
              <a:t>27</a:t>
            </a:r>
            <a:endParaRPr lang="en-US" sz="3400" dirty="0"/>
          </a:p>
        </p:txBody>
      </p:sp>
      <p:sp>
        <p:nvSpPr>
          <p:cNvPr id="13" name="Text 9"/>
          <p:cNvSpPr/>
          <p:nvPr/>
        </p:nvSpPr>
        <p:spPr>
          <a:xfrm>
            <a:off x="7315200" y="2880360"/>
            <a:ext cx="1920240" cy="457200"/>
          </a:xfrm>
          <a:prstGeom prst="rect">
            <a:avLst/>
          </a:prstGeom>
          <a:noFill/>
          <a:ln/>
        </p:spPr>
        <p:txBody>
          <a:bodyPr wrap="square" lIns="0" tIns="0" rIns="0" bIns="0" rtlCol="0" anchor="t"/>
          <a:lstStyle/>
          <a:p>
            <a:pPr algn="ctr" indent="0" marL="0">
              <a:buNone/>
            </a:pPr>
            <a:r>
              <a:rPr lang="en-US" sz="1150" dirty="0">
                <a:solidFill>
                  <a:srgbClr val="5C6B66"/>
                </a:solidFill>
                <a:latin typeface="Calibri" pitchFamily="34" charset="0"/>
                <a:ea typeface="Calibri" pitchFamily="34" charset="-122"/>
                <a:cs typeface="Calibri" pitchFamily="34" charset="-120"/>
              </a:rPr>
              <a:t>classes couvertes</a:t>
            </a:r>
            <a:endParaRPr lang="en-US" sz="1150" dirty="0"/>
          </a:p>
        </p:txBody>
      </p:sp>
      <p:sp>
        <p:nvSpPr>
          <p:cNvPr id="14" name="Shape 10"/>
          <p:cNvSpPr/>
          <p:nvPr/>
        </p:nvSpPr>
        <p:spPr>
          <a:xfrm>
            <a:off x="9509760" y="1920240"/>
            <a:ext cx="2103120" cy="1554480"/>
          </a:xfrm>
          <a:prstGeom prst="roundRect">
            <a:avLst>
              <a:gd name="adj" fmla="val 7059"/>
            </a:avLst>
          </a:prstGeom>
          <a:solidFill>
            <a:srgbClr val="FFFFFF"/>
          </a:solidFill>
          <a:ln w="12700">
            <a:solidFill>
              <a:srgbClr val="CDEFDB"/>
            </a:solidFill>
            <a:prstDash val="solid"/>
          </a:ln>
          <a:effectLst>
            <a:outerShdw sx="100000" sy="100000" kx="0" ky="0" algn="bl" rotWithShape="0" blurRad="63500" dist="25400" dir="5400000">
              <a:srgbClr val="000000">
                <a:alpha val="8000"/>
              </a:srgbClr>
            </a:outerShdw>
          </a:effectLst>
        </p:spPr>
      </p:sp>
      <p:sp>
        <p:nvSpPr>
          <p:cNvPr id="15" name="Text 11"/>
          <p:cNvSpPr/>
          <p:nvPr/>
        </p:nvSpPr>
        <p:spPr>
          <a:xfrm>
            <a:off x="9601200" y="2148840"/>
            <a:ext cx="1920240" cy="777240"/>
          </a:xfrm>
          <a:prstGeom prst="rect">
            <a:avLst/>
          </a:prstGeom>
          <a:noFill/>
          <a:ln/>
        </p:spPr>
        <p:txBody>
          <a:bodyPr wrap="square" lIns="0" tIns="0" rIns="0" bIns="0" rtlCol="0" anchor="ctr"/>
          <a:lstStyle/>
          <a:p>
            <a:pPr algn="ctr" indent="0" marL="0">
              <a:buNone/>
            </a:pPr>
            <a:r>
              <a:rPr lang="en-US" sz="3400" b="1" dirty="0">
                <a:solidFill>
                  <a:srgbClr val="2E6F40"/>
                </a:solidFill>
                <a:latin typeface="Cambria" pitchFamily="34" charset="0"/>
                <a:ea typeface="Cambria" pitchFamily="34" charset="-122"/>
                <a:cs typeface="Cambria" pitchFamily="34" charset="-120"/>
              </a:rPr>
              <a:t>267</a:t>
            </a:r>
            <a:endParaRPr lang="en-US" sz="3400" dirty="0"/>
          </a:p>
        </p:txBody>
      </p:sp>
      <p:sp>
        <p:nvSpPr>
          <p:cNvPr id="16" name="Text 12"/>
          <p:cNvSpPr/>
          <p:nvPr/>
        </p:nvSpPr>
        <p:spPr>
          <a:xfrm>
            <a:off x="9601200" y="2880360"/>
            <a:ext cx="1920240" cy="457200"/>
          </a:xfrm>
          <a:prstGeom prst="rect">
            <a:avLst/>
          </a:prstGeom>
          <a:noFill/>
          <a:ln/>
        </p:spPr>
        <p:txBody>
          <a:bodyPr wrap="square" lIns="0" tIns="0" rIns="0" bIns="0" rtlCol="0" anchor="t"/>
          <a:lstStyle/>
          <a:p>
            <a:pPr algn="ctr" indent="0" marL="0">
              <a:buNone/>
            </a:pPr>
            <a:r>
              <a:rPr lang="en-US" sz="1150" dirty="0">
                <a:solidFill>
                  <a:srgbClr val="5C6B66"/>
                </a:solidFill>
                <a:latin typeface="Calibri" pitchFamily="34" charset="0"/>
                <a:ea typeface="Calibri" pitchFamily="34" charset="-122"/>
                <a:cs typeface="Calibri" pitchFamily="34" charset="-120"/>
              </a:rPr>
              <a:t>leçons publiées</a:t>
            </a:r>
            <a:endParaRPr lang="en-US" sz="1150" dirty="0"/>
          </a:p>
        </p:txBody>
      </p:sp>
      <p:sp>
        <p:nvSpPr>
          <p:cNvPr id="17" name="Shape 13"/>
          <p:cNvSpPr/>
          <p:nvPr/>
        </p:nvSpPr>
        <p:spPr>
          <a:xfrm>
            <a:off x="7223760" y="3657600"/>
            <a:ext cx="2103120" cy="1554480"/>
          </a:xfrm>
          <a:prstGeom prst="roundRect">
            <a:avLst>
              <a:gd name="adj" fmla="val 7059"/>
            </a:avLst>
          </a:prstGeom>
          <a:solidFill>
            <a:srgbClr val="FFFFFF"/>
          </a:solidFill>
          <a:ln w="12700">
            <a:solidFill>
              <a:srgbClr val="CDEFDB"/>
            </a:solidFill>
            <a:prstDash val="solid"/>
          </a:ln>
          <a:effectLst>
            <a:outerShdw sx="100000" sy="100000" kx="0" ky="0" algn="bl" rotWithShape="0" blurRad="63500" dist="25400" dir="5400000">
              <a:srgbClr val="000000">
                <a:alpha val="8000"/>
              </a:srgbClr>
            </a:outerShdw>
          </a:effectLst>
        </p:spPr>
      </p:sp>
      <p:sp>
        <p:nvSpPr>
          <p:cNvPr id="18" name="Text 14"/>
          <p:cNvSpPr/>
          <p:nvPr/>
        </p:nvSpPr>
        <p:spPr>
          <a:xfrm>
            <a:off x="7315200" y="3886200"/>
            <a:ext cx="1920240" cy="777240"/>
          </a:xfrm>
          <a:prstGeom prst="rect">
            <a:avLst/>
          </a:prstGeom>
          <a:noFill/>
          <a:ln/>
        </p:spPr>
        <p:txBody>
          <a:bodyPr wrap="square" lIns="0" tIns="0" rIns="0" bIns="0" rtlCol="0" anchor="ctr"/>
          <a:lstStyle/>
          <a:p>
            <a:pPr algn="ctr" indent="0" marL="0">
              <a:buNone/>
            </a:pPr>
            <a:r>
              <a:rPr lang="en-US" sz="3400" b="1" dirty="0">
                <a:solidFill>
                  <a:srgbClr val="D21034"/>
                </a:solidFill>
                <a:latin typeface="Cambria" pitchFamily="34" charset="0"/>
                <a:ea typeface="Cambria" pitchFamily="34" charset="-122"/>
                <a:cs typeface="Cambria" pitchFamily="34" charset="-120"/>
              </a:rPr>
              <a:t>7</a:t>
            </a:r>
            <a:endParaRPr lang="en-US" sz="3400" dirty="0"/>
          </a:p>
        </p:txBody>
      </p:sp>
      <p:sp>
        <p:nvSpPr>
          <p:cNvPr id="19" name="Text 15"/>
          <p:cNvSpPr/>
          <p:nvPr/>
        </p:nvSpPr>
        <p:spPr>
          <a:xfrm>
            <a:off x="7315200" y="4617720"/>
            <a:ext cx="1920240" cy="457200"/>
          </a:xfrm>
          <a:prstGeom prst="rect">
            <a:avLst/>
          </a:prstGeom>
          <a:noFill/>
          <a:ln/>
        </p:spPr>
        <p:txBody>
          <a:bodyPr wrap="square" lIns="0" tIns="0" rIns="0" bIns="0" rtlCol="0" anchor="t"/>
          <a:lstStyle/>
          <a:p>
            <a:pPr algn="ctr" indent="0" marL="0">
              <a:buNone/>
            </a:pPr>
            <a:r>
              <a:rPr lang="en-US" sz="1150" dirty="0">
                <a:solidFill>
                  <a:srgbClr val="5C6B66"/>
                </a:solidFill>
                <a:latin typeface="Calibri" pitchFamily="34" charset="0"/>
                <a:ea typeface="Calibri" pitchFamily="34" charset="-122"/>
                <a:cs typeface="Calibri" pitchFamily="34" charset="-120"/>
              </a:rPr>
              <a:t>matières enseignées</a:t>
            </a:r>
            <a:endParaRPr lang="en-US" sz="1150" dirty="0"/>
          </a:p>
        </p:txBody>
      </p:sp>
      <p:sp>
        <p:nvSpPr>
          <p:cNvPr id="20" name="Shape 16"/>
          <p:cNvSpPr/>
          <p:nvPr/>
        </p:nvSpPr>
        <p:spPr>
          <a:xfrm>
            <a:off x="9509760" y="3657600"/>
            <a:ext cx="2103120" cy="1554480"/>
          </a:xfrm>
          <a:prstGeom prst="roundRect">
            <a:avLst>
              <a:gd name="adj" fmla="val 7059"/>
            </a:avLst>
          </a:prstGeom>
          <a:solidFill>
            <a:srgbClr val="FFFFFF"/>
          </a:solidFill>
          <a:ln w="12700">
            <a:solidFill>
              <a:srgbClr val="CDEFDB"/>
            </a:solidFill>
            <a:prstDash val="solid"/>
          </a:ln>
          <a:effectLst>
            <a:outerShdw sx="100000" sy="100000" kx="0" ky="0" algn="bl" rotWithShape="0" blurRad="63500" dist="25400" dir="5400000">
              <a:srgbClr val="000000">
                <a:alpha val="8000"/>
              </a:srgbClr>
            </a:outerShdw>
          </a:effectLst>
        </p:spPr>
      </p:sp>
      <p:sp>
        <p:nvSpPr>
          <p:cNvPr id="21" name="Text 17"/>
          <p:cNvSpPr/>
          <p:nvPr/>
        </p:nvSpPr>
        <p:spPr>
          <a:xfrm>
            <a:off x="9601200" y="3886200"/>
            <a:ext cx="1920240" cy="777240"/>
          </a:xfrm>
          <a:prstGeom prst="rect">
            <a:avLst/>
          </a:prstGeom>
          <a:noFill/>
          <a:ln/>
        </p:spPr>
        <p:txBody>
          <a:bodyPr wrap="square" lIns="0" tIns="0" rIns="0" bIns="0" rtlCol="0" anchor="ctr"/>
          <a:lstStyle/>
          <a:p>
            <a:pPr algn="ctr" indent="0" marL="0">
              <a:buNone/>
            </a:pPr>
            <a:r>
              <a:rPr lang="en-US" sz="3400" b="1" dirty="0">
                <a:solidFill>
                  <a:srgbClr val="065C3C"/>
                </a:solidFill>
                <a:latin typeface="Cambria" pitchFamily="34" charset="0"/>
                <a:ea typeface="Cambria" pitchFamily="34" charset="-122"/>
                <a:cs typeface="Cambria" pitchFamily="34" charset="-120"/>
              </a:rPr>
              <a:t>APC</a:t>
            </a:r>
            <a:endParaRPr lang="en-US" sz="3400" dirty="0"/>
          </a:p>
        </p:txBody>
      </p:sp>
      <p:sp>
        <p:nvSpPr>
          <p:cNvPr id="22" name="Text 18"/>
          <p:cNvSpPr/>
          <p:nvPr/>
        </p:nvSpPr>
        <p:spPr>
          <a:xfrm>
            <a:off x="9601200" y="4617720"/>
            <a:ext cx="1920240" cy="457200"/>
          </a:xfrm>
          <a:prstGeom prst="rect">
            <a:avLst/>
          </a:prstGeom>
          <a:noFill/>
          <a:ln/>
        </p:spPr>
        <p:txBody>
          <a:bodyPr wrap="square" lIns="0" tIns="0" rIns="0" bIns="0" rtlCol="0" anchor="t"/>
          <a:lstStyle/>
          <a:p>
            <a:pPr algn="ctr" indent="0" marL="0">
              <a:buNone/>
            </a:pPr>
            <a:r>
              <a:rPr lang="en-US" sz="1150" dirty="0">
                <a:solidFill>
                  <a:srgbClr val="5C6B66"/>
                </a:solidFill>
                <a:latin typeface="Calibri" pitchFamily="34" charset="0"/>
                <a:ea typeface="Calibri" pitchFamily="34" charset="-122"/>
                <a:cs typeface="Calibri" pitchFamily="34" charset="-120"/>
              </a:rPr>
              <a:t>programme officiel</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RIGUEUR</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Une exigence pédagogique réelle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03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3566160" cy="3291840"/>
          </a:xfrm>
          <a:prstGeom prst="roundRect">
            <a:avLst>
              <a:gd name="adj" fmla="val 3333"/>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Programme officiel</a:t>
            </a:r>
            <a:endParaRPr lang="en-US" sz="1450" dirty="0"/>
          </a:p>
        </p:txBody>
      </p:sp>
      <p:sp>
        <p:nvSpPr>
          <p:cNvPr id="14" name="Text 10"/>
          <p:cNvSpPr/>
          <p:nvPr/>
        </p:nvSpPr>
        <p:spPr>
          <a:xfrm>
            <a:off x="82296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Chapitres, capacités et contenus fidèles au programme togolais, matière par matière.</a:t>
            </a:r>
            <a:endParaRPr lang="en-US" sz="1200" dirty="0"/>
          </a:p>
        </p:txBody>
      </p:sp>
      <p:sp>
        <p:nvSpPr>
          <p:cNvPr id="15" name="Shape 11"/>
          <p:cNvSpPr/>
          <p:nvPr/>
        </p:nvSpPr>
        <p:spPr>
          <a:xfrm>
            <a:off x="4251960" y="1783080"/>
            <a:ext cx="3566160" cy="3291840"/>
          </a:xfrm>
          <a:prstGeom prst="roundRect">
            <a:avLst>
              <a:gd name="adj" fmla="val 3333"/>
            </a:avLst>
          </a:prstGeom>
          <a:solidFill>
            <a:srgbClr val="EAFAF1"/>
          </a:solidFill>
          <a:ln w="12700">
            <a:solidFill>
              <a:srgbClr val="CDEFDB"/>
            </a:solidFill>
            <a:prstDash val="solid"/>
          </a:ln>
        </p:spPr>
      </p:sp>
      <p:sp>
        <p:nvSpPr>
          <p:cNvPr id="16" name="Shape 12"/>
          <p:cNvSpPr/>
          <p:nvPr/>
        </p:nvSpPr>
        <p:spPr>
          <a:xfrm>
            <a:off x="4507992" y="2039112"/>
            <a:ext cx="603504" cy="603504"/>
          </a:xfrm>
          <a:prstGeom prst="roundRect">
            <a:avLst>
              <a:gd name="adj" fmla="val 30303"/>
            </a:avLst>
          </a:prstGeom>
          <a:solidFill>
            <a:srgbClr val="2E6F40"/>
          </a:solidFill>
          <a:ln/>
        </p:spPr>
      </p:sp>
      <p:sp>
        <p:nvSpPr>
          <p:cNvPr id="17" name="Text 13"/>
          <p:cNvSpPr/>
          <p:nvPr/>
        </p:nvSpPr>
        <p:spPr>
          <a:xfrm>
            <a:off x="450799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525780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Examens officiels</a:t>
            </a:r>
            <a:endParaRPr lang="en-US" sz="1450" dirty="0"/>
          </a:p>
        </p:txBody>
      </p:sp>
      <p:sp>
        <p:nvSpPr>
          <p:cNvPr id="19" name="Text 15"/>
          <p:cNvSpPr/>
          <p:nvPr/>
        </p:nvSpPr>
        <p:spPr>
          <a:xfrm>
            <a:off x="452628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Du CEPD au BAC : situations problèmes notées sur la grille officielle (pertinence, correction, cohérence).</a:t>
            </a:r>
            <a:endParaRPr lang="en-US" sz="1200" dirty="0"/>
          </a:p>
        </p:txBody>
      </p:sp>
      <p:sp>
        <p:nvSpPr>
          <p:cNvPr id="20" name="Shape 16"/>
          <p:cNvSpPr/>
          <p:nvPr/>
        </p:nvSpPr>
        <p:spPr>
          <a:xfrm>
            <a:off x="7955280" y="1783080"/>
            <a:ext cx="3566160" cy="3291840"/>
          </a:xfrm>
          <a:prstGeom prst="roundRect">
            <a:avLst>
              <a:gd name="adj" fmla="val 3333"/>
            </a:avLst>
          </a:prstGeom>
          <a:solidFill>
            <a:srgbClr val="EAFAF1"/>
          </a:solidFill>
          <a:ln w="12700">
            <a:solidFill>
              <a:srgbClr val="CDEFDB"/>
            </a:solidFill>
            <a:prstDash val="solid"/>
          </a:ln>
        </p:spPr>
      </p:sp>
      <p:sp>
        <p:nvSpPr>
          <p:cNvPr id="21" name="Shape 17"/>
          <p:cNvSpPr/>
          <p:nvPr/>
        </p:nvSpPr>
        <p:spPr>
          <a:xfrm>
            <a:off x="8211312" y="2039112"/>
            <a:ext cx="603504" cy="603504"/>
          </a:xfrm>
          <a:prstGeom prst="roundRect">
            <a:avLst>
              <a:gd name="adj" fmla="val 30303"/>
            </a:avLst>
          </a:prstGeom>
          <a:solidFill>
            <a:srgbClr val="D21034"/>
          </a:solidFill>
          <a:ln/>
        </p:spPr>
      </p:sp>
      <p:sp>
        <p:nvSpPr>
          <p:cNvPr id="22" name="Text 18"/>
          <p:cNvSpPr/>
          <p:nvPr/>
        </p:nvSpPr>
        <p:spPr>
          <a:xfrm>
            <a:off x="82113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896112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Seuils et certificats</a:t>
            </a:r>
            <a:endParaRPr lang="en-US" sz="1450" dirty="0"/>
          </a:p>
        </p:txBody>
      </p:sp>
      <p:sp>
        <p:nvSpPr>
          <p:cNvPr id="24" name="Text 20"/>
          <p:cNvSpPr/>
          <p:nvPr/>
        </p:nvSpPr>
        <p:spPr>
          <a:xfrm>
            <a:off x="822960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Évaluations à 70%, examens à 80%, certificats vérifiables en ligne.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NOTRE MÉTHODE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L'approche par compétences, appliquée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04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1554480"/>
          </a:xfrm>
          <a:prstGeom prst="roundRect">
            <a:avLst>
              <a:gd name="adj" fmla="val 7059"/>
            </a:avLst>
          </a:prstGeom>
          <a:solidFill>
            <a:srgbClr val="EAFAF1"/>
          </a:solidFill>
          <a:ln w="12700">
            <a:solidFill>
              <a:srgbClr val="CDEFDB"/>
            </a:solidFill>
            <a:prstDash val="solid"/>
          </a:ln>
        </p:spPr>
      </p:sp>
      <p:sp>
        <p:nvSpPr>
          <p:cNvPr id="11" name="Shape 7"/>
          <p:cNvSpPr/>
          <p:nvPr/>
        </p:nvSpPr>
        <p:spPr>
          <a:xfrm>
            <a:off x="804672" y="2039112"/>
            <a:ext cx="640080" cy="640080"/>
          </a:xfrm>
          <a:prstGeom prst="roundRect">
            <a:avLst>
              <a:gd name="adj" fmla="val 30000"/>
            </a:avLst>
          </a:prstGeom>
          <a:solidFill>
            <a:srgbClr val="0B8457"/>
          </a:solidFill>
          <a:ln/>
        </p:spPr>
      </p:sp>
      <p:sp>
        <p:nvSpPr>
          <p:cNvPr id="12" name="Text 8"/>
          <p:cNvSpPr/>
          <p:nvPr/>
        </p:nvSpPr>
        <p:spPr>
          <a:xfrm>
            <a:off x="804672" y="203911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01</a:t>
            </a:r>
            <a:endParaRPr lang="en-US" sz="2200" dirty="0"/>
          </a:p>
        </p:txBody>
      </p:sp>
      <p:sp>
        <p:nvSpPr>
          <p:cNvPr id="13" name="Text 9"/>
          <p:cNvSpPr/>
          <p:nvPr/>
        </p:nvSpPr>
        <p:spPr>
          <a:xfrm>
            <a:off x="1600200" y="1984248"/>
            <a:ext cx="411480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Un concept à la fois</a:t>
            </a:r>
            <a:endParaRPr lang="en-US" sz="1450" dirty="0"/>
          </a:p>
        </p:txBody>
      </p:sp>
      <p:sp>
        <p:nvSpPr>
          <p:cNvPr id="14" name="Text 10"/>
          <p:cNvSpPr/>
          <p:nvPr/>
        </p:nvSpPr>
        <p:spPr>
          <a:xfrm>
            <a:off x="82296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Chaque leçon isole une capacité précise du référentiel.</a:t>
            </a:r>
            <a:endParaRPr lang="en-US" sz="1200" dirty="0"/>
          </a:p>
        </p:txBody>
      </p:sp>
      <p:sp>
        <p:nvSpPr>
          <p:cNvPr id="15" name="Shape 11"/>
          <p:cNvSpPr/>
          <p:nvPr/>
        </p:nvSpPr>
        <p:spPr>
          <a:xfrm>
            <a:off x="6126480" y="1783080"/>
            <a:ext cx="5394960" cy="1554480"/>
          </a:xfrm>
          <a:prstGeom prst="roundRect">
            <a:avLst>
              <a:gd name="adj" fmla="val 7059"/>
            </a:avLst>
          </a:prstGeom>
          <a:solidFill>
            <a:srgbClr val="EAFAF1"/>
          </a:solidFill>
          <a:ln w="12700">
            <a:solidFill>
              <a:srgbClr val="CDEFDB"/>
            </a:solidFill>
            <a:prstDash val="solid"/>
          </a:ln>
        </p:spPr>
      </p:sp>
      <p:sp>
        <p:nvSpPr>
          <p:cNvPr id="16" name="Shape 12"/>
          <p:cNvSpPr/>
          <p:nvPr/>
        </p:nvSpPr>
        <p:spPr>
          <a:xfrm>
            <a:off x="6382512" y="2039112"/>
            <a:ext cx="640080" cy="640080"/>
          </a:xfrm>
          <a:prstGeom prst="roundRect">
            <a:avLst>
              <a:gd name="adj" fmla="val 30000"/>
            </a:avLst>
          </a:prstGeom>
          <a:solidFill>
            <a:srgbClr val="2E6F40"/>
          </a:solidFill>
          <a:ln/>
        </p:spPr>
      </p:sp>
      <p:sp>
        <p:nvSpPr>
          <p:cNvPr id="17" name="Text 13"/>
          <p:cNvSpPr/>
          <p:nvPr/>
        </p:nvSpPr>
        <p:spPr>
          <a:xfrm>
            <a:off x="6382512" y="203911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02</a:t>
            </a:r>
            <a:endParaRPr lang="en-US" sz="2200" dirty="0"/>
          </a:p>
        </p:txBody>
      </p:sp>
      <p:sp>
        <p:nvSpPr>
          <p:cNvPr id="18" name="Text 14"/>
          <p:cNvSpPr/>
          <p:nvPr/>
        </p:nvSpPr>
        <p:spPr>
          <a:xfrm>
            <a:off x="7178040" y="1984248"/>
            <a:ext cx="411480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Mise en situation</a:t>
            </a:r>
            <a:endParaRPr lang="en-US" sz="1450" dirty="0"/>
          </a:p>
        </p:txBody>
      </p:sp>
      <p:sp>
        <p:nvSpPr>
          <p:cNvPr id="19" name="Text 15"/>
          <p:cNvSpPr/>
          <p:nvPr/>
        </p:nvSpPr>
        <p:spPr>
          <a:xfrm>
            <a:off x="640080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Des situations problèmes ancrent la compétence dans un contexte réel.</a:t>
            </a:r>
            <a:endParaRPr lang="en-US" sz="1200" dirty="0"/>
          </a:p>
        </p:txBody>
      </p:sp>
      <p:sp>
        <p:nvSpPr>
          <p:cNvPr id="20" name="Shape 16"/>
          <p:cNvSpPr/>
          <p:nvPr/>
        </p:nvSpPr>
        <p:spPr>
          <a:xfrm>
            <a:off x="548640" y="3520440"/>
            <a:ext cx="5394960" cy="1554480"/>
          </a:xfrm>
          <a:prstGeom prst="roundRect">
            <a:avLst>
              <a:gd name="adj" fmla="val 7059"/>
            </a:avLst>
          </a:prstGeom>
          <a:solidFill>
            <a:srgbClr val="EAFAF1"/>
          </a:solidFill>
          <a:ln w="12700">
            <a:solidFill>
              <a:srgbClr val="CDEFDB"/>
            </a:solidFill>
            <a:prstDash val="solid"/>
          </a:ln>
        </p:spPr>
      </p:sp>
      <p:sp>
        <p:nvSpPr>
          <p:cNvPr id="21" name="Shape 17"/>
          <p:cNvSpPr/>
          <p:nvPr/>
        </p:nvSpPr>
        <p:spPr>
          <a:xfrm>
            <a:off x="804672" y="3776472"/>
            <a:ext cx="640080" cy="640080"/>
          </a:xfrm>
          <a:prstGeom prst="roundRect">
            <a:avLst>
              <a:gd name="adj" fmla="val 30000"/>
            </a:avLst>
          </a:prstGeom>
          <a:solidFill>
            <a:srgbClr val="D21034"/>
          </a:solidFill>
          <a:ln/>
        </p:spPr>
      </p:sp>
      <p:sp>
        <p:nvSpPr>
          <p:cNvPr id="22" name="Text 18"/>
          <p:cNvSpPr/>
          <p:nvPr/>
        </p:nvSpPr>
        <p:spPr>
          <a:xfrm>
            <a:off x="804672" y="377647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03</a:t>
            </a:r>
            <a:endParaRPr lang="en-US" sz="2200" dirty="0"/>
          </a:p>
        </p:txBody>
      </p:sp>
      <p:sp>
        <p:nvSpPr>
          <p:cNvPr id="23" name="Text 19"/>
          <p:cNvSpPr/>
          <p:nvPr/>
        </p:nvSpPr>
        <p:spPr>
          <a:xfrm>
            <a:off x="1600200" y="3721608"/>
            <a:ext cx="411480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Évaluation sur grille</a:t>
            </a:r>
            <a:endParaRPr lang="en-US" sz="1450" dirty="0"/>
          </a:p>
        </p:txBody>
      </p:sp>
      <p:sp>
        <p:nvSpPr>
          <p:cNvPr id="24" name="Text 20"/>
          <p:cNvSpPr/>
          <p:nvPr/>
        </p:nvSpPr>
        <p:spPr>
          <a:xfrm>
            <a:off x="82296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Notation selon les critères officiels de pertinence et de cohérence.</a:t>
            </a:r>
            <a:endParaRPr lang="en-US" sz="1200" dirty="0"/>
          </a:p>
        </p:txBody>
      </p:sp>
      <p:sp>
        <p:nvSpPr>
          <p:cNvPr id="25" name="Shape 21"/>
          <p:cNvSpPr/>
          <p:nvPr/>
        </p:nvSpPr>
        <p:spPr>
          <a:xfrm>
            <a:off x="6126480" y="3520440"/>
            <a:ext cx="5394960" cy="1554480"/>
          </a:xfrm>
          <a:prstGeom prst="roundRect">
            <a:avLst>
              <a:gd name="adj" fmla="val 7059"/>
            </a:avLst>
          </a:prstGeom>
          <a:solidFill>
            <a:srgbClr val="EAFAF1"/>
          </a:solidFill>
          <a:ln w="12700">
            <a:solidFill>
              <a:srgbClr val="CDEFDB"/>
            </a:solidFill>
            <a:prstDash val="solid"/>
          </a:ln>
        </p:spPr>
      </p:sp>
      <p:sp>
        <p:nvSpPr>
          <p:cNvPr id="26" name="Shape 22"/>
          <p:cNvSpPr/>
          <p:nvPr/>
        </p:nvSpPr>
        <p:spPr>
          <a:xfrm>
            <a:off x="6382512" y="3776472"/>
            <a:ext cx="640080" cy="640080"/>
          </a:xfrm>
          <a:prstGeom prst="roundRect">
            <a:avLst>
              <a:gd name="adj" fmla="val 30000"/>
            </a:avLst>
          </a:prstGeom>
          <a:solidFill>
            <a:srgbClr val="065C3C"/>
          </a:solidFill>
          <a:ln/>
        </p:spPr>
      </p:sp>
      <p:sp>
        <p:nvSpPr>
          <p:cNvPr id="27" name="Text 23"/>
          <p:cNvSpPr/>
          <p:nvPr/>
        </p:nvSpPr>
        <p:spPr>
          <a:xfrm>
            <a:off x="6382512" y="377647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04</a:t>
            </a:r>
            <a:endParaRPr lang="en-US" sz="2200" dirty="0"/>
          </a:p>
        </p:txBody>
      </p:sp>
      <p:sp>
        <p:nvSpPr>
          <p:cNvPr id="28" name="Text 24"/>
          <p:cNvSpPr/>
          <p:nvPr/>
        </p:nvSpPr>
        <p:spPr>
          <a:xfrm>
            <a:off x="7178040" y="3721608"/>
            <a:ext cx="411480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Progression mesurée</a:t>
            </a:r>
            <a:endParaRPr lang="en-US" sz="1450" dirty="0"/>
          </a:p>
        </p:txBody>
      </p:sp>
      <p:sp>
        <p:nvSpPr>
          <p:cNvPr id="29" name="Text 25"/>
          <p:cNvSpPr/>
          <p:nvPr/>
        </p:nvSpPr>
        <p:spPr>
          <a:xfrm>
            <a:off x="640080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Chaque acquis validé rapproche l'élève du certificat.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LA TECHNOLOGIE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Une plateforme complète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05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1554480"/>
          </a:xfrm>
          <a:prstGeom prst="roundRect">
            <a:avLst>
              <a:gd name="adj" fmla="val 7059"/>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Leçons vidéo APC</a:t>
            </a:r>
            <a:endParaRPr lang="en-US" sz="1450" dirty="0"/>
          </a:p>
        </p:txBody>
      </p:sp>
      <p:sp>
        <p:nvSpPr>
          <p:cNvPr id="14" name="Text 10"/>
          <p:cNvSpPr/>
          <p:nvPr/>
        </p:nvSpPr>
        <p:spPr>
          <a:xfrm>
            <a:off x="82296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Un concept à la fois, clair et visuel.</a:t>
            </a:r>
            <a:endParaRPr lang="en-US" sz="1200" dirty="0"/>
          </a:p>
        </p:txBody>
      </p:sp>
      <p:sp>
        <p:nvSpPr>
          <p:cNvPr id="15" name="Shape 11"/>
          <p:cNvSpPr/>
          <p:nvPr/>
        </p:nvSpPr>
        <p:spPr>
          <a:xfrm>
            <a:off x="6126480" y="1783080"/>
            <a:ext cx="5394960" cy="1554480"/>
          </a:xfrm>
          <a:prstGeom prst="roundRect">
            <a:avLst>
              <a:gd name="adj" fmla="val 7059"/>
            </a:avLst>
          </a:prstGeom>
          <a:solidFill>
            <a:srgbClr val="EAFAF1"/>
          </a:solidFill>
          <a:ln w="12700">
            <a:solidFill>
              <a:srgbClr val="CDEFDB"/>
            </a:solidFill>
            <a:prstDash val="solid"/>
          </a:ln>
        </p:spPr>
      </p:sp>
      <p:sp>
        <p:nvSpPr>
          <p:cNvPr id="16" name="Shape 12"/>
          <p:cNvSpPr/>
          <p:nvPr/>
        </p:nvSpPr>
        <p:spPr>
          <a:xfrm>
            <a:off x="6382512" y="2039112"/>
            <a:ext cx="603504" cy="603504"/>
          </a:xfrm>
          <a:prstGeom prst="roundRect">
            <a:avLst>
              <a:gd name="adj" fmla="val 30303"/>
            </a:avLst>
          </a:prstGeom>
          <a:solidFill>
            <a:srgbClr val="2E6F40"/>
          </a:solidFill>
          <a:ln/>
        </p:spPr>
      </p:sp>
      <p:sp>
        <p:nvSpPr>
          <p:cNvPr id="17" name="Text 13"/>
          <p:cNvSpPr/>
          <p:nvPr/>
        </p:nvSpPr>
        <p:spPr>
          <a:xfrm>
            <a:off x="63825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713232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Tuteur IA</a:t>
            </a:r>
            <a:endParaRPr lang="en-US" sz="1450" dirty="0"/>
          </a:p>
        </p:txBody>
      </p:sp>
      <p:sp>
        <p:nvSpPr>
          <p:cNvPr id="19" name="Text 15"/>
          <p:cNvSpPr/>
          <p:nvPr/>
        </p:nvSpPr>
        <p:spPr>
          <a:xfrm>
            <a:off x="640080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Socratique, présent dans chaque leçon.</a:t>
            </a:r>
            <a:endParaRPr lang="en-US" sz="1200" dirty="0"/>
          </a:p>
        </p:txBody>
      </p:sp>
      <p:sp>
        <p:nvSpPr>
          <p:cNvPr id="20" name="Shape 16"/>
          <p:cNvSpPr/>
          <p:nvPr/>
        </p:nvSpPr>
        <p:spPr>
          <a:xfrm>
            <a:off x="548640" y="3520440"/>
            <a:ext cx="5394960" cy="1554480"/>
          </a:xfrm>
          <a:prstGeom prst="roundRect">
            <a:avLst>
              <a:gd name="adj" fmla="val 7059"/>
            </a:avLst>
          </a:prstGeom>
          <a:solidFill>
            <a:srgbClr val="EAFAF1"/>
          </a:solidFill>
          <a:ln w="12700">
            <a:solidFill>
              <a:srgbClr val="CDEFDB"/>
            </a:solidFill>
            <a:prstDash val="solid"/>
          </a:ln>
        </p:spPr>
      </p:sp>
      <p:sp>
        <p:nvSpPr>
          <p:cNvPr id="21" name="Shape 17"/>
          <p:cNvSpPr/>
          <p:nvPr/>
        </p:nvSpPr>
        <p:spPr>
          <a:xfrm>
            <a:off x="804672" y="3776472"/>
            <a:ext cx="603504" cy="603504"/>
          </a:xfrm>
          <a:prstGeom prst="roundRect">
            <a:avLst>
              <a:gd name="adj" fmla="val 30303"/>
            </a:avLst>
          </a:prstGeom>
          <a:solidFill>
            <a:srgbClr val="D21034"/>
          </a:solidFill>
          <a:ln/>
        </p:spPr>
      </p:sp>
      <p:sp>
        <p:nvSpPr>
          <p:cNvPr id="22" name="Text 18"/>
          <p:cNvSpPr/>
          <p:nvPr/>
        </p:nvSpPr>
        <p:spPr>
          <a:xfrm>
            <a:off x="80467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155448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Suivi de progression</a:t>
            </a:r>
            <a:endParaRPr lang="en-US" sz="1450" dirty="0"/>
          </a:p>
        </p:txBody>
      </p:sp>
      <p:sp>
        <p:nvSpPr>
          <p:cNvPr id="24" name="Text 20"/>
          <p:cNvSpPr/>
          <p:nvPr/>
        </p:nvSpPr>
        <p:spPr>
          <a:xfrm>
            <a:off x="82296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Visible par les parents et les élèves, jusqu'aux certificats.</a:t>
            </a:r>
            <a:endParaRPr lang="en-US" sz="1200" dirty="0"/>
          </a:p>
        </p:txBody>
      </p:sp>
      <p:sp>
        <p:nvSpPr>
          <p:cNvPr id="25" name="Shape 21"/>
          <p:cNvSpPr/>
          <p:nvPr/>
        </p:nvSpPr>
        <p:spPr>
          <a:xfrm>
            <a:off x="6126480" y="3520440"/>
            <a:ext cx="5394960" cy="1554480"/>
          </a:xfrm>
          <a:prstGeom prst="roundRect">
            <a:avLst>
              <a:gd name="adj" fmla="val 7059"/>
            </a:avLst>
          </a:prstGeom>
          <a:solidFill>
            <a:srgbClr val="EAFAF1"/>
          </a:solidFill>
          <a:ln w="12700">
            <a:solidFill>
              <a:srgbClr val="CDEFDB"/>
            </a:solidFill>
            <a:prstDash val="solid"/>
          </a:ln>
        </p:spPr>
      </p:sp>
      <p:sp>
        <p:nvSpPr>
          <p:cNvPr id="26" name="Shape 22"/>
          <p:cNvSpPr/>
          <p:nvPr/>
        </p:nvSpPr>
        <p:spPr>
          <a:xfrm>
            <a:off x="6382512" y="3776472"/>
            <a:ext cx="603504" cy="603504"/>
          </a:xfrm>
          <a:prstGeom prst="roundRect">
            <a:avLst>
              <a:gd name="adj" fmla="val 30303"/>
            </a:avLst>
          </a:prstGeom>
          <a:solidFill>
            <a:srgbClr val="065C3C"/>
          </a:solidFill>
          <a:ln/>
        </p:spPr>
      </p:sp>
      <p:sp>
        <p:nvSpPr>
          <p:cNvPr id="27" name="Text 23"/>
          <p:cNvSpPr/>
          <p:nvPr/>
        </p:nvSpPr>
        <p:spPr>
          <a:xfrm>
            <a:off x="638251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713232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Mobile et faible débit</a:t>
            </a:r>
            <a:endParaRPr lang="en-US" sz="1450" dirty="0"/>
          </a:p>
        </p:txBody>
      </p:sp>
      <p:sp>
        <p:nvSpPr>
          <p:cNvPr id="29" name="Text 25"/>
          <p:cNvSpPr/>
          <p:nvPr/>
        </p:nvSpPr>
        <p:spPr>
          <a:xfrm>
            <a:off x="640080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Adapté aux conditions réelles du terrain togolais.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NOTRE IMPACT</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Un impact durable et mesurable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06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3566160" cy="3291840"/>
          </a:xfrm>
          <a:prstGeom prst="roundRect">
            <a:avLst>
              <a:gd name="adj" fmla="val 3333"/>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Équité d'accès</a:t>
            </a:r>
            <a:endParaRPr lang="en-US" sz="1450" dirty="0"/>
          </a:p>
        </p:txBody>
      </p:sp>
      <p:sp>
        <p:nvSpPr>
          <p:cNvPr id="14" name="Text 10"/>
          <p:cNvSpPr/>
          <p:nvPr/>
        </p:nvSpPr>
        <p:spPr>
          <a:xfrm>
            <a:off x="82296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Les mêmes leçons et le même accompagnement pour chaque élève, quelle que soit sa ville.</a:t>
            </a:r>
            <a:endParaRPr lang="en-US" sz="1200" dirty="0"/>
          </a:p>
        </p:txBody>
      </p:sp>
      <p:sp>
        <p:nvSpPr>
          <p:cNvPr id="15" name="Shape 11"/>
          <p:cNvSpPr/>
          <p:nvPr/>
        </p:nvSpPr>
        <p:spPr>
          <a:xfrm>
            <a:off x="4251960" y="1783080"/>
            <a:ext cx="3566160" cy="3291840"/>
          </a:xfrm>
          <a:prstGeom prst="roundRect">
            <a:avLst>
              <a:gd name="adj" fmla="val 3333"/>
            </a:avLst>
          </a:prstGeom>
          <a:solidFill>
            <a:srgbClr val="EAFAF1"/>
          </a:solidFill>
          <a:ln w="12700">
            <a:solidFill>
              <a:srgbClr val="CDEFDB"/>
            </a:solidFill>
            <a:prstDash val="solid"/>
          </a:ln>
        </p:spPr>
      </p:sp>
      <p:sp>
        <p:nvSpPr>
          <p:cNvPr id="16" name="Shape 12"/>
          <p:cNvSpPr/>
          <p:nvPr/>
        </p:nvSpPr>
        <p:spPr>
          <a:xfrm>
            <a:off x="4507992" y="2039112"/>
            <a:ext cx="603504" cy="603504"/>
          </a:xfrm>
          <a:prstGeom prst="roundRect">
            <a:avLst>
              <a:gd name="adj" fmla="val 30303"/>
            </a:avLst>
          </a:prstGeom>
          <a:solidFill>
            <a:srgbClr val="2E6F40"/>
          </a:solidFill>
          <a:ln/>
        </p:spPr>
      </p:sp>
      <p:sp>
        <p:nvSpPr>
          <p:cNvPr id="17" name="Text 13"/>
          <p:cNvSpPr/>
          <p:nvPr/>
        </p:nvSpPr>
        <p:spPr>
          <a:xfrm>
            <a:off x="450799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525780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Modèle durable</a:t>
            </a:r>
            <a:endParaRPr lang="en-US" sz="1450" dirty="0"/>
          </a:p>
        </p:txBody>
      </p:sp>
      <p:sp>
        <p:nvSpPr>
          <p:cNvPr id="19" name="Text 15"/>
          <p:cNvSpPr/>
          <p:nvPr/>
        </p:nvSpPr>
        <p:spPr>
          <a:xfrm>
            <a:off x="452628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Les abonnements financent la production de contenu et son accessibilité au plus grand nombre.</a:t>
            </a:r>
            <a:endParaRPr lang="en-US" sz="1200" dirty="0"/>
          </a:p>
        </p:txBody>
      </p:sp>
      <p:sp>
        <p:nvSpPr>
          <p:cNvPr id="20" name="Shape 16"/>
          <p:cNvSpPr/>
          <p:nvPr/>
        </p:nvSpPr>
        <p:spPr>
          <a:xfrm>
            <a:off x="7955280" y="1783080"/>
            <a:ext cx="3566160" cy="3291840"/>
          </a:xfrm>
          <a:prstGeom prst="roundRect">
            <a:avLst>
              <a:gd name="adj" fmla="val 3333"/>
            </a:avLst>
          </a:prstGeom>
          <a:solidFill>
            <a:srgbClr val="EAFAF1"/>
          </a:solidFill>
          <a:ln w="12700">
            <a:solidFill>
              <a:srgbClr val="CDEFDB"/>
            </a:solidFill>
            <a:prstDash val="solid"/>
          </a:ln>
        </p:spPr>
      </p:sp>
      <p:sp>
        <p:nvSpPr>
          <p:cNvPr id="21" name="Shape 17"/>
          <p:cNvSpPr/>
          <p:nvPr/>
        </p:nvSpPr>
        <p:spPr>
          <a:xfrm>
            <a:off x="8211312" y="2039112"/>
            <a:ext cx="603504" cy="603504"/>
          </a:xfrm>
          <a:prstGeom prst="roundRect">
            <a:avLst>
              <a:gd name="adj" fmla="val 30303"/>
            </a:avLst>
          </a:prstGeom>
          <a:solidFill>
            <a:srgbClr val="D21034"/>
          </a:solidFill>
          <a:ln/>
        </p:spPr>
      </p:sp>
      <p:sp>
        <p:nvSpPr>
          <p:cNvPr id="22" name="Text 18"/>
          <p:cNvSpPr/>
          <p:nvPr/>
        </p:nvSpPr>
        <p:spPr>
          <a:xfrm>
            <a:off x="82113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8961120" y="1984248"/>
            <a:ext cx="23317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Qualité à grande échelle</a:t>
            </a:r>
            <a:endParaRPr lang="en-US" sz="1450" dirty="0"/>
          </a:p>
        </p:txBody>
      </p:sp>
      <p:sp>
        <p:nvSpPr>
          <p:cNvPr id="24" name="Text 20"/>
          <p:cNvSpPr/>
          <p:nvPr/>
        </p:nvSpPr>
        <p:spPr>
          <a:xfrm>
            <a:off x="8229600" y="2697480"/>
            <a:ext cx="3017520" cy="224028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La technologie porte une exigence pédagogique constante à des milliers d'élèves.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ADOSSÉ À UN GROUPE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La force du Groupe BM</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07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Text 6"/>
          <p:cNvSpPr/>
          <p:nvPr/>
        </p:nvSpPr>
        <p:spPr>
          <a:xfrm>
            <a:off x="548640" y="1828800"/>
            <a:ext cx="10972800" cy="1188720"/>
          </a:xfrm>
          <a:prstGeom prst="rect">
            <a:avLst/>
          </a:prstGeom>
          <a:noFill/>
          <a:ln/>
        </p:spPr>
        <p:txBody>
          <a:bodyPr wrap="square" lIns="0" tIns="0" rIns="0" bIns="0" rtlCol="0" anchor="ctr"/>
          <a:lstStyle/>
          <a:p>
            <a:pPr algn="l" indent="0" marL="0">
              <a:lnSpc>
                <a:spcPct val="115000"/>
              </a:lnSpc>
              <a:spcAft>
                <a:spcPts val="800"/>
              </a:spcAft>
              <a:buNone/>
            </a:pPr>
            <a:r>
              <a:rPr lang="en-US" sz="1550" b="1" dirty="0">
                <a:solidFill>
                  <a:srgbClr val="1A2B26"/>
                </a:solidFill>
                <a:latin typeface="Calibri" pitchFamily="34" charset="0"/>
                <a:ea typeface="Calibri" pitchFamily="34" charset="-122"/>
                <a:cs typeface="Calibri" pitchFamily="34" charset="-120"/>
              </a:rPr>
              <a:t>Bâtir et moderniser.</a:t>
            </a:r>
            <a:endParaRPr lang="en-US" sz="1550" dirty="0"/>
          </a:p>
          <a:p>
            <a:pPr algn="l" indent="0" marL="0">
              <a:lnSpc>
                <a:spcPct val="115000"/>
              </a:lnSpc>
              <a:buNone/>
            </a:pPr>
            <a:r>
              <a:rPr lang="en-US" sz="1550" dirty="0">
                <a:solidFill>
                  <a:srgbClr val="1A2B26"/>
                </a:solidFill>
                <a:latin typeface="Calibri" pitchFamily="34" charset="0"/>
                <a:ea typeface="Calibri" pitchFamily="34" charset="-122"/>
                <a:cs typeface="Calibri" pitchFamily="34" charset="-120"/>
              </a:rPr>
              <a:t>Togo Academy est un département de Groupe BM et s'appuie sur les ressources, la crédibilité et le réseau d'un groupe qui connecte les talents à l'excellence mondiale.</a:t>
            </a:r>
            <a:endParaRPr lang="en-US" sz="1550" dirty="0"/>
          </a:p>
        </p:txBody>
      </p:sp>
      <p:sp>
        <p:nvSpPr>
          <p:cNvPr id="11" name="Shape 7"/>
          <p:cNvSpPr/>
          <p:nvPr/>
        </p:nvSpPr>
        <p:spPr>
          <a:xfrm>
            <a:off x="548640" y="3291840"/>
            <a:ext cx="2651760" cy="1920240"/>
          </a:xfrm>
          <a:prstGeom prst="roundRect">
            <a:avLst>
              <a:gd name="adj" fmla="val 5714"/>
            </a:avLst>
          </a:prstGeom>
          <a:solidFill>
            <a:srgbClr val="EAFAF1"/>
          </a:solidFill>
          <a:ln w="12700">
            <a:solidFill>
              <a:srgbClr val="CDEFDB"/>
            </a:solidFill>
            <a:prstDash val="solid"/>
          </a:ln>
        </p:spPr>
      </p:sp>
      <p:sp>
        <p:nvSpPr>
          <p:cNvPr id="12" name="Shape 8"/>
          <p:cNvSpPr/>
          <p:nvPr/>
        </p:nvSpPr>
        <p:spPr>
          <a:xfrm>
            <a:off x="1417320" y="3566160"/>
            <a:ext cx="914400" cy="914400"/>
          </a:xfrm>
          <a:prstGeom prst="roundRect">
            <a:avLst>
              <a:gd name="adj" fmla="val 28000"/>
            </a:avLst>
          </a:prstGeom>
          <a:solidFill>
            <a:srgbClr val="0B8457"/>
          </a:solidFill>
          <a:ln/>
        </p:spPr>
      </p:sp>
      <p:sp>
        <p:nvSpPr>
          <p:cNvPr id="13" name="Text 9"/>
          <p:cNvSpPr/>
          <p:nvPr/>
        </p:nvSpPr>
        <p:spPr>
          <a:xfrm>
            <a:off x="1417320" y="356616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4" name="Text 10"/>
          <p:cNvSpPr/>
          <p:nvPr/>
        </p:nvSpPr>
        <p:spPr>
          <a:xfrm>
            <a:off x="548640" y="4572000"/>
            <a:ext cx="2651760" cy="457200"/>
          </a:xfrm>
          <a:prstGeom prst="rect">
            <a:avLst/>
          </a:prstGeom>
          <a:noFill/>
          <a:ln/>
        </p:spPr>
        <p:txBody>
          <a:bodyPr wrap="square" lIns="0" tIns="0" rIns="0" bIns="0" rtlCol="0" anchor="ctr"/>
          <a:lstStyle/>
          <a:p>
            <a:pPr algn="ctr" indent="0" marL="0">
              <a:buNone/>
            </a:pPr>
            <a:r>
              <a:rPr lang="en-US" sz="1500" b="1" dirty="0">
                <a:solidFill>
                  <a:srgbClr val="1A2B26"/>
                </a:solidFill>
                <a:latin typeface="Cambria" pitchFamily="34" charset="0"/>
                <a:ea typeface="Cambria" pitchFamily="34" charset="-122"/>
                <a:cs typeface="Cambria" pitchFamily="34" charset="-120"/>
              </a:rPr>
              <a:t>Éducation</a:t>
            </a:r>
            <a:endParaRPr lang="en-US" sz="1500" dirty="0"/>
          </a:p>
        </p:txBody>
      </p:sp>
      <p:sp>
        <p:nvSpPr>
          <p:cNvPr id="15" name="Shape 11"/>
          <p:cNvSpPr/>
          <p:nvPr/>
        </p:nvSpPr>
        <p:spPr>
          <a:xfrm>
            <a:off x="3364992" y="3291840"/>
            <a:ext cx="2651760" cy="1920240"/>
          </a:xfrm>
          <a:prstGeom prst="roundRect">
            <a:avLst>
              <a:gd name="adj" fmla="val 5714"/>
            </a:avLst>
          </a:prstGeom>
          <a:solidFill>
            <a:srgbClr val="EAFAF1"/>
          </a:solidFill>
          <a:ln w="12700">
            <a:solidFill>
              <a:srgbClr val="CDEFDB"/>
            </a:solidFill>
            <a:prstDash val="solid"/>
          </a:ln>
        </p:spPr>
      </p:sp>
      <p:sp>
        <p:nvSpPr>
          <p:cNvPr id="16" name="Shape 12"/>
          <p:cNvSpPr/>
          <p:nvPr/>
        </p:nvSpPr>
        <p:spPr>
          <a:xfrm>
            <a:off x="4233672" y="3566160"/>
            <a:ext cx="914400" cy="914400"/>
          </a:xfrm>
          <a:prstGeom prst="roundRect">
            <a:avLst>
              <a:gd name="adj" fmla="val 28000"/>
            </a:avLst>
          </a:prstGeom>
          <a:solidFill>
            <a:srgbClr val="2E6F40"/>
          </a:solidFill>
          <a:ln/>
        </p:spPr>
      </p:sp>
      <p:sp>
        <p:nvSpPr>
          <p:cNvPr id="17" name="Text 13"/>
          <p:cNvSpPr/>
          <p:nvPr/>
        </p:nvSpPr>
        <p:spPr>
          <a:xfrm>
            <a:off x="4233672" y="356616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4"/>
          <p:cNvSpPr/>
          <p:nvPr/>
        </p:nvSpPr>
        <p:spPr>
          <a:xfrm>
            <a:off x="3364992" y="4572000"/>
            <a:ext cx="2651760" cy="457200"/>
          </a:xfrm>
          <a:prstGeom prst="rect">
            <a:avLst/>
          </a:prstGeom>
          <a:noFill/>
          <a:ln/>
        </p:spPr>
        <p:txBody>
          <a:bodyPr wrap="square" lIns="0" tIns="0" rIns="0" bIns="0" rtlCol="0" anchor="ctr"/>
          <a:lstStyle/>
          <a:p>
            <a:pPr algn="ctr" indent="0" marL="0">
              <a:buNone/>
            </a:pPr>
            <a:r>
              <a:rPr lang="en-US" sz="1500" b="1" dirty="0">
                <a:solidFill>
                  <a:srgbClr val="1A2B26"/>
                </a:solidFill>
                <a:latin typeface="Cambria" pitchFamily="34" charset="0"/>
                <a:ea typeface="Cambria" pitchFamily="34" charset="-122"/>
                <a:cs typeface="Cambria" pitchFamily="34" charset="-120"/>
              </a:rPr>
              <a:t>Immigration</a:t>
            </a:r>
            <a:endParaRPr lang="en-US" sz="1500" dirty="0"/>
          </a:p>
        </p:txBody>
      </p:sp>
      <p:sp>
        <p:nvSpPr>
          <p:cNvPr id="19" name="Shape 15"/>
          <p:cNvSpPr/>
          <p:nvPr/>
        </p:nvSpPr>
        <p:spPr>
          <a:xfrm>
            <a:off x="6181344" y="3291840"/>
            <a:ext cx="2651760" cy="1920240"/>
          </a:xfrm>
          <a:prstGeom prst="roundRect">
            <a:avLst>
              <a:gd name="adj" fmla="val 5714"/>
            </a:avLst>
          </a:prstGeom>
          <a:solidFill>
            <a:srgbClr val="EAFAF1"/>
          </a:solidFill>
          <a:ln w="12700">
            <a:solidFill>
              <a:srgbClr val="CDEFDB"/>
            </a:solidFill>
            <a:prstDash val="solid"/>
          </a:ln>
        </p:spPr>
      </p:sp>
      <p:sp>
        <p:nvSpPr>
          <p:cNvPr id="20" name="Shape 16"/>
          <p:cNvSpPr/>
          <p:nvPr/>
        </p:nvSpPr>
        <p:spPr>
          <a:xfrm>
            <a:off x="7050024" y="3566160"/>
            <a:ext cx="914400" cy="914400"/>
          </a:xfrm>
          <a:prstGeom prst="roundRect">
            <a:avLst>
              <a:gd name="adj" fmla="val 28000"/>
            </a:avLst>
          </a:prstGeom>
          <a:solidFill>
            <a:srgbClr val="D21034"/>
          </a:solidFill>
          <a:ln/>
        </p:spPr>
      </p:sp>
      <p:sp>
        <p:nvSpPr>
          <p:cNvPr id="21" name="Text 17"/>
          <p:cNvSpPr/>
          <p:nvPr/>
        </p:nvSpPr>
        <p:spPr>
          <a:xfrm>
            <a:off x="7050024" y="356616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2" name="Text 18"/>
          <p:cNvSpPr/>
          <p:nvPr/>
        </p:nvSpPr>
        <p:spPr>
          <a:xfrm>
            <a:off x="6181344" y="4572000"/>
            <a:ext cx="2651760" cy="457200"/>
          </a:xfrm>
          <a:prstGeom prst="rect">
            <a:avLst/>
          </a:prstGeom>
          <a:noFill/>
          <a:ln/>
        </p:spPr>
        <p:txBody>
          <a:bodyPr wrap="square" lIns="0" tIns="0" rIns="0" bIns="0" rtlCol="0" anchor="ctr"/>
          <a:lstStyle/>
          <a:p>
            <a:pPr algn="ctr" indent="0" marL="0">
              <a:buNone/>
            </a:pPr>
            <a:r>
              <a:rPr lang="en-US" sz="1500" b="1" dirty="0">
                <a:solidFill>
                  <a:srgbClr val="1A2B26"/>
                </a:solidFill>
                <a:latin typeface="Cambria" pitchFamily="34" charset="0"/>
                <a:ea typeface="Cambria" pitchFamily="34" charset="-122"/>
                <a:cs typeface="Cambria" pitchFamily="34" charset="-120"/>
              </a:rPr>
              <a:t>Services professionnels</a:t>
            </a:r>
            <a:endParaRPr lang="en-US" sz="1500" dirty="0"/>
          </a:p>
        </p:txBody>
      </p:sp>
      <p:sp>
        <p:nvSpPr>
          <p:cNvPr id="23" name="Shape 19"/>
          <p:cNvSpPr/>
          <p:nvPr/>
        </p:nvSpPr>
        <p:spPr>
          <a:xfrm>
            <a:off x="8997696" y="3291840"/>
            <a:ext cx="2651760" cy="1920240"/>
          </a:xfrm>
          <a:prstGeom prst="roundRect">
            <a:avLst>
              <a:gd name="adj" fmla="val 5714"/>
            </a:avLst>
          </a:prstGeom>
          <a:solidFill>
            <a:srgbClr val="EAFAF1"/>
          </a:solidFill>
          <a:ln w="12700">
            <a:solidFill>
              <a:srgbClr val="CDEFDB"/>
            </a:solidFill>
            <a:prstDash val="solid"/>
          </a:ln>
        </p:spPr>
      </p:sp>
      <p:sp>
        <p:nvSpPr>
          <p:cNvPr id="24" name="Shape 20"/>
          <p:cNvSpPr/>
          <p:nvPr/>
        </p:nvSpPr>
        <p:spPr>
          <a:xfrm>
            <a:off x="9866376" y="3566160"/>
            <a:ext cx="914400" cy="914400"/>
          </a:xfrm>
          <a:prstGeom prst="roundRect">
            <a:avLst>
              <a:gd name="adj" fmla="val 28000"/>
            </a:avLst>
          </a:prstGeom>
          <a:solidFill>
            <a:srgbClr val="065C3C"/>
          </a:solidFill>
          <a:ln/>
        </p:spPr>
      </p:sp>
      <p:sp>
        <p:nvSpPr>
          <p:cNvPr id="25" name="Text 21"/>
          <p:cNvSpPr/>
          <p:nvPr/>
        </p:nvSpPr>
        <p:spPr>
          <a:xfrm>
            <a:off x="9866376" y="356616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6" name="Text 22"/>
          <p:cNvSpPr/>
          <p:nvPr/>
        </p:nvSpPr>
        <p:spPr>
          <a:xfrm>
            <a:off x="8997696" y="4572000"/>
            <a:ext cx="2651760" cy="457200"/>
          </a:xfrm>
          <a:prstGeom prst="rect">
            <a:avLst/>
          </a:prstGeom>
          <a:noFill/>
          <a:ln/>
        </p:spPr>
        <p:txBody>
          <a:bodyPr wrap="square" lIns="0" tIns="0" rIns="0" bIns="0" rtlCol="0" anchor="ctr"/>
          <a:lstStyle/>
          <a:p>
            <a:pPr algn="ctr" indent="0" marL="0">
              <a:buNone/>
            </a:pPr>
            <a:r>
              <a:rPr lang="en-US" sz="1500" b="1" dirty="0">
                <a:solidFill>
                  <a:srgbClr val="1A2B26"/>
                </a:solidFill>
                <a:latin typeface="Cambria" pitchFamily="34" charset="0"/>
                <a:ea typeface="Cambria" pitchFamily="34" charset="-122"/>
                <a:cs typeface="Cambria" pitchFamily="34" charset="-120"/>
              </a:rPr>
              <a:t>Ingénierie et recherche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OPPORTUNITÉS</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Collaborons</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08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1554480"/>
          </a:xfrm>
          <a:prstGeom prst="roundRect">
            <a:avLst>
              <a:gd name="adj" fmla="val 7059"/>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Comité scientifique</a:t>
            </a:r>
            <a:endParaRPr lang="en-US" sz="1450" dirty="0"/>
          </a:p>
        </p:txBody>
      </p:sp>
      <p:sp>
        <p:nvSpPr>
          <p:cNvPr id="14" name="Text 10"/>
          <p:cNvSpPr/>
          <p:nvPr/>
        </p:nvSpPr>
        <p:spPr>
          <a:xfrm>
            <a:off x="82296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Cautionner la qualité et apporter votre regard d'expert de référence.</a:t>
            </a:r>
            <a:endParaRPr lang="en-US" sz="1200" dirty="0"/>
          </a:p>
        </p:txBody>
      </p:sp>
      <p:sp>
        <p:nvSpPr>
          <p:cNvPr id="15" name="Shape 11"/>
          <p:cNvSpPr/>
          <p:nvPr/>
        </p:nvSpPr>
        <p:spPr>
          <a:xfrm>
            <a:off x="6126480" y="1783080"/>
            <a:ext cx="5394960" cy="1554480"/>
          </a:xfrm>
          <a:prstGeom prst="roundRect">
            <a:avLst>
              <a:gd name="adj" fmla="val 7059"/>
            </a:avLst>
          </a:prstGeom>
          <a:solidFill>
            <a:srgbClr val="EAFAF1"/>
          </a:solidFill>
          <a:ln w="12700">
            <a:solidFill>
              <a:srgbClr val="CDEFDB"/>
            </a:solidFill>
            <a:prstDash val="solid"/>
          </a:ln>
        </p:spPr>
      </p:sp>
      <p:sp>
        <p:nvSpPr>
          <p:cNvPr id="16" name="Shape 12"/>
          <p:cNvSpPr/>
          <p:nvPr/>
        </p:nvSpPr>
        <p:spPr>
          <a:xfrm>
            <a:off x="6382512" y="2039112"/>
            <a:ext cx="603504" cy="603504"/>
          </a:xfrm>
          <a:prstGeom prst="roundRect">
            <a:avLst>
              <a:gd name="adj" fmla="val 30303"/>
            </a:avLst>
          </a:prstGeom>
          <a:solidFill>
            <a:srgbClr val="2E6F40"/>
          </a:solidFill>
          <a:ln/>
        </p:spPr>
      </p:sp>
      <p:sp>
        <p:nvSpPr>
          <p:cNvPr id="17" name="Text 13"/>
          <p:cNvSpPr/>
          <p:nvPr/>
        </p:nvSpPr>
        <p:spPr>
          <a:xfrm>
            <a:off x="63825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713232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Partenariats institutionnels</a:t>
            </a:r>
            <a:endParaRPr lang="en-US" sz="1450" dirty="0"/>
          </a:p>
        </p:txBody>
      </p:sp>
      <p:sp>
        <p:nvSpPr>
          <p:cNvPr id="19" name="Text 15"/>
          <p:cNvSpPr/>
          <p:nvPr/>
        </p:nvSpPr>
        <p:spPr>
          <a:xfrm>
            <a:off x="640080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Écoles, ONG et programmes éducatifs : déploiement à grande échelle.</a:t>
            </a:r>
            <a:endParaRPr lang="en-US" sz="1200" dirty="0"/>
          </a:p>
        </p:txBody>
      </p:sp>
      <p:sp>
        <p:nvSpPr>
          <p:cNvPr id="20" name="Shape 16"/>
          <p:cNvSpPr/>
          <p:nvPr/>
        </p:nvSpPr>
        <p:spPr>
          <a:xfrm>
            <a:off x="548640" y="3520440"/>
            <a:ext cx="5394960" cy="1554480"/>
          </a:xfrm>
          <a:prstGeom prst="roundRect">
            <a:avLst>
              <a:gd name="adj" fmla="val 7059"/>
            </a:avLst>
          </a:prstGeom>
          <a:solidFill>
            <a:srgbClr val="EAFAF1"/>
          </a:solidFill>
          <a:ln w="12700">
            <a:solidFill>
              <a:srgbClr val="CDEFDB"/>
            </a:solidFill>
            <a:prstDash val="solid"/>
          </a:ln>
        </p:spPr>
      </p:sp>
      <p:sp>
        <p:nvSpPr>
          <p:cNvPr id="21" name="Shape 17"/>
          <p:cNvSpPr/>
          <p:nvPr/>
        </p:nvSpPr>
        <p:spPr>
          <a:xfrm>
            <a:off x="804672" y="3776472"/>
            <a:ext cx="603504" cy="603504"/>
          </a:xfrm>
          <a:prstGeom prst="roundRect">
            <a:avLst>
              <a:gd name="adj" fmla="val 30303"/>
            </a:avLst>
          </a:prstGeom>
          <a:solidFill>
            <a:srgbClr val="D21034"/>
          </a:solidFill>
          <a:ln/>
        </p:spPr>
      </p:sp>
      <p:sp>
        <p:nvSpPr>
          <p:cNvPr id="22" name="Text 18"/>
          <p:cNvSpPr/>
          <p:nvPr/>
        </p:nvSpPr>
        <p:spPr>
          <a:xfrm>
            <a:off x="80467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155448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Expansion régionale</a:t>
            </a:r>
            <a:endParaRPr lang="en-US" sz="1450" dirty="0"/>
          </a:p>
        </p:txBody>
      </p:sp>
      <p:sp>
        <p:nvSpPr>
          <p:cNvPr id="24" name="Text 20"/>
          <p:cNvSpPr/>
          <p:nvPr/>
        </p:nvSpPr>
        <p:spPr>
          <a:xfrm>
            <a:off x="82296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Adapter la plateforme à d'autres pays francophones.</a:t>
            </a:r>
            <a:endParaRPr lang="en-US" sz="1200" dirty="0"/>
          </a:p>
        </p:txBody>
      </p:sp>
      <p:sp>
        <p:nvSpPr>
          <p:cNvPr id="25" name="Shape 21"/>
          <p:cNvSpPr/>
          <p:nvPr/>
        </p:nvSpPr>
        <p:spPr>
          <a:xfrm>
            <a:off x="6126480" y="3520440"/>
            <a:ext cx="5394960" cy="1554480"/>
          </a:xfrm>
          <a:prstGeom prst="roundRect">
            <a:avLst>
              <a:gd name="adj" fmla="val 7059"/>
            </a:avLst>
          </a:prstGeom>
          <a:solidFill>
            <a:srgbClr val="EAFAF1"/>
          </a:solidFill>
          <a:ln w="12700">
            <a:solidFill>
              <a:srgbClr val="CDEFDB"/>
            </a:solidFill>
            <a:prstDash val="solid"/>
          </a:ln>
        </p:spPr>
      </p:sp>
      <p:sp>
        <p:nvSpPr>
          <p:cNvPr id="26" name="Shape 22"/>
          <p:cNvSpPr/>
          <p:nvPr/>
        </p:nvSpPr>
        <p:spPr>
          <a:xfrm>
            <a:off x="6382512" y="3776472"/>
            <a:ext cx="603504" cy="603504"/>
          </a:xfrm>
          <a:prstGeom prst="roundRect">
            <a:avLst>
              <a:gd name="adj" fmla="val 30303"/>
            </a:avLst>
          </a:prstGeom>
          <a:solidFill>
            <a:srgbClr val="065C3C"/>
          </a:solidFill>
          <a:ln/>
        </p:spPr>
      </p:sp>
      <p:sp>
        <p:nvSpPr>
          <p:cNvPr id="27" name="Text 23"/>
          <p:cNvSpPr/>
          <p:nvPr/>
        </p:nvSpPr>
        <p:spPr>
          <a:xfrm>
            <a:off x="638251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713232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Écosystème Groupe BM</a:t>
            </a:r>
            <a:endParaRPr lang="en-US" sz="1450" dirty="0"/>
          </a:p>
        </p:txBody>
      </p:sp>
      <p:sp>
        <p:nvSpPr>
          <p:cNvPr id="29" name="Text 25"/>
          <p:cNvSpPr/>
          <p:nvPr/>
        </p:nvSpPr>
        <p:spPr>
          <a:xfrm>
            <a:off x="640080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Éducation, immigration, services professionnels, ingénierie et recherche.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UNE RELATION ÉQUILIBRÉE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Une collaboration gagnant-gagnant</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09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3291840"/>
          </a:xfrm>
          <a:prstGeom prst="roundRect">
            <a:avLst>
              <a:gd name="adj" fmla="val 3333"/>
            </a:avLst>
          </a:prstGeom>
          <a:solidFill>
            <a:srgbClr val="EAFAF1"/>
          </a:solidFill>
          <a:ln w="12700">
            <a:solidFill>
              <a:srgbClr val="CDEFDB"/>
            </a:solidFill>
            <a:prstDash val="solid"/>
          </a:ln>
        </p:spPr>
      </p:sp>
      <p:sp>
        <p:nvSpPr>
          <p:cNvPr id="11" name="Text 7"/>
          <p:cNvSpPr/>
          <p:nvPr/>
        </p:nvSpPr>
        <p:spPr>
          <a:xfrm>
            <a:off x="868680" y="2011680"/>
            <a:ext cx="4754880" cy="640080"/>
          </a:xfrm>
          <a:prstGeom prst="rect">
            <a:avLst/>
          </a:prstGeom>
          <a:noFill/>
          <a:ln/>
        </p:spPr>
        <p:txBody>
          <a:bodyPr wrap="square" lIns="0" tIns="0" rIns="0" bIns="0" rtlCol="0" anchor="ctr"/>
          <a:lstStyle/>
          <a:p>
            <a:pPr algn="l" indent="0" marL="0">
              <a:buNone/>
            </a:pPr>
            <a:r>
              <a:rPr lang="en-US" sz="1600" b="1" dirty="0">
                <a:solidFill>
                  <a:srgbClr val="0B8457"/>
                </a:solidFill>
                <a:latin typeface="Cambria" pitchFamily="34" charset="0"/>
                <a:ea typeface="Cambria" pitchFamily="34" charset="-122"/>
                <a:cs typeface="Cambria" pitchFamily="34" charset="-120"/>
              </a:rPr>
              <a:t>Votre expertise renforce notre rigueur</a:t>
            </a:r>
            <a:endParaRPr lang="en-US" sz="1600" dirty="0"/>
          </a:p>
        </p:txBody>
      </p:sp>
      <p:sp>
        <p:nvSpPr>
          <p:cNvPr id="12" name="Text 8"/>
          <p:cNvSpPr/>
          <p:nvPr/>
        </p:nvSpPr>
        <p:spPr>
          <a:xfrm>
            <a:off x="868680" y="2788920"/>
            <a:ext cx="4754880" cy="2103120"/>
          </a:xfrm>
          <a:prstGeom prst="rect">
            <a:avLst/>
          </a:prstGeom>
          <a:noFill/>
          <a:ln/>
        </p:spPr>
        <p:txBody>
          <a:bodyPr wrap="square" lIns="0" tIns="0" rIns="0" bIns="0" rtlCol="0" anchor="ctr"/>
          <a:lstStyle/>
          <a:p>
            <a:pPr algn="l" marL="177800" indent="-177800">
              <a:spcAft>
                <a:spcPts val="800"/>
              </a:spcAft>
              <a:buSzPct val="100000"/>
              <a:buChar char="•"/>
            </a:pPr>
            <a:r>
              <a:rPr lang="en-US" sz="1250" dirty="0">
                <a:solidFill>
                  <a:srgbClr val="1A2B26"/>
                </a:solidFill>
                <a:latin typeface="Calibri" pitchFamily="34" charset="0"/>
                <a:ea typeface="Calibri" pitchFamily="34" charset="-122"/>
                <a:cs typeface="Calibri" pitchFamily="34" charset="-120"/>
              </a:rPr>
              <a:t>Relecture et validation des contenus par matière</a:t>
            </a:r>
            <a:endParaRPr lang="en-US" sz="1250" dirty="0"/>
          </a:p>
          <a:p>
            <a:pPr algn="l" marL="177800" indent="-177800">
              <a:spcAft>
                <a:spcPts val="800"/>
              </a:spcAft>
              <a:buSzPct val="100000"/>
              <a:buChar char="•"/>
            </a:pPr>
            <a:r>
              <a:rPr lang="en-US" sz="1250" dirty="0">
                <a:solidFill>
                  <a:srgbClr val="1A2B26"/>
                </a:solidFill>
                <a:latin typeface="Calibri" pitchFamily="34" charset="0"/>
                <a:ea typeface="Calibri" pitchFamily="34" charset="-122"/>
                <a:cs typeface="Calibri" pitchFamily="34" charset="-120"/>
              </a:rPr>
              <a:t>Alignement fin sur les référentiels officiels</a:t>
            </a:r>
            <a:endParaRPr lang="en-US" sz="1250" dirty="0"/>
          </a:p>
          <a:p>
            <a:pPr algn="l" marL="177800" indent="-177800">
              <a:spcAft>
                <a:spcPts val="800"/>
              </a:spcAft>
              <a:buSzPct val="100000"/>
              <a:buChar char="•"/>
            </a:pPr>
            <a:r>
              <a:rPr lang="en-US" sz="1250" dirty="0">
                <a:solidFill>
                  <a:srgbClr val="1A2B26"/>
                </a:solidFill>
                <a:latin typeface="Calibri" pitchFamily="34" charset="0"/>
                <a:ea typeface="Calibri" pitchFamily="34" charset="-122"/>
                <a:cs typeface="Calibri" pitchFamily="34" charset="-120"/>
              </a:rPr>
              <a:t>Accès à un réseau institutionnel et éducatif</a:t>
            </a:r>
            <a:endParaRPr lang="en-US" sz="1250" dirty="0"/>
          </a:p>
        </p:txBody>
      </p:sp>
      <p:sp>
        <p:nvSpPr>
          <p:cNvPr id="13" name="Shape 9"/>
          <p:cNvSpPr/>
          <p:nvPr/>
        </p:nvSpPr>
        <p:spPr>
          <a:xfrm>
            <a:off x="6217920" y="1783080"/>
            <a:ext cx="5394960" cy="3291840"/>
          </a:xfrm>
          <a:prstGeom prst="roundRect">
            <a:avLst>
              <a:gd name="adj" fmla="val 3333"/>
            </a:avLst>
          </a:prstGeom>
          <a:solidFill>
            <a:srgbClr val="EAFAF1"/>
          </a:solidFill>
          <a:ln w="12700">
            <a:solidFill>
              <a:srgbClr val="CDEFDB"/>
            </a:solidFill>
            <a:prstDash val="solid"/>
          </a:ln>
        </p:spPr>
      </p:sp>
      <p:sp>
        <p:nvSpPr>
          <p:cNvPr id="14" name="Text 10"/>
          <p:cNvSpPr/>
          <p:nvPr/>
        </p:nvSpPr>
        <p:spPr>
          <a:xfrm>
            <a:off x="6537960" y="2011680"/>
            <a:ext cx="4754880" cy="640080"/>
          </a:xfrm>
          <a:prstGeom prst="rect">
            <a:avLst/>
          </a:prstGeom>
          <a:noFill/>
          <a:ln/>
        </p:spPr>
        <p:txBody>
          <a:bodyPr wrap="square" lIns="0" tIns="0" rIns="0" bIns="0" rtlCol="0" anchor="ctr"/>
          <a:lstStyle/>
          <a:p>
            <a:pPr algn="l" indent="0" marL="0">
              <a:buNone/>
            </a:pPr>
            <a:r>
              <a:rPr lang="en-US" sz="1600" b="1" dirty="0">
                <a:solidFill>
                  <a:srgbClr val="2E6F40"/>
                </a:solidFill>
                <a:latin typeface="Cambria" pitchFamily="34" charset="0"/>
                <a:ea typeface="Cambria" pitchFamily="34" charset="-122"/>
                <a:cs typeface="Cambria" pitchFamily="34" charset="-120"/>
              </a:rPr>
              <a:t>Notre plateforme amplifie votre impact</a:t>
            </a:r>
            <a:endParaRPr lang="en-US" sz="1600" dirty="0"/>
          </a:p>
        </p:txBody>
      </p:sp>
      <p:sp>
        <p:nvSpPr>
          <p:cNvPr id="15" name="Text 11"/>
          <p:cNvSpPr/>
          <p:nvPr/>
        </p:nvSpPr>
        <p:spPr>
          <a:xfrm>
            <a:off x="6537960" y="2788920"/>
            <a:ext cx="4754880" cy="2103120"/>
          </a:xfrm>
          <a:prstGeom prst="rect">
            <a:avLst/>
          </a:prstGeom>
          <a:noFill/>
          <a:ln/>
        </p:spPr>
        <p:txBody>
          <a:bodyPr wrap="square" lIns="0" tIns="0" rIns="0" bIns="0" rtlCol="0" anchor="ctr"/>
          <a:lstStyle/>
          <a:p>
            <a:pPr algn="l" marL="177800" indent="-177800">
              <a:spcAft>
                <a:spcPts val="800"/>
              </a:spcAft>
              <a:buSzPct val="100000"/>
              <a:buChar char="•"/>
            </a:pPr>
            <a:r>
              <a:rPr lang="en-US" sz="1250" dirty="0">
                <a:solidFill>
                  <a:srgbClr val="1A2B26"/>
                </a:solidFill>
                <a:latin typeface="Calibri" pitchFamily="34" charset="0"/>
                <a:ea typeface="Calibri" pitchFamily="34" charset="-122"/>
                <a:cs typeface="Calibri" pitchFamily="34" charset="-120"/>
              </a:rPr>
              <a:t>Une portée directe auprès des élèves togolais</a:t>
            </a:r>
            <a:endParaRPr lang="en-US" sz="1250" dirty="0"/>
          </a:p>
          <a:p>
            <a:pPr algn="l" marL="177800" indent="-177800">
              <a:spcAft>
                <a:spcPts val="800"/>
              </a:spcAft>
              <a:buSzPct val="100000"/>
              <a:buChar char="•"/>
            </a:pPr>
            <a:r>
              <a:rPr lang="en-US" sz="1250" dirty="0">
                <a:solidFill>
                  <a:srgbClr val="1A2B26"/>
                </a:solidFill>
                <a:latin typeface="Calibri" pitchFamily="34" charset="0"/>
                <a:ea typeface="Calibri" pitchFamily="34" charset="-122"/>
                <a:cs typeface="Calibri" pitchFamily="34" charset="-120"/>
              </a:rPr>
              <a:t>Un canal numérique mesurable et traçable</a:t>
            </a:r>
            <a:endParaRPr lang="en-US" sz="1250" dirty="0"/>
          </a:p>
          <a:p>
            <a:pPr algn="l" marL="177800" indent="-177800">
              <a:spcAft>
                <a:spcPts val="800"/>
              </a:spcAft>
              <a:buSzPct val="100000"/>
              <a:buChar char="•"/>
            </a:pPr>
            <a:r>
              <a:rPr lang="en-US" sz="1250" dirty="0">
                <a:solidFill>
                  <a:srgbClr val="1A2B26"/>
                </a:solidFill>
                <a:latin typeface="Calibri" pitchFamily="34" charset="0"/>
                <a:ea typeface="Calibri" pitchFamily="34" charset="-122"/>
                <a:cs typeface="Calibri" pitchFamily="34" charset="-120"/>
              </a:rPr>
              <a:t>Une vitrine pour votre mission éducative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VISION RÉGIONALE</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Du Togo à l'Afrique francophone</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10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920240"/>
            <a:ext cx="3520440" cy="3108960"/>
          </a:xfrm>
          <a:prstGeom prst="roundRect">
            <a:avLst>
              <a:gd name="adj" fmla="val 3529"/>
            </a:avLst>
          </a:prstGeom>
          <a:solidFill>
            <a:srgbClr val="EAFAF1"/>
          </a:solidFill>
          <a:ln w="12700">
            <a:solidFill>
              <a:srgbClr val="CDEFDB"/>
            </a:solidFill>
            <a:prstDash val="solid"/>
          </a:ln>
        </p:spPr>
      </p:sp>
      <p:sp>
        <p:nvSpPr>
          <p:cNvPr id="11" name="Shape 7"/>
          <p:cNvSpPr/>
          <p:nvPr/>
        </p:nvSpPr>
        <p:spPr>
          <a:xfrm>
            <a:off x="822960" y="2194560"/>
            <a:ext cx="777240" cy="777240"/>
          </a:xfrm>
          <a:prstGeom prst="roundRect">
            <a:avLst>
              <a:gd name="adj" fmla="val 30588"/>
            </a:avLst>
          </a:prstGeom>
          <a:solidFill>
            <a:srgbClr val="0B8457"/>
          </a:solidFill>
          <a:ln/>
        </p:spPr>
      </p:sp>
      <p:sp>
        <p:nvSpPr>
          <p:cNvPr id="12" name="Text 8"/>
          <p:cNvSpPr/>
          <p:nvPr/>
        </p:nvSpPr>
        <p:spPr>
          <a:xfrm>
            <a:off x="822960" y="21945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3" name="Text 9"/>
          <p:cNvSpPr/>
          <p:nvPr/>
        </p:nvSpPr>
        <p:spPr>
          <a:xfrm>
            <a:off x="822960" y="3154680"/>
            <a:ext cx="2971800" cy="548640"/>
          </a:xfrm>
          <a:prstGeom prst="rect">
            <a:avLst/>
          </a:prstGeom>
          <a:noFill/>
          <a:ln/>
        </p:spPr>
        <p:txBody>
          <a:bodyPr wrap="square" lIns="0" tIns="0" rIns="0" bIns="0" rtlCol="0" anchor="ctr"/>
          <a:lstStyle/>
          <a:p>
            <a:pPr algn="l" indent="0" marL="0">
              <a:buNone/>
            </a:pPr>
            <a:r>
              <a:rPr lang="en-US" sz="1700" b="1" dirty="0">
                <a:solidFill>
                  <a:srgbClr val="1A2B26"/>
                </a:solidFill>
                <a:latin typeface="Cambria" pitchFamily="34" charset="0"/>
                <a:ea typeface="Cambria" pitchFamily="34" charset="-122"/>
                <a:cs typeface="Cambria" pitchFamily="34" charset="-120"/>
              </a:rPr>
              <a:t>Consolider le Togo</a:t>
            </a:r>
            <a:endParaRPr lang="en-US" sz="1700" dirty="0"/>
          </a:p>
        </p:txBody>
      </p:sp>
      <p:sp>
        <p:nvSpPr>
          <p:cNvPr id="14" name="Text 10"/>
          <p:cNvSpPr/>
          <p:nvPr/>
        </p:nvSpPr>
        <p:spPr>
          <a:xfrm>
            <a:off x="822960" y="3703320"/>
            <a:ext cx="2971800" cy="1188720"/>
          </a:xfrm>
          <a:prstGeom prst="rect">
            <a:avLst/>
          </a:prstGeom>
          <a:noFill/>
          <a:ln/>
        </p:spPr>
        <p:txBody>
          <a:bodyPr wrap="square" lIns="0" tIns="0" rIns="0" bIns="0" rtlCol="0" anchor="ctr"/>
          <a:lstStyle/>
          <a:p>
            <a:pPr algn="l" indent="0" marL="0">
              <a:lnSpc>
                <a:spcPct val="112000"/>
              </a:lnSpc>
              <a:buNone/>
            </a:pPr>
            <a:r>
              <a:rPr lang="en-US" sz="1250" dirty="0">
                <a:solidFill>
                  <a:srgbClr val="5C6B66"/>
                </a:solidFill>
                <a:latin typeface="Calibri" pitchFamily="34" charset="0"/>
                <a:ea typeface="Calibri" pitchFamily="34" charset="-122"/>
                <a:cs typeface="Calibri" pitchFamily="34" charset="-120"/>
              </a:rPr>
              <a:t>Compléter les contenus et asseoir la qualité sur tout le programme national.</a:t>
            </a:r>
            <a:endParaRPr lang="en-US" sz="1250" dirty="0"/>
          </a:p>
        </p:txBody>
      </p:sp>
      <p:sp>
        <p:nvSpPr>
          <p:cNvPr id="15" name="Shape 11"/>
          <p:cNvSpPr/>
          <p:nvPr/>
        </p:nvSpPr>
        <p:spPr>
          <a:xfrm>
            <a:off x="4251960" y="1920240"/>
            <a:ext cx="3520440" cy="3108960"/>
          </a:xfrm>
          <a:prstGeom prst="roundRect">
            <a:avLst>
              <a:gd name="adj" fmla="val 3529"/>
            </a:avLst>
          </a:prstGeom>
          <a:solidFill>
            <a:srgbClr val="EAFAF1"/>
          </a:solidFill>
          <a:ln w="12700">
            <a:solidFill>
              <a:srgbClr val="CDEFDB"/>
            </a:solidFill>
            <a:prstDash val="solid"/>
          </a:ln>
        </p:spPr>
      </p:sp>
      <p:sp>
        <p:nvSpPr>
          <p:cNvPr id="16" name="Shape 12"/>
          <p:cNvSpPr/>
          <p:nvPr/>
        </p:nvSpPr>
        <p:spPr>
          <a:xfrm>
            <a:off x="4526280" y="2194560"/>
            <a:ext cx="777240" cy="777240"/>
          </a:xfrm>
          <a:prstGeom prst="roundRect">
            <a:avLst>
              <a:gd name="adj" fmla="val 30588"/>
            </a:avLst>
          </a:prstGeom>
          <a:solidFill>
            <a:srgbClr val="2E6F40"/>
          </a:solidFill>
          <a:ln/>
        </p:spPr>
      </p:sp>
      <p:sp>
        <p:nvSpPr>
          <p:cNvPr id="17" name="Text 13"/>
          <p:cNvSpPr/>
          <p:nvPr/>
        </p:nvSpPr>
        <p:spPr>
          <a:xfrm>
            <a:off x="4526280" y="21945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8" name="Text 14"/>
          <p:cNvSpPr/>
          <p:nvPr/>
        </p:nvSpPr>
        <p:spPr>
          <a:xfrm>
            <a:off x="4526280" y="3154680"/>
            <a:ext cx="2971800" cy="548640"/>
          </a:xfrm>
          <a:prstGeom prst="rect">
            <a:avLst/>
          </a:prstGeom>
          <a:noFill/>
          <a:ln/>
        </p:spPr>
        <p:txBody>
          <a:bodyPr wrap="square" lIns="0" tIns="0" rIns="0" bIns="0" rtlCol="0" anchor="ctr"/>
          <a:lstStyle/>
          <a:p>
            <a:pPr algn="l" indent="0" marL="0">
              <a:buNone/>
            </a:pPr>
            <a:r>
              <a:rPr lang="en-US" sz="1700" b="1" dirty="0">
                <a:solidFill>
                  <a:srgbClr val="1A2B26"/>
                </a:solidFill>
                <a:latin typeface="Cambria" pitchFamily="34" charset="0"/>
                <a:ea typeface="Cambria" pitchFamily="34" charset="-122"/>
                <a:cs typeface="Cambria" pitchFamily="34" charset="-120"/>
              </a:rPr>
              <a:t>Densifier l'offre</a:t>
            </a:r>
            <a:endParaRPr lang="en-US" sz="1700" dirty="0"/>
          </a:p>
        </p:txBody>
      </p:sp>
      <p:sp>
        <p:nvSpPr>
          <p:cNvPr id="19" name="Text 15"/>
          <p:cNvSpPr/>
          <p:nvPr/>
        </p:nvSpPr>
        <p:spPr>
          <a:xfrm>
            <a:off x="4526280" y="3703320"/>
            <a:ext cx="2971800" cy="1188720"/>
          </a:xfrm>
          <a:prstGeom prst="rect">
            <a:avLst/>
          </a:prstGeom>
          <a:noFill/>
          <a:ln/>
        </p:spPr>
        <p:txBody>
          <a:bodyPr wrap="square" lIns="0" tIns="0" rIns="0" bIns="0" rtlCol="0" anchor="ctr"/>
          <a:lstStyle/>
          <a:p>
            <a:pPr algn="l" indent="0" marL="0">
              <a:lnSpc>
                <a:spcPct val="112000"/>
              </a:lnSpc>
              <a:buNone/>
            </a:pPr>
            <a:r>
              <a:rPr lang="en-US" sz="1250" dirty="0">
                <a:solidFill>
                  <a:srgbClr val="5C6B66"/>
                </a:solidFill>
                <a:latin typeface="Calibri" pitchFamily="34" charset="0"/>
                <a:ea typeface="Calibri" pitchFamily="34" charset="-122"/>
                <a:cs typeface="Calibri" pitchFamily="34" charset="-120"/>
              </a:rPr>
              <a:t>Tutorat, kits d'examen et partenariats institutionnels pour élargir l'impact.</a:t>
            </a:r>
            <a:endParaRPr lang="en-US" sz="1250" dirty="0"/>
          </a:p>
        </p:txBody>
      </p:sp>
      <p:sp>
        <p:nvSpPr>
          <p:cNvPr id="20" name="Shape 16"/>
          <p:cNvSpPr/>
          <p:nvPr/>
        </p:nvSpPr>
        <p:spPr>
          <a:xfrm>
            <a:off x="7955280" y="1920240"/>
            <a:ext cx="3520440" cy="3108960"/>
          </a:xfrm>
          <a:prstGeom prst="roundRect">
            <a:avLst>
              <a:gd name="adj" fmla="val 3529"/>
            </a:avLst>
          </a:prstGeom>
          <a:solidFill>
            <a:srgbClr val="EAFAF1"/>
          </a:solidFill>
          <a:ln w="12700">
            <a:solidFill>
              <a:srgbClr val="CDEFDB"/>
            </a:solidFill>
            <a:prstDash val="solid"/>
          </a:ln>
        </p:spPr>
      </p:sp>
      <p:sp>
        <p:nvSpPr>
          <p:cNvPr id="21" name="Shape 17"/>
          <p:cNvSpPr/>
          <p:nvPr/>
        </p:nvSpPr>
        <p:spPr>
          <a:xfrm>
            <a:off x="8229600" y="2194560"/>
            <a:ext cx="777240" cy="777240"/>
          </a:xfrm>
          <a:prstGeom prst="roundRect">
            <a:avLst>
              <a:gd name="adj" fmla="val 30588"/>
            </a:avLst>
          </a:prstGeom>
          <a:solidFill>
            <a:srgbClr val="065C3C"/>
          </a:solidFill>
          <a:ln/>
        </p:spPr>
      </p:sp>
      <p:sp>
        <p:nvSpPr>
          <p:cNvPr id="22" name="Text 18"/>
          <p:cNvSpPr/>
          <p:nvPr/>
        </p:nvSpPr>
        <p:spPr>
          <a:xfrm>
            <a:off x="8229600" y="2194560"/>
            <a:ext cx="777240" cy="7772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23" name="Text 19"/>
          <p:cNvSpPr/>
          <p:nvPr/>
        </p:nvSpPr>
        <p:spPr>
          <a:xfrm>
            <a:off x="8229600" y="3154680"/>
            <a:ext cx="2971800" cy="548640"/>
          </a:xfrm>
          <a:prstGeom prst="rect">
            <a:avLst/>
          </a:prstGeom>
          <a:noFill/>
          <a:ln/>
        </p:spPr>
        <p:txBody>
          <a:bodyPr wrap="square" lIns="0" tIns="0" rIns="0" bIns="0" rtlCol="0" anchor="ctr"/>
          <a:lstStyle/>
          <a:p>
            <a:pPr algn="l" indent="0" marL="0">
              <a:buNone/>
            </a:pPr>
            <a:r>
              <a:rPr lang="en-US" sz="1700" b="1" dirty="0">
                <a:solidFill>
                  <a:srgbClr val="1A2B26"/>
                </a:solidFill>
                <a:latin typeface="Cambria" pitchFamily="34" charset="0"/>
                <a:ea typeface="Cambria" pitchFamily="34" charset="-122"/>
                <a:cs typeface="Cambria" pitchFamily="34" charset="-120"/>
              </a:rPr>
              <a:t>Répliquer la recette</a:t>
            </a:r>
            <a:endParaRPr lang="en-US" sz="1700" dirty="0"/>
          </a:p>
        </p:txBody>
      </p:sp>
      <p:sp>
        <p:nvSpPr>
          <p:cNvPr id="24" name="Text 20"/>
          <p:cNvSpPr/>
          <p:nvPr/>
        </p:nvSpPr>
        <p:spPr>
          <a:xfrm>
            <a:off x="8229600" y="3703320"/>
            <a:ext cx="2971800" cy="1188720"/>
          </a:xfrm>
          <a:prstGeom prst="rect">
            <a:avLst/>
          </a:prstGeom>
          <a:noFill/>
          <a:ln/>
        </p:spPr>
        <p:txBody>
          <a:bodyPr wrap="square" lIns="0" tIns="0" rIns="0" bIns="0" rtlCol="0" anchor="ctr"/>
          <a:lstStyle/>
          <a:p>
            <a:pPr algn="l" indent="0" marL="0">
              <a:lnSpc>
                <a:spcPct val="112000"/>
              </a:lnSpc>
              <a:buNone/>
            </a:pPr>
            <a:r>
              <a:rPr lang="en-US" sz="1250" dirty="0">
                <a:solidFill>
                  <a:srgbClr val="5C6B66"/>
                </a:solidFill>
                <a:latin typeface="Calibri" pitchFamily="34" charset="0"/>
                <a:ea typeface="Calibri" pitchFamily="34" charset="-122"/>
                <a:cs typeface="Calibri" pitchFamily="34" charset="-120"/>
              </a:rPr>
              <a:t>Adapter la plateforme aux pays voisins partageant le programme francophone.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algn="l" indent="0" marL="0">
              <a:buNone/>
            </a:pPr>
            <a:r>
              <a:rPr lang="en-US" sz="1200" b="1" spc="200" kern="0" dirty="0">
                <a:solidFill>
                  <a:srgbClr val="0B8457"/>
                </a:solidFill>
                <a:latin typeface="Calibri" pitchFamily="34" charset="0"/>
                <a:ea typeface="Calibri" pitchFamily="34" charset="-122"/>
                <a:cs typeface="Calibri" pitchFamily="34" charset="-120"/>
              </a:rPr>
              <a:t>POURQUOI NOUS</a:t>
            </a:r>
            <a:endParaRPr lang="en-US" sz="1200" dirty="0"/>
          </a:p>
        </p:txBody>
      </p:sp>
      <p:sp>
        <p:nvSpPr>
          <p:cNvPr id="3" name="Text 1"/>
          <p:cNvSpPr/>
          <p:nvPr/>
        </p:nvSpPr>
        <p:spPr>
          <a:xfrm>
            <a:off x="548640" y="749808"/>
            <a:ext cx="9418320" cy="822960"/>
          </a:xfrm>
          <a:prstGeom prst="rect">
            <a:avLst/>
          </a:prstGeom>
          <a:noFill/>
          <a:ln/>
        </p:spPr>
        <p:txBody>
          <a:bodyPr wrap="square" lIns="0" tIns="0" rIns="0" bIns="0" rtlCol="0" anchor="ctr"/>
          <a:lstStyle/>
          <a:p>
            <a:pPr algn="l" indent="0" marL="0">
              <a:buNone/>
            </a:pPr>
            <a:r>
              <a:rPr lang="en-US" sz="2900" b="1" dirty="0">
                <a:solidFill>
                  <a:srgbClr val="1A2B26"/>
                </a:solidFill>
                <a:latin typeface="Cambria" pitchFamily="34" charset="0"/>
                <a:ea typeface="Cambria" pitchFamily="34" charset="-122"/>
                <a:cs typeface="Cambria" pitchFamily="34" charset="-120"/>
              </a:rPr>
              <a:t>Un partenaire sur qui compter</a:t>
            </a:r>
            <a:endParaRPr lang="en-US" sz="2900" dirty="0"/>
          </a:p>
        </p:txBody>
      </p:sp>
      <p:sp>
        <p:nvSpPr>
          <p:cNvPr id="4" name="Text 2"/>
          <p:cNvSpPr/>
          <p:nvPr/>
        </p:nvSpPr>
        <p:spPr>
          <a:xfrm>
            <a:off x="9722815" y="457200"/>
            <a:ext cx="2743200" cy="365760"/>
          </a:xfrm>
          <a:prstGeom prst="rect">
            <a:avLst/>
          </a:prstGeom>
          <a:noFill/>
          <a:ln/>
        </p:spPr>
        <p:txBody>
          <a:bodyPr wrap="square" lIns="0" tIns="0" rIns="0" bIns="0" rtlCol="0" anchor="ctr"/>
          <a:lstStyle/>
          <a:p>
            <a:pPr algn="l" indent="0" marL="0">
              <a:buNone/>
            </a:pPr>
            <a:r>
              <a:rPr lang="en-US" sz="1400" b="1" dirty="0">
                <a:solidFill>
                  <a:srgbClr val="1A2B26"/>
                </a:solidFill>
                <a:latin typeface="Cambria" pitchFamily="34" charset="0"/>
                <a:ea typeface="Cambria" pitchFamily="34" charset="-122"/>
                <a:cs typeface="Cambria" pitchFamily="34" charset="-120"/>
              </a:rPr>
              <a:t>Togo</a:t>
            </a:r>
            <a:pPr algn="l" indent="0" marL="0">
              <a:buNone/>
            </a:pPr>
            <a:r>
              <a:rPr lang="en-US" sz="1400" b="1" dirty="0">
                <a:solidFill>
                  <a:srgbClr val="0B8457"/>
                </a:solidFill>
                <a:latin typeface="Cambria" pitchFamily="34" charset="0"/>
                <a:ea typeface="Cambria" pitchFamily="34" charset="-122"/>
                <a:cs typeface="Cambria" pitchFamily="34" charset="-120"/>
              </a:rPr>
              <a:t>Academy</a:t>
            </a:r>
            <a:endParaRPr lang="en-US" sz="1400" dirty="0"/>
          </a:p>
        </p:txBody>
      </p:sp>
      <p:sp>
        <p:nvSpPr>
          <p:cNvPr id="5" name="Text 3"/>
          <p:cNvSpPr/>
          <p:nvPr/>
        </p:nvSpPr>
        <p:spPr>
          <a:xfrm>
            <a:off x="9722815" y="841248"/>
            <a:ext cx="1920240" cy="274320"/>
          </a:xfrm>
          <a:prstGeom prst="rect">
            <a:avLst/>
          </a:prstGeom>
          <a:noFill/>
          <a:ln/>
        </p:spPr>
        <p:txBody>
          <a:bodyPr wrap="square" lIns="0" tIns="0" rIns="0" bIns="0" rtlCol="0" anchor="ctr"/>
          <a:lstStyle/>
          <a:p>
            <a:pPr algn="r" indent="0" marL="0">
              <a:buNone/>
            </a:pPr>
            <a:r>
              <a:rPr lang="en-US" sz="1000" dirty="0">
                <a:solidFill>
                  <a:srgbClr val="5C6B66"/>
                </a:solidFill>
                <a:latin typeface="Calibri" pitchFamily="34" charset="0"/>
                <a:ea typeface="Calibri" pitchFamily="34" charset="-122"/>
                <a:cs typeface="Calibri" pitchFamily="34" charset="-120"/>
              </a:rPr>
              <a:t>11 · 12</a:t>
            </a:r>
            <a:endParaRPr lang="en-US" sz="1000" dirty="0"/>
          </a:p>
        </p:txBody>
      </p:sp>
      <p:pic>
        <p:nvPicPr>
          <p:cNvPr id="6" name="Image 0" descr="/Users/nbawana/Desktop/COWORK/CLAUDE-CODE/togo-academy/public/gbm-logo.png">    </p:cNvPr>
          <p:cNvPicPr>
            <a:picLocks noChangeAspect="1"/>
          </p:cNvPicPr>
          <p:nvPr/>
        </p:nvPicPr>
        <p:blipFill>
          <a:blip r:embed="rId1"/>
          <a:stretch>
            <a:fillRect/>
          </a:stretch>
        </p:blipFill>
        <p:spPr>
          <a:xfrm>
            <a:off x="457200" y="6291072"/>
            <a:ext cx="310896" cy="310896"/>
          </a:xfrm>
          <a:prstGeom prst="rect">
            <a:avLst/>
          </a:prstGeom>
        </p:spPr>
      </p:pic>
      <p:sp>
        <p:nvSpPr>
          <p:cNvPr id="7" name="Text 4"/>
          <p:cNvSpPr/>
          <p:nvPr/>
        </p:nvSpPr>
        <p:spPr>
          <a:xfrm>
            <a:off x="841248" y="6291072"/>
            <a:ext cx="6400800" cy="310896"/>
          </a:xfrm>
          <a:prstGeom prst="rect">
            <a:avLst/>
          </a:prstGeom>
          <a:noFill/>
          <a:ln/>
        </p:spPr>
        <p:txBody>
          <a:bodyPr wrap="square" lIns="0" tIns="0" rIns="0" bIns="0" rtlCol="0" anchor="ctr"/>
          <a:lstStyle/>
          <a:p>
            <a:pPr algn="l" indent="0" marL="0">
              <a:buNone/>
            </a:pPr>
            <a:r>
              <a:rPr lang="en-US" sz="950" dirty="0">
                <a:solidFill>
                  <a:srgbClr val="5C6B66"/>
                </a:solidFill>
                <a:latin typeface="Calibri" pitchFamily="34" charset="0"/>
                <a:ea typeface="Calibri" pitchFamily="34" charset="-122"/>
                <a:cs typeface="Calibri" pitchFamily="34" charset="-120"/>
              </a:rPr>
              <a:t>Togo Academy · un département de Groupe BM</a:t>
            </a:r>
            <a:endParaRPr lang="en-US" sz="950" dirty="0"/>
          </a:p>
        </p:txBody>
      </p:sp>
      <p:sp>
        <p:nvSpPr>
          <p:cNvPr id="8" name="Text 5"/>
          <p:cNvSpPr/>
          <p:nvPr/>
        </p:nvSpPr>
        <p:spPr>
          <a:xfrm>
            <a:off x="8991295" y="6291072"/>
            <a:ext cx="2743200" cy="310896"/>
          </a:xfrm>
          <a:prstGeom prst="rect">
            <a:avLst/>
          </a:prstGeom>
          <a:noFill/>
          <a:ln/>
        </p:spPr>
        <p:txBody>
          <a:bodyPr wrap="square" lIns="0" tIns="0" rIns="0" bIns="0" rtlCol="0" anchor="ctr"/>
          <a:lstStyle/>
          <a:p>
            <a:pPr algn="r" indent="0" marL="0">
              <a:buNone/>
            </a:pPr>
            <a:r>
              <a:rPr lang="en-US" sz="950" dirty="0">
                <a:solidFill>
                  <a:srgbClr val="0B8457"/>
                </a:solidFill>
                <a:latin typeface="Calibri" pitchFamily="34" charset="0"/>
                <a:ea typeface="Calibri" pitchFamily="34" charset="-122"/>
                <a:cs typeface="Calibri" pitchFamily="34" charset="-120"/>
              </a:rPr>
              <a:t>academie.groupebm.net</a:t>
            </a:r>
            <a:endParaRPr lang="en-US" sz="950" dirty="0"/>
          </a:p>
        </p:txBody>
      </p:sp>
      <p:sp>
        <p:nvSpPr>
          <p:cNvPr id="10" name="Shape 6"/>
          <p:cNvSpPr/>
          <p:nvPr/>
        </p:nvSpPr>
        <p:spPr>
          <a:xfrm>
            <a:off x="548640" y="1783080"/>
            <a:ext cx="5394960" cy="1554480"/>
          </a:xfrm>
          <a:prstGeom prst="roundRect">
            <a:avLst>
              <a:gd name="adj" fmla="val 7059"/>
            </a:avLst>
          </a:prstGeom>
          <a:solidFill>
            <a:srgbClr val="EAFAF1"/>
          </a:solidFill>
          <a:ln w="12700">
            <a:solidFill>
              <a:srgbClr val="CDEFDB"/>
            </a:solidFill>
            <a:prstDash val="solid"/>
          </a:ln>
        </p:spPr>
      </p:sp>
      <p:sp>
        <p:nvSpPr>
          <p:cNvPr id="11" name="Shape 7"/>
          <p:cNvSpPr/>
          <p:nvPr/>
        </p:nvSpPr>
        <p:spPr>
          <a:xfrm>
            <a:off x="804672" y="2039112"/>
            <a:ext cx="603504" cy="603504"/>
          </a:xfrm>
          <a:prstGeom prst="roundRect">
            <a:avLst>
              <a:gd name="adj" fmla="val 30303"/>
            </a:avLst>
          </a:prstGeom>
          <a:solidFill>
            <a:srgbClr val="0B8457"/>
          </a:solidFill>
          <a:ln/>
        </p:spPr>
      </p:sp>
      <p:sp>
        <p:nvSpPr>
          <p:cNvPr id="12" name="Text 8"/>
          <p:cNvSpPr/>
          <p:nvPr/>
        </p:nvSpPr>
        <p:spPr>
          <a:xfrm>
            <a:off x="80467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9"/>
          <p:cNvSpPr/>
          <p:nvPr/>
        </p:nvSpPr>
        <p:spPr>
          <a:xfrm>
            <a:off x="155448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Programme togolais</a:t>
            </a:r>
            <a:endParaRPr lang="en-US" sz="1450" dirty="0"/>
          </a:p>
        </p:txBody>
      </p:sp>
      <p:sp>
        <p:nvSpPr>
          <p:cNvPr id="14" name="Text 10"/>
          <p:cNvSpPr/>
          <p:nvPr/>
        </p:nvSpPr>
        <p:spPr>
          <a:xfrm>
            <a:off x="82296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Un contenu fidèle à l'APC officielle, pas importé.</a:t>
            </a:r>
            <a:endParaRPr lang="en-US" sz="1200" dirty="0"/>
          </a:p>
        </p:txBody>
      </p:sp>
      <p:sp>
        <p:nvSpPr>
          <p:cNvPr id="15" name="Shape 11"/>
          <p:cNvSpPr/>
          <p:nvPr/>
        </p:nvSpPr>
        <p:spPr>
          <a:xfrm>
            <a:off x="6126480" y="1783080"/>
            <a:ext cx="5394960" cy="1554480"/>
          </a:xfrm>
          <a:prstGeom prst="roundRect">
            <a:avLst>
              <a:gd name="adj" fmla="val 7059"/>
            </a:avLst>
          </a:prstGeom>
          <a:solidFill>
            <a:srgbClr val="EAFAF1"/>
          </a:solidFill>
          <a:ln w="12700">
            <a:solidFill>
              <a:srgbClr val="CDEFDB"/>
            </a:solidFill>
            <a:prstDash val="solid"/>
          </a:ln>
        </p:spPr>
      </p:sp>
      <p:sp>
        <p:nvSpPr>
          <p:cNvPr id="16" name="Shape 12"/>
          <p:cNvSpPr/>
          <p:nvPr/>
        </p:nvSpPr>
        <p:spPr>
          <a:xfrm>
            <a:off x="6382512" y="2039112"/>
            <a:ext cx="603504" cy="603504"/>
          </a:xfrm>
          <a:prstGeom prst="roundRect">
            <a:avLst>
              <a:gd name="adj" fmla="val 30303"/>
            </a:avLst>
          </a:prstGeom>
          <a:solidFill>
            <a:srgbClr val="2E6F40"/>
          </a:solidFill>
          <a:ln/>
        </p:spPr>
      </p:sp>
      <p:sp>
        <p:nvSpPr>
          <p:cNvPr id="17" name="Text 13"/>
          <p:cNvSpPr/>
          <p:nvPr/>
        </p:nvSpPr>
        <p:spPr>
          <a:xfrm>
            <a:off x="6382512" y="203911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Text 14"/>
          <p:cNvSpPr/>
          <p:nvPr/>
        </p:nvSpPr>
        <p:spPr>
          <a:xfrm>
            <a:off x="7132320" y="198424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IA pédagogique</a:t>
            </a:r>
            <a:endParaRPr lang="en-US" sz="1450" dirty="0"/>
          </a:p>
        </p:txBody>
      </p:sp>
      <p:sp>
        <p:nvSpPr>
          <p:cNvPr id="19" name="Text 15"/>
          <p:cNvSpPr/>
          <p:nvPr/>
        </p:nvSpPr>
        <p:spPr>
          <a:xfrm>
            <a:off x="6400800" y="269748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Tuteur et correction par IA, à grande échelle.</a:t>
            </a:r>
            <a:endParaRPr lang="en-US" sz="1200" dirty="0"/>
          </a:p>
        </p:txBody>
      </p:sp>
      <p:sp>
        <p:nvSpPr>
          <p:cNvPr id="20" name="Shape 16"/>
          <p:cNvSpPr/>
          <p:nvPr/>
        </p:nvSpPr>
        <p:spPr>
          <a:xfrm>
            <a:off x="548640" y="3520440"/>
            <a:ext cx="5394960" cy="1554480"/>
          </a:xfrm>
          <a:prstGeom prst="roundRect">
            <a:avLst>
              <a:gd name="adj" fmla="val 7059"/>
            </a:avLst>
          </a:prstGeom>
          <a:solidFill>
            <a:srgbClr val="EAFAF1"/>
          </a:solidFill>
          <a:ln w="12700">
            <a:solidFill>
              <a:srgbClr val="CDEFDB"/>
            </a:solidFill>
            <a:prstDash val="solid"/>
          </a:ln>
        </p:spPr>
      </p:sp>
      <p:sp>
        <p:nvSpPr>
          <p:cNvPr id="21" name="Shape 17"/>
          <p:cNvSpPr/>
          <p:nvPr/>
        </p:nvSpPr>
        <p:spPr>
          <a:xfrm>
            <a:off x="804672" y="3776472"/>
            <a:ext cx="603504" cy="603504"/>
          </a:xfrm>
          <a:prstGeom prst="roundRect">
            <a:avLst>
              <a:gd name="adj" fmla="val 30303"/>
            </a:avLst>
          </a:prstGeom>
          <a:solidFill>
            <a:srgbClr val="D21034"/>
          </a:solidFill>
          <a:ln/>
        </p:spPr>
      </p:sp>
      <p:sp>
        <p:nvSpPr>
          <p:cNvPr id="22" name="Text 18"/>
          <p:cNvSpPr/>
          <p:nvPr/>
        </p:nvSpPr>
        <p:spPr>
          <a:xfrm>
            <a:off x="80467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3" name="Text 19"/>
          <p:cNvSpPr/>
          <p:nvPr/>
        </p:nvSpPr>
        <p:spPr>
          <a:xfrm>
            <a:off x="155448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Déjà en ligne</a:t>
            </a:r>
            <a:endParaRPr lang="en-US" sz="1450" dirty="0"/>
          </a:p>
        </p:txBody>
      </p:sp>
      <p:sp>
        <p:nvSpPr>
          <p:cNvPr id="24" name="Text 20"/>
          <p:cNvSpPr/>
          <p:nvPr/>
        </p:nvSpPr>
        <p:spPr>
          <a:xfrm>
            <a:off x="82296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Une plateforme vivante, mobile et faible débit.</a:t>
            </a:r>
            <a:endParaRPr lang="en-US" sz="1200" dirty="0"/>
          </a:p>
        </p:txBody>
      </p:sp>
      <p:sp>
        <p:nvSpPr>
          <p:cNvPr id="25" name="Shape 21"/>
          <p:cNvSpPr/>
          <p:nvPr/>
        </p:nvSpPr>
        <p:spPr>
          <a:xfrm>
            <a:off x="6126480" y="3520440"/>
            <a:ext cx="5394960" cy="1554480"/>
          </a:xfrm>
          <a:prstGeom prst="roundRect">
            <a:avLst>
              <a:gd name="adj" fmla="val 7059"/>
            </a:avLst>
          </a:prstGeom>
          <a:solidFill>
            <a:srgbClr val="EAFAF1"/>
          </a:solidFill>
          <a:ln w="12700">
            <a:solidFill>
              <a:srgbClr val="CDEFDB"/>
            </a:solidFill>
            <a:prstDash val="solid"/>
          </a:ln>
        </p:spPr>
      </p:sp>
      <p:sp>
        <p:nvSpPr>
          <p:cNvPr id="26" name="Shape 22"/>
          <p:cNvSpPr/>
          <p:nvPr/>
        </p:nvSpPr>
        <p:spPr>
          <a:xfrm>
            <a:off x="6382512" y="3776472"/>
            <a:ext cx="603504" cy="603504"/>
          </a:xfrm>
          <a:prstGeom prst="roundRect">
            <a:avLst>
              <a:gd name="adj" fmla="val 30303"/>
            </a:avLst>
          </a:prstGeom>
          <a:solidFill>
            <a:srgbClr val="065C3C"/>
          </a:solidFill>
          <a:ln/>
        </p:spPr>
      </p:sp>
      <p:sp>
        <p:nvSpPr>
          <p:cNvPr id="27" name="Text 23"/>
          <p:cNvSpPr/>
          <p:nvPr/>
        </p:nvSpPr>
        <p:spPr>
          <a:xfrm>
            <a:off x="6382512" y="3776472"/>
            <a:ext cx="603504" cy="60350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Text 24"/>
          <p:cNvSpPr/>
          <p:nvPr/>
        </p:nvSpPr>
        <p:spPr>
          <a:xfrm>
            <a:off x="7132320" y="3721608"/>
            <a:ext cx="4160520" cy="548640"/>
          </a:xfrm>
          <a:prstGeom prst="rect">
            <a:avLst/>
          </a:prstGeom>
          <a:noFill/>
          <a:ln/>
        </p:spPr>
        <p:txBody>
          <a:bodyPr wrap="square" lIns="0" tIns="0" rIns="0" bIns="0" rtlCol="0" anchor="ctr"/>
          <a:lstStyle/>
          <a:p>
            <a:pPr algn="l" indent="0" marL="0">
              <a:buNone/>
            </a:pPr>
            <a:r>
              <a:rPr lang="en-US" sz="1450" b="1" dirty="0">
                <a:solidFill>
                  <a:srgbClr val="1A2B26"/>
                </a:solidFill>
                <a:latin typeface="Cambria" pitchFamily="34" charset="0"/>
                <a:ea typeface="Cambria" pitchFamily="34" charset="-122"/>
                <a:cs typeface="Cambria" pitchFamily="34" charset="-120"/>
              </a:rPr>
              <a:t>Appui Groupe BM</a:t>
            </a:r>
            <a:endParaRPr lang="en-US" sz="1450" dirty="0"/>
          </a:p>
        </p:txBody>
      </p:sp>
      <p:sp>
        <p:nvSpPr>
          <p:cNvPr id="29" name="Text 25"/>
          <p:cNvSpPr/>
          <p:nvPr/>
        </p:nvSpPr>
        <p:spPr>
          <a:xfrm>
            <a:off x="6400800" y="4434840"/>
            <a:ext cx="4846320" cy="502920"/>
          </a:xfrm>
          <a:prstGeom prst="rect">
            <a:avLst/>
          </a:prstGeom>
          <a:noFill/>
          <a:ln/>
        </p:spPr>
        <p:txBody>
          <a:bodyPr wrap="square" lIns="0" tIns="0" rIns="0" bIns="0" rtlCol="0" anchor="t"/>
          <a:lstStyle/>
          <a:p>
            <a:pPr algn="l" indent="0" marL="0">
              <a:lnSpc>
                <a:spcPct val="105000"/>
              </a:lnSpc>
              <a:buNone/>
            </a:pPr>
            <a:r>
              <a:rPr lang="en-US" sz="1200" dirty="0">
                <a:solidFill>
                  <a:srgbClr val="5C6B66"/>
                </a:solidFill>
                <a:latin typeface="Calibri" pitchFamily="34" charset="0"/>
                <a:ea typeface="Calibri" pitchFamily="34" charset="-122"/>
                <a:cs typeface="Calibri" pitchFamily="34" charset="-120"/>
              </a:rPr>
              <a:t>Ressources, crédibilité et réseau d'un groupe établi.</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E6F40"/>
        </a:solidFill>
      </p:bgPr>
    </p:bg>
    <p:spTree>
      <p:nvGrpSpPr>
        <p:cNvPr id="1" name=""/>
        <p:cNvGrpSpPr/>
        <p:nvPr/>
      </p:nvGrpSpPr>
      <p:grpSpPr>
        <a:xfrm>
          <a:off x="0" y="0"/>
          <a:ext cx="0" cy="0"/>
          <a:chOff x="0" y="0"/>
          <a:chExt cx="0" cy="0"/>
        </a:xfrm>
      </p:grpSpPr>
      <p:sp>
        <p:nvSpPr>
          <p:cNvPr id="2" name="Shape 0"/>
          <p:cNvSpPr/>
          <p:nvPr/>
        </p:nvSpPr>
        <p:spPr>
          <a:xfrm>
            <a:off x="548640" y="502920"/>
            <a:ext cx="914400" cy="914400"/>
          </a:xfrm>
          <a:prstGeom prst="roundRect">
            <a:avLst>
              <a:gd name="adj" fmla="val 18000"/>
            </a:avLst>
          </a:prstGeom>
          <a:solidFill>
            <a:srgbClr val="FFFFFF"/>
          </a:solidFill>
          <a:ln/>
          <a:effectLst>
            <a:outerShdw sx="100000" sy="100000" kx="0" ky="0" algn="bl" rotWithShape="0" blurRad="76200" dist="25400" dir="5400000">
              <a:srgbClr val="000000">
                <a:alpha val="18000"/>
              </a:srgbClr>
            </a:outerShdw>
          </a:effectLst>
        </p:spPr>
      </p:sp>
      <p:pic>
        <p:nvPicPr>
          <p:cNvPr id="3" name="Image 0" descr="/Users/nbawana/Desktop/COWORK/CLAUDE-CODE/togo-academy/public/togo-academy-logo.png">    </p:cNvPr>
          <p:cNvPicPr>
            <a:picLocks noChangeAspect="1"/>
          </p:cNvPicPr>
          <p:nvPr/>
        </p:nvPicPr>
        <p:blipFill>
          <a:blip r:embed="rId1"/>
          <a:stretch>
            <a:fillRect/>
          </a:stretch>
        </p:blipFill>
        <p:spPr>
          <a:xfrm>
            <a:off x="621792" y="576072"/>
            <a:ext cx="768096" cy="768096"/>
          </a:xfrm>
          <a:prstGeom prst="ellipse">
            <a:avLst/>
          </a:prstGeom>
        </p:spPr>
      </p:pic>
      <p:sp>
        <p:nvSpPr>
          <p:cNvPr id="4" name="Text 1"/>
          <p:cNvSpPr/>
          <p:nvPr/>
        </p:nvSpPr>
        <p:spPr>
          <a:xfrm>
            <a:off x="1600200" y="658368"/>
            <a:ext cx="2743200" cy="365760"/>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Togo</a:t>
            </a:r>
            <a:pPr algn="l" indent="0" marL="0">
              <a:buNone/>
            </a:pPr>
            <a:r>
              <a:rPr lang="en-US" sz="2000" b="1" dirty="0">
                <a:solidFill>
                  <a:srgbClr val="FFCE00"/>
                </a:solidFill>
                <a:latin typeface="Cambria" pitchFamily="34" charset="0"/>
                <a:ea typeface="Cambria" pitchFamily="34" charset="-122"/>
                <a:cs typeface="Cambria" pitchFamily="34" charset="-120"/>
              </a:rPr>
              <a:t>Academy</a:t>
            </a:r>
            <a:endParaRPr lang="en-US" sz="2000" dirty="0"/>
          </a:p>
        </p:txBody>
      </p:sp>
      <p:sp>
        <p:nvSpPr>
          <p:cNvPr id="5" name="Text 2"/>
          <p:cNvSpPr/>
          <p:nvPr/>
        </p:nvSpPr>
        <p:spPr>
          <a:xfrm>
            <a:off x="566928" y="2011680"/>
            <a:ext cx="8229600" cy="320040"/>
          </a:xfrm>
          <a:prstGeom prst="rect">
            <a:avLst/>
          </a:prstGeom>
          <a:noFill/>
          <a:ln/>
        </p:spPr>
        <p:txBody>
          <a:bodyPr wrap="square" lIns="0" tIns="0" rIns="0" bIns="0" rtlCol="0" anchor="ctr"/>
          <a:lstStyle/>
          <a:p>
            <a:pPr algn="l" indent="0" marL="0">
              <a:buNone/>
            </a:pPr>
            <a:r>
              <a:rPr lang="en-US" sz="1300" b="1" spc="300" kern="0" dirty="0">
                <a:solidFill>
                  <a:srgbClr val="FFCE00"/>
                </a:solidFill>
                <a:latin typeface="Calibri" pitchFamily="34" charset="0"/>
                <a:ea typeface="Calibri" pitchFamily="34" charset="-122"/>
                <a:cs typeface="Calibri" pitchFamily="34" charset="-120"/>
              </a:rPr>
              <a:t>PRENDRE CONTACT</a:t>
            </a:r>
            <a:endParaRPr lang="en-US" sz="1300" dirty="0"/>
          </a:p>
        </p:txBody>
      </p:sp>
      <p:sp>
        <p:nvSpPr>
          <p:cNvPr id="6" name="Text 3"/>
          <p:cNvSpPr/>
          <p:nvPr/>
        </p:nvSpPr>
        <p:spPr>
          <a:xfrm>
            <a:off x="548640" y="2423160"/>
            <a:ext cx="10789920" cy="1463040"/>
          </a:xfrm>
          <a:prstGeom prst="rect">
            <a:avLst/>
          </a:prstGeom>
          <a:noFill/>
          <a:ln/>
        </p:spPr>
        <p:txBody>
          <a:bodyPr wrap="square" lIns="0" tIns="0" rIns="0" bIns="0" rtlCol="0" anchor="ctr"/>
          <a:lstStyle/>
          <a:p>
            <a:pPr algn="l" indent="0" marL="0">
              <a:lnSpc>
                <a:spcPct val="102000"/>
              </a:lnSpc>
              <a:buNone/>
            </a:pPr>
            <a:r>
              <a:rPr lang="en-US" sz="4000" b="1" dirty="0">
                <a:solidFill>
                  <a:srgbClr val="FFFFFF"/>
                </a:solidFill>
                <a:latin typeface="Cambria" pitchFamily="34" charset="0"/>
                <a:ea typeface="Cambria" pitchFamily="34" charset="-122"/>
                <a:cs typeface="Cambria" pitchFamily="34" charset="-120"/>
              </a:rPr>
              <a:t>Construisons ensemble</a:t>
            </a:r>
            <a:endParaRPr lang="en-US" sz="4000" dirty="0"/>
          </a:p>
          <a:p>
            <a:pPr algn="l" indent="0" marL="0">
              <a:lnSpc>
                <a:spcPct val="102000"/>
              </a:lnSpc>
              <a:buNone/>
            </a:pPr>
            <a:r>
              <a:rPr lang="en-US" sz="4000" b="1" dirty="0">
                <a:solidFill>
                  <a:srgbClr val="FFFFFF"/>
                </a:solidFill>
                <a:latin typeface="Cambria" pitchFamily="34" charset="0"/>
                <a:ea typeface="Cambria" pitchFamily="34" charset="-122"/>
                <a:cs typeface="Cambria" pitchFamily="34" charset="-120"/>
              </a:rPr>
              <a:t>la relève de demain.</a:t>
            </a:r>
            <a:endParaRPr lang="en-US" sz="4000" dirty="0"/>
          </a:p>
        </p:txBody>
      </p:sp>
      <p:sp>
        <p:nvSpPr>
          <p:cNvPr id="7" name="Text 4"/>
          <p:cNvSpPr/>
          <p:nvPr/>
        </p:nvSpPr>
        <p:spPr>
          <a:xfrm>
            <a:off x="566928" y="4023360"/>
            <a:ext cx="10058400" cy="822960"/>
          </a:xfrm>
          <a:prstGeom prst="rect">
            <a:avLst/>
          </a:prstGeom>
          <a:noFill/>
          <a:ln/>
        </p:spPr>
        <p:txBody>
          <a:bodyPr wrap="square" lIns="0" tIns="0" rIns="0" bIns="0" rtlCol="0" anchor="ctr"/>
          <a:lstStyle/>
          <a:p>
            <a:pPr algn="l" indent="0" marL="0">
              <a:lnSpc>
                <a:spcPct val="110000"/>
              </a:lnSpc>
              <a:buNone/>
            </a:pPr>
            <a:r>
              <a:rPr lang="en-US" sz="1500" dirty="0">
                <a:solidFill>
                  <a:srgbClr val="CDEFDB"/>
                </a:solidFill>
                <a:latin typeface="Calibri" pitchFamily="34" charset="0"/>
                <a:ea typeface="Calibri" pitchFamily="34" charset="-122"/>
                <a:cs typeface="Calibri" pitchFamily="34" charset="-120"/>
              </a:rPr>
              <a:t>Nous cherchons des experts référents et des partenaires institutionnels. Votre expertise renforce notre rigueur ; notre plateforme amplifie votre impact.</a:t>
            </a:r>
            <a:endParaRPr lang="en-US" sz="1500" dirty="0"/>
          </a:p>
        </p:txBody>
      </p:sp>
      <p:sp>
        <p:nvSpPr>
          <p:cNvPr id="8" name="Shape 5"/>
          <p:cNvSpPr/>
          <p:nvPr/>
        </p:nvSpPr>
        <p:spPr>
          <a:xfrm>
            <a:off x="548640" y="5074920"/>
            <a:ext cx="3840480" cy="822960"/>
          </a:xfrm>
          <a:prstGeom prst="roundRect">
            <a:avLst>
              <a:gd name="adj" fmla="val 11111"/>
            </a:avLst>
          </a:prstGeom>
          <a:solidFill>
            <a:srgbClr val="EAFAF1"/>
          </a:solidFill>
          <a:ln/>
        </p:spPr>
      </p:sp>
      <p:sp>
        <p:nvSpPr>
          <p:cNvPr id="9" name="Text 6"/>
          <p:cNvSpPr/>
          <p:nvPr/>
        </p:nvSpPr>
        <p:spPr>
          <a:xfrm>
            <a:off x="731520" y="5074920"/>
            <a:ext cx="3566160" cy="822960"/>
          </a:xfrm>
          <a:prstGeom prst="rect">
            <a:avLst/>
          </a:prstGeom>
          <a:noFill/>
          <a:ln/>
        </p:spPr>
        <p:txBody>
          <a:bodyPr wrap="square" lIns="0" tIns="0" rIns="0" bIns="0" rtlCol="0" anchor="ctr"/>
          <a:lstStyle/>
          <a:p>
            <a:pPr algn="l" indent="0" marL="0">
              <a:buNone/>
            </a:pPr>
            <a:r>
              <a:rPr lang="en-US" sz="1000" b="1" dirty="0">
                <a:solidFill>
                  <a:srgbClr val="0B8457"/>
                </a:solidFill>
                <a:latin typeface="Calibri" pitchFamily="34" charset="0"/>
                <a:ea typeface="Calibri" pitchFamily="34" charset="-122"/>
                <a:cs typeface="Calibri" pitchFamily="34" charset="-120"/>
              </a:rPr>
              <a:t>CONTACT
</a:t>
            </a:r>
            <a:endParaRPr lang="en-US" sz="1000" dirty="0"/>
          </a:p>
          <a:p>
            <a:pPr algn="l" indent="0" marL="0">
              <a:buNone/>
            </a:pPr>
            <a:r>
              <a:rPr lang="en-US" sz="1500" b="1" dirty="0">
                <a:solidFill>
                  <a:srgbClr val="1A2B26"/>
                </a:solidFill>
                <a:latin typeface="Calibri" pitchFamily="34" charset="0"/>
                <a:ea typeface="Calibri" pitchFamily="34" charset="-122"/>
                <a:cs typeface="Calibri" pitchFamily="34" charset="-120"/>
              </a:rPr>
              <a:t>info@groupebm.net</a:t>
            </a:r>
            <a:endParaRPr lang="en-US" sz="1000" dirty="0"/>
          </a:p>
        </p:txBody>
      </p:sp>
      <p:sp>
        <p:nvSpPr>
          <p:cNvPr id="10" name="Shape 7"/>
          <p:cNvSpPr/>
          <p:nvPr/>
        </p:nvSpPr>
        <p:spPr>
          <a:xfrm>
            <a:off x="4572000" y="5074920"/>
            <a:ext cx="4754880" cy="822960"/>
          </a:xfrm>
          <a:prstGeom prst="roundRect">
            <a:avLst>
              <a:gd name="adj" fmla="val 11111"/>
            </a:avLst>
          </a:prstGeom>
          <a:solidFill>
            <a:srgbClr val="EAFAF1"/>
          </a:solidFill>
          <a:ln/>
        </p:spPr>
      </p:sp>
      <p:sp>
        <p:nvSpPr>
          <p:cNvPr id="11" name="Text 8"/>
          <p:cNvSpPr/>
          <p:nvPr/>
        </p:nvSpPr>
        <p:spPr>
          <a:xfrm>
            <a:off x="4754880" y="5074920"/>
            <a:ext cx="4480560" cy="822960"/>
          </a:xfrm>
          <a:prstGeom prst="rect">
            <a:avLst/>
          </a:prstGeom>
          <a:noFill/>
          <a:ln/>
        </p:spPr>
        <p:txBody>
          <a:bodyPr wrap="square" lIns="0" tIns="0" rIns="0" bIns="0" rtlCol="0" anchor="ctr"/>
          <a:lstStyle/>
          <a:p>
            <a:pPr algn="l" indent="0" marL="0">
              <a:buNone/>
            </a:pPr>
            <a:r>
              <a:rPr lang="en-US" sz="1000" b="1" dirty="0">
                <a:solidFill>
                  <a:srgbClr val="0B8457"/>
                </a:solidFill>
                <a:latin typeface="Calibri" pitchFamily="34" charset="0"/>
                <a:ea typeface="Calibri" pitchFamily="34" charset="-122"/>
                <a:cs typeface="Calibri" pitchFamily="34" charset="-120"/>
              </a:rPr>
              <a:t>EN LIGNE
</a:t>
            </a:r>
            <a:endParaRPr lang="en-US" sz="1000" dirty="0"/>
          </a:p>
          <a:p>
            <a:pPr algn="l" indent="0" marL="0">
              <a:buNone/>
            </a:pPr>
            <a:r>
              <a:rPr lang="en-US" sz="1400" b="1" dirty="0">
                <a:solidFill>
                  <a:srgbClr val="1A2B26"/>
                </a:solidFill>
                <a:latin typeface="Calibri" pitchFamily="34" charset="0"/>
                <a:ea typeface="Calibri" pitchFamily="34" charset="-122"/>
                <a:cs typeface="Calibri" pitchFamily="34" charset="-120"/>
              </a:rPr>
              <a:t>academie.groupebm.net · groupebm.net</a:t>
            </a:r>
            <a:endParaRPr lang="en-US" sz="1000" dirty="0"/>
          </a:p>
        </p:txBody>
      </p:sp>
      <p:pic>
        <p:nvPicPr>
          <p:cNvPr id="12" name="Image 1" descr="/Users/nbawana/Desktop/COWORK/CLAUDE-CODE/togo-academy/public/gbm-logo.png">    </p:cNvPr>
          <p:cNvPicPr>
            <a:picLocks noChangeAspect="1"/>
          </p:cNvPicPr>
          <p:nvPr/>
        </p:nvPicPr>
        <p:blipFill>
          <a:blip r:embed="rId2"/>
          <a:stretch>
            <a:fillRect/>
          </a:stretch>
        </p:blipFill>
        <p:spPr>
          <a:xfrm>
            <a:off x="10241280" y="5120640"/>
            <a:ext cx="73152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2026-07-18T06:43:37Z</dcterms:created>
  <dcterms:modified xsi:type="dcterms:W3CDTF">2026-07-18T06:43:37Z</dcterms:modified>
</cp:coreProperties>
</file>