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et merci d'être là. Je suis Niyem Bawana, fondateur de Togo Academy. Si vous êtes ici, c'est que vous avez envie de mettre votre talent au service d'un projet qui compte. Laissez-moi vous raconter l'aventure que nous construisons, et la place qui vous y attend.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mission, c'est de donner à chaque élève togolais, où qu'il soit, les mêmes leçons de qualité et le même accompagnement. Pour y arriver, nous réunissons des enseignants, des pédagogues et des ingénieurs autour d'un même objectif : démocratiser l'éducation scientifique et ouvrir les portes de l'avenir.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que nous construisons, c'est une plateforme complète. Du contenu scientifique en vidéo et en cours écrits. Une pédagogie augmentée par l'intelligence artificielle, avec un tuteur et une correction automatique des examens. Et une plateforme moderne, rapide et fiable, pensée d'abord pour le mobile.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technique, c'est un vrai terrain de jeu. Une interface rapide et fluide. Des données sécurisées. De l'intelligence artificielle à grande échelle. Une conception pensée pour le mobile, une livraison continue, et surtout un impact réel : ce que vous construisez sert de vrais élèves, tout de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Quels profils cherchons-nous ? Des tuteurs, enseignants togolais, pour les séances en direct et la validation des contenus. Des consultants pédagogiques, experts par matière. Des ingénieurs développeurs, en web, en intelligence artificielle et en données. Et des créateurs de contenu, pour scénariser et monter nos leçons.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travaillons-nous ? À distance, d'où que vous soyez. À la mission ou en continu, selon votre disponibilité. Et toujours en équipe pluridisciplinaire, où pédagogues et ingénieurs avancent côte à côte vers le même objectif.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nous rejoindre ? Pour un travail qui a du sens, au service de l'éducation de votre pays. Pour grandir avec une plateforme en pleine expansion. Pour la flexibilité, à distance et à votre rythme. Et pour l'écosystème Groupe BM qui vous entoure.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qui nous rassemble, ce sont nos valeurs. L'impact d'abord : chaque décision se juge à ce qu'elle apporte aux élèves. L'exigence pédagogique, sans compromis sur la qualité. L'entraide entre métiers. Et la curiosité : nous apprenons en continu, comme les élèves que nous servons.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rejoindre, c'est aussi entrer dans un groupe déjà établi. Togo Academy est un département de Groupe BM, présent dans l'éducation, l'immigration, les services et l'ingénierie. Vous bénéficiez de ses ressources et de son réseau.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vous grandirez avec la plateforme. D'abord consolider le Togo et servir de plus en plus d'élèves. Ensuite grandir en équipe, en faisant évoluer chacun avec le projet. Enfin rayonner dans toute l'Afrique francophone.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rejoindre est très simple, en trois étapes. Écrivez-nous et présentez-vous. Échangeons pour comprendre votre profil et vos envies. Puis démarrons ensemble par une première mission. Vous pouvez nous joindre à info arobase groupebm point 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Bâtissons ensemble l'avenir de l'éducation togolaise. Que vous soyez tuteur, pédagogue, ingénieur ou créateur, il y a une place pour vous. Rejoignez une équipe qui change des vies, une leçon à la fois. Merci.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6F40"/>
        </a:solidFill>
      </p:bgPr>
    </p:bg>
    <p:spTree>
      <p:nvGrpSpPr>
        <p:cNvPr id="1" name=""/>
        <p:cNvGrpSpPr/>
        <p:nvPr/>
      </p:nvGrpSpPr>
      <p:grpSpPr>
        <a:xfrm>
          <a:off x="0" y="0"/>
          <a:ext cx="0" cy="0"/>
          <a:chOff x="0" y="0"/>
          <a:chExt cx="0" cy="0"/>
        </a:xfrm>
      </p:grpSpPr>
      <p:sp>
        <p:nvSpPr>
          <p:cNvPr id="2" name="Shape 0"/>
          <p:cNvSpPr/>
          <p:nvPr/>
        </p:nvSpPr>
        <p:spPr>
          <a:xfrm>
            <a:off x="548640" y="502920"/>
            <a:ext cx="1051560" cy="1051560"/>
          </a:xfrm>
          <a:prstGeom prst="roundRect">
            <a:avLst>
              <a:gd name="adj" fmla="val 18000"/>
            </a:avLst>
          </a:prstGeom>
          <a:solidFill>
            <a:srgbClr val="FFFFFF"/>
          </a:solidFill>
          <a:ln/>
          <a:effectLst>
            <a:outerShdw sx="100000" sy="100000" kx="0" ky="0" algn="bl" rotWithShape="0" blurRad="76200" dist="25400" dir="5400000">
              <a:srgbClr val="000000">
                <a:alpha val="18000"/>
              </a:srgbClr>
            </a:outerShdw>
          </a:effectLst>
        </p:spPr>
      </p:sp>
      <p:pic>
        <p:nvPicPr>
          <p:cNvPr id="3" name="Image 0" descr="/Users/nbawana/Desktop/COWORK/CLAUDE-CODE/togo-academy/public/togo-academy-logo.png">    </p:cNvPr>
          <p:cNvPicPr>
            <a:picLocks noChangeAspect="1"/>
          </p:cNvPicPr>
          <p:nvPr/>
        </p:nvPicPr>
        <p:blipFill>
          <a:blip r:embed="rId1"/>
          <a:stretch>
            <a:fillRect/>
          </a:stretch>
        </p:blipFill>
        <p:spPr>
          <a:xfrm>
            <a:off x="632765" y="587045"/>
            <a:ext cx="883310" cy="883310"/>
          </a:xfrm>
          <a:prstGeom prst="ellipse">
            <a:avLst/>
          </a:prstGeom>
        </p:spPr>
      </p:pic>
      <p:sp>
        <p:nvSpPr>
          <p:cNvPr id="4" name="Text 1"/>
          <p:cNvSpPr/>
          <p:nvPr/>
        </p:nvSpPr>
        <p:spPr>
          <a:xfrm>
            <a:off x="1783080" y="713232"/>
            <a:ext cx="2743200" cy="36576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ea typeface="Cambria" pitchFamily="34" charset="-122"/>
                <a:cs typeface="Cambria" pitchFamily="34" charset="-120"/>
              </a:rPr>
              <a:t>Togo</a:t>
            </a:r>
            <a:pPr algn="l" indent="0" marL="0">
              <a:buNone/>
            </a:pPr>
            <a:r>
              <a:rPr lang="en-US" sz="2400" b="1" dirty="0">
                <a:solidFill>
                  <a:srgbClr val="FFCE00"/>
                </a:solidFill>
                <a:latin typeface="Cambria" pitchFamily="34" charset="0"/>
                <a:ea typeface="Cambria" pitchFamily="34" charset="-122"/>
                <a:cs typeface="Cambria" pitchFamily="34" charset="-120"/>
              </a:rPr>
              <a:t>Academy</a:t>
            </a:r>
            <a:endParaRPr lang="en-US" sz="2400" dirty="0"/>
          </a:p>
        </p:txBody>
      </p:sp>
      <p:sp>
        <p:nvSpPr>
          <p:cNvPr id="5" name="Text 2"/>
          <p:cNvSpPr/>
          <p:nvPr/>
        </p:nvSpPr>
        <p:spPr>
          <a:xfrm>
            <a:off x="566928" y="1965960"/>
            <a:ext cx="8229600" cy="320040"/>
          </a:xfrm>
          <a:prstGeom prst="rect">
            <a:avLst/>
          </a:prstGeom>
          <a:noFill/>
          <a:ln/>
        </p:spPr>
        <p:txBody>
          <a:bodyPr wrap="square" lIns="0" tIns="0" rIns="0" bIns="0" rtlCol="0" anchor="ctr"/>
          <a:lstStyle/>
          <a:p>
            <a:pPr algn="l" indent="0" marL="0">
              <a:buNone/>
            </a:pPr>
            <a:r>
              <a:rPr lang="en-US" sz="1300" b="1" spc="300" kern="0" dirty="0">
                <a:solidFill>
                  <a:srgbClr val="FFCE00"/>
                </a:solidFill>
                <a:latin typeface="Calibri" pitchFamily="34" charset="0"/>
                <a:ea typeface="Calibri" pitchFamily="34" charset="-122"/>
                <a:cs typeface="Calibri" pitchFamily="34" charset="-120"/>
              </a:rPr>
              <a:t>TUTEURS · CONSULTANTS · INGÉNIEURS</a:t>
            </a:r>
            <a:endParaRPr lang="en-US" sz="1300" dirty="0"/>
          </a:p>
        </p:txBody>
      </p:sp>
      <p:sp>
        <p:nvSpPr>
          <p:cNvPr id="6" name="Text 3"/>
          <p:cNvSpPr/>
          <p:nvPr/>
        </p:nvSpPr>
        <p:spPr>
          <a:xfrm>
            <a:off x="548640" y="2377440"/>
            <a:ext cx="10789920" cy="1828800"/>
          </a:xfrm>
          <a:prstGeom prst="rect">
            <a:avLst/>
          </a:prstGeom>
          <a:noFill/>
          <a:ln/>
        </p:spPr>
        <p:txBody>
          <a:bodyPr wrap="square" lIns="0" tIns="0" rIns="0" bIns="0" rtlCol="0" anchor="ctr"/>
          <a:lstStyle/>
          <a:p>
            <a:pPr algn="l" indent="0" marL="0">
              <a:lnSpc>
                <a:spcPct val="102000"/>
              </a:lnSpc>
              <a:buNone/>
            </a:pPr>
            <a:r>
              <a:rPr lang="en-US" sz="4400" b="1" dirty="0">
                <a:solidFill>
                  <a:srgbClr val="FFFFFF"/>
                </a:solidFill>
                <a:latin typeface="Cambria" pitchFamily="34" charset="0"/>
                <a:ea typeface="Cambria" pitchFamily="34" charset="-122"/>
                <a:cs typeface="Cambria" pitchFamily="34" charset="-120"/>
              </a:rPr>
              <a:t>Rejoignez l'aventure</a:t>
            </a:r>
            <a:endParaRPr lang="en-US" sz="4400" dirty="0"/>
          </a:p>
          <a:p>
            <a:pPr algn="l" indent="0" marL="0">
              <a:lnSpc>
                <a:spcPct val="102000"/>
              </a:lnSpc>
              <a:buNone/>
            </a:pPr>
            <a:r>
              <a:rPr lang="en-US" sz="4400" b="1" dirty="0">
                <a:solidFill>
                  <a:srgbClr val="FFFFFF"/>
                </a:solidFill>
                <a:latin typeface="Cambria" pitchFamily="34" charset="0"/>
                <a:ea typeface="Cambria" pitchFamily="34" charset="-122"/>
                <a:cs typeface="Cambria" pitchFamily="34" charset="-120"/>
              </a:rPr>
              <a:t>Togo Academy.</a:t>
            </a:r>
            <a:endParaRPr lang="en-US" sz="4400" dirty="0"/>
          </a:p>
        </p:txBody>
      </p:sp>
      <p:sp>
        <p:nvSpPr>
          <p:cNvPr id="7" name="Text 4"/>
          <p:cNvSpPr/>
          <p:nvPr/>
        </p:nvSpPr>
        <p:spPr>
          <a:xfrm>
            <a:off x="566928" y="4434840"/>
            <a:ext cx="10058400" cy="731520"/>
          </a:xfrm>
          <a:prstGeom prst="rect">
            <a:avLst/>
          </a:prstGeom>
          <a:noFill/>
          <a:ln/>
        </p:spPr>
        <p:txBody>
          <a:bodyPr wrap="square" lIns="0" tIns="0" rIns="0" bIns="0" rtlCol="0" anchor="ctr"/>
          <a:lstStyle/>
          <a:p>
            <a:pPr algn="l" indent="0" marL="0">
              <a:buNone/>
            </a:pPr>
            <a:r>
              <a:rPr lang="en-US" sz="1600" dirty="0">
                <a:solidFill>
                  <a:srgbClr val="CDEFDB"/>
                </a:solidFill>
                <a:latin typeface="Calibri" pitchFamily="34" charset="0"/>
                <a:ea typeface="Calibri" pitchFamily="34" charset="-122"/>
                <a:cs typeface="Calibri" pitchFamily="34" charset="-120"/>
              </a:rPr>
              <a:t>Nous construisons la référence STIM de l'éducation en ligne au Togo.</a:t>
            </a:r>
            <a:endParaRPr lang="en-US" sz="1600" dirty="0"/>
          </a:p>
        </p:txBody>
      </p:sp>
      <p:sp>
        <p:nvSpPr>
          <p:cNvPr id="8" name="Shape 5"/>
          <p:cNvSpPr/>
          <p:nvPr/>
        </p:nvSpPr>
        <p:spPr>
          <a:xfrm>
            <a:off x="9997135" y="6035040"/>
            <a:ext cx="292608" cy="292608"/>
          </a:xfrm>
          <a:prstGeom prst="oval">
            <a:avLst/>
          </a:prstGeom>
          <a:solidFill>
            <a:srgbClr val="0B8457"/>
          </a:solidFill>
          <a:ln/>
        </p:spPr>
      </p:sp>
      <p:sp>
        <p:nvSpPr>
          <p:cNvPr id="9" name="Shape 6"/>
          <p:cNvSpPr/>
          <p:nvPr/>
        </p:nvSpPr>
        <p:spPr>
          <a:xfrm>
            <a:off x="10454335" y="6035040"/>
            <a:ext cx="292608" cy="292608"/>
          </a:xfrm>
          <a:prstGeom prst="oval">
            <a:avLst/>
          </a:prstGeom>
          <a:solidFill>
            <a:srgbClr val="FFCE00"/>
          </a:solidFill>
          <a:ln/>
        </p:spPr>
      </p:sp>
      <p:sp>
        <p:nvSpPr>
          <p:cNvPr id="10" name="Shape 7"/>
          <p:cNvSpPr/>
          <p:nvPr/>
        </p:nvSpPr>
        <p:spPr>
          <a:xfrm>
            <a:off x="10911535" y="6035040"/>
            <a:ext cx="292608" cy="292608"/>
          </a:xfrm>
          <a:prstGeom prst="oval">
            <a:avLst/>
          </a:prstGeom>
          <a:solidFill>
            <a:srgbClr val="D21034"/>
          </a:solidFill>
          <a:ln/>
        </p:spPr>
      </p:sp>
      <p:pic>
        <p:nvPicPr>
          <p:cNvPr id="11" name="Image 1" descr="/Users/nbawana/Desktop/COWORK/CLAUDE-CODE/togo-academy/public/gbm-logo.png">    </p:cNvPr>
          <p:cNvPicPr>
            <a:picLocks noChangeAspect="1"/>
          </p:cNvPicPr>
          <p:nvPr/>
        </p:nvPicPr>
        <p:blipFill>
          <a:blip r:embed="rId2"/>
          <a:stretch>
            <a:fillRect/>
          </a:stretch>
        </p:blipFill>
        <p:spPr>
          <a:xfrm>
            <a:off x="548640" y="6080760"/>
            <a:ext cx="365760" cy="365760"/>
          </a:xfrm>
          <a:prstGeom prst="rect">
            <a:avLst/>
          </a:prstGeom>
        </p:spPr>
      </p:pic>
      <p:sp>
        <p:nvSpPr>
          <p:cNvPr id="12" name="Text 8"/>
          <p:cNvSpPr/>
          <p:nvPr/>
        </p:nvSpPr>
        <p:spPr>
          <a:xfrm>
            <a:off x="1005840" y="6080760"/>
            <a:ext cx="8229600" cy="365760"/>
          </a:xfrm>
          <a:prstGeom prst="rect">
            <a:avLst/>
          </a:prstGeom>
          <a:noFill/>
          <a:ln/>
        </p:spPr>
        <p:txBody>
          <a:bodyPr wrap="square" lIns="0" tIns="0" rIns="0" bIns="0" rtlCol="0" anchor="ctr"/>
          <a:lstStyle/>
          <a:p>
            <a:pPr algn="l" indent="0" marL="0">
              <a:buNone/>
            </a:pPr>
            <a:r>
              <a:rPr lang="en-US" sz="1100" dirty="0">
                <a:solidFill>
                  <a:srgbClr val="CDEFDB"/>
                </a:solidFill>
                <a:latin typeface="Calibri" pitchFamily="34" charset="0"/>
                <a:ea typeface="Calibri" pitchFamily="34" charset="-122"/>
                <a:cs typeface="Calibri" pitchFamily="34" charset="-120"/>
              </a:rPr>
              <a:t>Un département de Groupe BM  ·  academie.groupebm.net</a:t>
            </a:r>
            <a:endParaRPr lang="en-US" sz="1100" dirty="0"/>
          </a:p>
        </p:txBody>
      </p:sp>
      <p:sp>
        <p:nvSpPr>
          <p:cNvPr id="13" name="Text 9"/>
          <p:cNvSpPr/>
          <p:nvPr/>
        </p:nvSpPr>
        <p:spPr>
          <a:xfrm>
            <a:off x="566928" y="5212080"/>
            <a:ext cx="8229600" cy="320040"/>
          </a:xfrm>
          <a:prstGeom prst="rect">
            <a:avLst/>
          </a:prstGeom>
          <a:noFill/>
          <a:ln/>
        </p:spPr>
        <p:txBody>
          <a:bodyPr wrap="square" lIns="0" tIns="0" rIns="0" bIns="0" rtlCol="0" anchor="ctr"/>
          <a:lstStyle/>
          <a:p>
            <a:pPr algn="l" indent="0" marL="0">
              <a:buNone/>
            </a:pPr>
            <a:r>
              <a:rPr lang="en-US" sz="1300" dirty="0">
                <a:solidFill>
                  <a:srgbClr val="CDEFDB"/>
                </a:solidFill>
                <a:latin typeface="Calibri" pitchFamily="34" charset="0"/>
                <a:ea typeface="Calibri" pitchFamily="34" charset="-122"/>
                <a:cs typeface="Calibri" pitchFamily="34" charset="-120"/>
              </a:rPr>
              <a:t>Présenté par  </a:t>
            </a:r>
            <a:pPr algn="l" indent="0" marL="0">
              <a:buNone/>
            </a:pPr>
            <a:r>
              <a:rPr lang="en-US" sz="1300" b="1" dirty="0">
                <a:solidFill>
                  <a:srgbClr val="FFFFFF"/>
                </a:solidFill>
                <a:latin typeface="Calibri" pitchFamily="34" charset="0"/>
                <a:ea typeface="Calibri" pitchFamily="34" charset="-122"/>
                <a:cs typeface="Calibri" pitchFamily="34" charset="-120"/>
              </a:rPr>
              <a:t>Niyem M. Bawana, Ph.D.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POURQUOI NOUS</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Notre mission</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02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Text 6"/>
          <p:cNvSpPr/>
          <p:nvPr/>
        </p:nvSpPr>
        <p:spPr>
          <a:xfrm>
            <a:off x="548640" y="1828800"/>
            <a:ext cx="6400800" cy="2926080"/>
          </a:xfrm>
          <a:prstGeom prst="rect">
            <a:avLst/>
          </a:prstGeom>
          <a:noFill/>
          <a:ln/>
        </p:spPr>
        <p:txBody>
          <a:bodyPr wrap="square" lIns="0" tIns="0" rIns="0" bIns="0" rtlCol="0" anchor="ctr"/>
          <a:lstStyle/>
          <a:p>
            <a:pPr algn="l" indent="0" marL="0">
              <a:lnSpc>
                <a:spcPct val="118000"/>
              </a:lnSpc>
              <a:spcAft>
                <a:spcPts val="1200"/>
              </a:spcAft>
              <a:buNone/>
            </a:pPr>
            <a:r>
              <a:rPr lang="en-US" sz="1600" dirty="0">
                <a:solidFill>
                  <a:srgbClr val="1A2B26"/>
                </a:solidFill>
                <a:latin typeface="Calibri" pitchFamily="34" charset="0"/>
                <a:ea typeface="Calibri" pitchFamily="34" charset="-122"/>
                <a:cs typeface="Calibri" pitchFamily="34" charset="-120"/>
              </a:rPr>
              <a:t>Donner à chaque élève togolais, où qu'il soit, les mêmes leçons de qualité et le même accompagnement.</a:t>
            </a:r>
            <a:endParaRPr lang="en-US" sz="1600" dirty="0"/>
          </a:p>
          <a:p>
            <a:pPr algn="l" indent="0" marL="0">
              <a:lnSpc>
                <a:spcPct val="118000"/>
              </a:lnSpc>
              <a:buNone/>
            </a:pPr>
            <a:r>
              <a:rPr lang="en-US" sz="1600" dirty="0">
                <a:solidFill>
                  <a:srgbClr val="1A2B26"/>
                </a:solidFill>
                <a:latin typeface="Calibri" pitchFamily="34" charset="0"/>
                <a:ea typeface="Calibri" pitchFamily="34" charset="-122"/>
                <a:cs typeface="Calibri" pitchFamily="34" charset="-120"/>
              </a:rPr>
              <a:t>Nous réunissons des enseignants, des pédagogues et des ingénieurs autour d'un objectif commun : démocratiser l'éducation STIM et ouvrir les portes de l'avenir.</a:t>
            </a:r>
            <a:endParaRPr lang="en-US" sz="1600" dirty="0"/>
          </a:p>
        </p:txBody>
      </p:sp>
      <p:sp>
        <p:nvSpPr>
          <p:cNvPr id="11" name="Shape 7"/>
          <p:cNvSpPr/>
          <p:nvPr/>
        </p:nvSpPr>
        <p:spPr>
          <a:xfrm>
            <a:off x="7223760" y="1828800"/>
            <a:ext cx="4389120" cy="1417320"/>
          </a:xfrm>
          <a:prstGeom prst="roundRect">
            <a:avLst>
              <a:gd name="adj" fmla="val 7742"/>
            </a:avLst>
          </a:prstGeom>
          <a:solidFill>
            <a:srgbClr val="EAFAF1"/>
          </a:solidFill>
          <a:ln w="12700">
            <a:solidFill>
              <a:srgbClr val="CDEFDB"/>
            </a:solidFill>
            <a:prstDash val="solid"/>
          </a:ln>
        </p:spPr>
      </p:sp>
      <p:sp>
        <p:nvSpPr>
          <p:cNvPr id="12" name="Shape 8"/>
          <p:cNvSpPr/>
          <p:nvPr/>
        </p:nvSpPr>
        <p:spPr>
          <a:xfrm>
            <a:off x="7479792" y="2084832"/>
            <a:ext cx="603504" cy="603504"/>
          </a:xfrm>
          <a:prstGeom prst="roundRect">
            <a:avLst>
              <a:gd name="adj" fmla="val 30303"/>
            </a:avLst>
          </a:prstGeom>
          <a:solidFill>
            <a:srgbClr val="0B8457"/>
          </a:solidFill>
          <a:ln/>
        </p:spPr>
      </p:sp>
      <p:sp>
        <p:nvSpPr>
          <p:cNvPr id="13" name="Text 9"/>
          <p:cNvSpPr/>
          <p:nvPr/>
        </p:nvSpPr>
        <p:spPr>
          <a:xfrm>
            <a:off x="7479792" y="208483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4" name="Text 10"/>
          <p:cNvSpPr/>
          <p:nvPr/>
        </p:nvSpPr>
        <p:spPr>
          <a:xfrm>
            <a:off x="8229600" y="2029968"/>
            <a:ext cx="315468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Un impact réel</a:t>
            </a:r>
            <a:endParaRPr lang="en-US" sz="1450" dirty="0"/>
          </a:p>
        </p:txBody>
      </p:sp>
      <p:sp>
        <p:nvSpPr>
          <p:cNvPr id="15" name="Text 11"/>
          <p:cNvSpPr/>
          <p:nvPr/>
        </p:nvSpPr>
        <p:spPr>
          <a:xfrm>
            <a:off x="7498080" y="2743200"/>
            <a:ext cx="3840480" cy="36576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Des milliers d'élèves à servir.</a:t>
            </a:r>
            <a:endParaRPr lang="en-US" sz="1200" dirty="0"/>
          </a:p>
        </p:txBody>
      </p:sp>
      <p:sp>
        <p:nvSpPr>
          <p:cNvPr id="16" name="Shape 12"/>
          <p:cNvSpPr/>
          <p:nvPr/>
        </p:nvSpPr>
        <p:spPr>
          <a:xfrm>
            <a:off x="7223760" y="3337560"/>
            <a:ext cx="4389120" cy="1417320"/>
          </a:xfrm>
          <a:prstGeom prst="roundRect">
            <a:avLst>
              <a:gd name="adj" fmla="val 7742"/>
            </a:avLst>
          </a:prstGeom>
          <a:solidFill>
            <a:srgbClr val="EAFAF1"/>
          </a:solidFill>
          <a:ln w="12700">
            <a:solidFill>
              <a:srgbClr val="CDEFDB"/>
            </a:solidFill>
            <a:prstDash val="solid"/>
          </a:ln>
        </p:spPr>
      </p:sp>
      <p:sp>
        <p:nvSpPr>
          <p:cNvPr id="17" name="Shape 13"/>
          <p:cNvSpPr/>
          <p:nvPr/>
        </p:nvSpPr>
        <p:spPr>
          <a:xfrm>
            <a:off x="7479792" y="3593592"/>
            <a:ext cx="603504" cy="603504"/>
          </a:xfrm>
          <a:prstGeom prst="roundRect">
            <a:avLst>
              <a:gd name="adj" fmla="val 30303"/>
            </a:avLst>
          </a:prstGeom>
          <a:solidFill>
            <a:srgbClr val="2E6F40"/>
          </a:solidFill>
          <a:ln/>
        </p:spPr>
      </p:sp>
      <p:sp>
        <p:nvSpPr>
          <p:cNvPr id="18" name="Text 14"/>
          <p:cNvSpPr/>
          <p:nvPr/>
        </p:nvSpPr>
        <p:spPr>
          <a:xfrm>
            <a:off x="7479792" y="359359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9" name="Text 15"/>
          <p:cNvSpPr/>
          <p:nvPr/>
        </p:nvSpPr>
        <p:spPr>
          <a:xfrm>
            <a:off x="8229600" y="3538728"/>
            <a:ext cx="315468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Une plateforme qui grandit</a:t>
            </a:r>
            <a:endParaRPr lang="en-US" sz="1450" dirty="0"/>
          </a:p>
        </p:txBody>
      </p:sp>
      <p:sp>
        <p:nvSpPr>
          <p:cNvPr id="20" name="Text 16"/>
          <p:cNvSpPr/>
          <p:nvPr/>
        </p:nvSpPr>
        <p:spPr>
          <a:xfrm>
            <a:off x="7498080" y="4251960"/>
            <a:ext cx="3840480" cy="36576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Du Togo à l'Afrique francophone.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LA PLATEFORME</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Ce que nous construisons</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03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3566160" cy="3291840"/>
          </a:xfrm>
          <a:prstGeom prst="roundRect">
            <a:avLst>
              <a:gd name="adj" fmla="val 3333"/>
            </a:avLst>
          </a:prstGeom>
          <a:solidFill>
            <a:srgbClr val="EAFAF1"/>
          </a:solidFill>
          <a:ln w="12700">
            <a:solidFill>
              <a:srgbClr val="CDEFDB"/>
            </a:solidFill>
            <a:prstDash val="solid"/>
          </a:ln>
        </p:spPr>
      </p:sp>
      <p:sp>
        <p:nvSpPr>
          <p:cNvPr id="11" name="Shape 7"/>
          <p:cNvSpPr/>
          <p:nvPr/>
        </p:nvSpPr>
        <p:spPr>
          <a:xfrm>
            <a:off x="804672" y="2039112"/>
            <a:ext cx="603504" cy="603504"/>
          </a:xfrm>
          <a:prstGeom prst="roundRect">
            <a:avLst>
              <a:gd name="adj" fmla="val 30303"/>
            </a:avLst>
          </a:prstGeom>
          <a:solidFill>
            <a:srgbClr val="0B8457"/>
          </a:solidFill>
          <a:ln/>
        </p:spPr>
      </p:sp>
      <p:sp>
        <p:nvSpPr>
          <p:cNvPr id="12" name="Text 8"/>
          <p:cNvSpPr/>
          <p:nvPr/>
        </p:nvSpPr>
        <p:spPr>
          <a:xfrm>
            <a:off x="80467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9"/>
          <p:cNvSpPr/>
          <p:nvPr/>
        </p:nvSpPr>
        <p:spPr>
          <a:xfrm>
            <a:off x="1554480" y="1984248"/>
            <a:ext cx="23317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Contenu STIM</a:t>
            </a:r>
            <a:endParaRPr lang="en-US" sz="1450" dirty="0"/>
          </a:p>
        </p:txBody>
      </p:sp>
      <p:sp>
        <p:nvSpPr>
          <p:cNvPr id="14" name="Text 10"/>
          <p:cNvSpPr/>
          <p:nvPr/>
        </p:nvSpPr>
        <p:spPr>
          <a:xfrm>
            <a:off x="822960" y="2697480"/>
            <a:ext cx="3017520" cy="224028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Vidéos APC, cours, quiz et examens aux formats officiels (CEPD, BEPC, BAC).</a:t>
            </a:r>
            <a:endParaRPr lang="en-US" sz="1200" dirty="0"/>
          </a:p>
        </p:txBody>
      </p:sp>
      <p:sp>
        <p:nvSpPr>
          <p:cNvPr id="15" name="Shape 11"/>
          <p:cNvSpPr/>
          <p:nvPr/>
        </p:nvSpPr>
        <p:spPr>
          <a:xfrm>
            <a:off x="4251960" y="1783080"/>
            <a:ext cx="3566160" cy="3291840"/>
          </a:xfrm>
          <a:prstGeom prst="roundRect">
            <a:avLst>
              <a:gd name="adj" fmla="val 3333"/>
            </a:avLst>
          </a:prstGeom>
          <a:solidFill>
            <a:srgbClr val="EAFAF1"/>
          </a:solidFill>
          <a:ln w="12700">
            <a:solidFill>
              <a:srgbClr val="CDEFDB"/>
            </a:solidFill>
            <a:prstDash val="solid"/>
          </a:ln>
        </p:spPr>
      </p:sp>
      <p:sp>
        <p:nvSpPr>
          <p:cNvPr id="16" name="Shape 12"/>
          <p:cNvSpPr/>
          <p:nvPr/>
        </p:nvSpPr>
        <p:spPr>
          <a:xfrm>
            <a:off x="4507992" y="2039112"/>
            <a:ext cx="603504" cy="603504"/>
          </a:xfrm>
          <a:prstGeom prst="roundRect">
            <a:avLst>
              <a:gd name="adj" fmla="val 30303"/>
            </a:avLst>
          </a:prstGeom>
          <a:solidFill>
            <a:srgbClr val="2E6F40"/>
          </a:solidFill>
          <a:ln/>
        </p:spPr>
      </p:sp>
      <p:sp>
        <p:nvSpPr>
          <p:cNvPr id="17" name="Text 13"/>
          <p:cNvSpPr/>
          <p:nvPr/>
        </p:nvSpPr>
        <p:spPr>
          <a:xfrm>
            <a:off x="450799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4"/>
          <p:cNvSpPr/>
          <p:nvPr/>
        </p:nvSpPr>
        <p:spPr>
          <a:xfrm>
            <a:off x="5257800" y="1984248"/>
            <a:ext cx="23317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IA pédagogique</a:t>
            </a:r>
            <a:endParaRPr lang="en-US" sz="1450" dirty="0"/>
          </a:p>
        </p:txBody>
      </p:sp>
      <p:sp>
        <p:nvSpPr>
          <p:cNvPr id="19" name="Text 15"/>
          <p:cNvSpPr/>
          <p:nvPr/>
        </p:nvSpPr>
        <p:spPr>
          <a:xfrm>
            <a:off x="4526280" y="2697480"/>
            <a:ext cx="3017520" cy="224028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Tuteur socratique et correction d'examens par IA.</a:t>
            </a:r>
            <a:endParaRPr lang="en-US" sz="1200" dirty="0"/>
          </a:p>
        </p:txBody>
      </p:sp>
      <p:sp>
        <p:nvSpPr>
          <p:cNvPr id="20" name="Shape 16"/>
          <p:cNvSpPr/>
          <p:nvPr/>
        </p:nvSpPr>
        <p:spPr>
          <a:xfrm>
            <a:off x="7955280" y="1783080"/>
            <a:ext cx="3566160" cy="3291840"/>
          </a:xfrm>
          <a:prstGeom prst="roundRect">
            <a:avLst>
              <a:gd name="adj" fmla="val 3333"/>
            </a:avLst>
          </a:prstGeom>
          <a:solidFill>
            <a:srgbClr val="EAFAF1"/>
          </a:solidFill>
          <a:ln w="12700">
            <a:solidFill>
              <a:srgbClr val="CDEFDB"/>
            </a:solidFill>
            <a:prstDash val="solid"/>
          </a:ln>
        </p:spPr>
      </p:sp>
      <p:sp>
        <p:nvSpPr>
          <p:cNvPr id="21" name="Shape 17"/>
          <p:cNvSpPr/>
          <p:nvPr/>
        </p:nvSpPr>
        <p:spPr>
          <a:xfrm>
            <a:off x="8211312" y="2039112"/>
            <a:ext cx="603504" cy="603504"/>
          </a:xfrm>
          <a:prstGeom prst="roundRect">
            <a:avLst>
              <a:gd name="adj" fmla="val 30303"/>
            </a:avLst>
          </a:prstGeom>
          <a:solidFill>
            <a:srgbClr val="D21034"/>
          </a:solidFill>
          <a:ln/>
        </p:spPr>
      </p:sp>
      <p:sp>
        <p:nvSpPr>
          <p:cNvPr id="22" name="Text 18"/>
          <p:cNvSpPr/>
          <p:nvPr/>
        </p:nvSpPr>
        <p:spPr>
          <a:xfrm>
            <a:off x="821131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19"/>
          <p:cNvSpPr/>
          <p:nvPr/>
        </p:nvSpPr>
        <p:spPr>
          <a:xfrm>
            <a:off x="8961120" y="1984248"/>
            <a:ext cx="23317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Plateforme moderne</a:t>
            </a:r>
            <a:endParaRPr lang="en-US" sz="1450" dirty="0"/>
          </a:p>
        </p:txBody>
      </p:sp>
      <p:sp>
        <p:nvSpPr>
          <p:cNvPr id="24" name="Text 20"/>
          <p:cNvSpPr/>
          <p:nvPr/>
        </p:nvSpPr>
        <p:spPr>
          <a:xfrm>
            <a:off x="8229600" y="2697480"/>
            <a:ext cx="3017520" cy="224028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Rapide, fiable et pensée d'abord pour le mobile.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NOTRE STACK</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Des outils modernes, un vrai terrain de jeu</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04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3520440" cy="1600200"/>
          </a:xfrm>
          <a:prstGeom prst="roundRect">
            <a:avLst>
              <a:gd name="adj" fmla="val 6857"/>
            </a:avLst>
          </a:prstGeom>
          <a:solidFill>
            <a:srgbClr val="EAFAF1"/>
          </a:solidFill>
          <a:ln w="12700">
            <a:solidFill>
              <a:srgbClr val="CDEFDB"/>
            </a:solidFill>
            <a:prstDash val="solid"/>
          </a:ln>
        </p:spPr>
      </p:sp>
      <p:sp>
        <p:nvSpPr>
          <p:cNvPr id="11" name="Shape 7"/>
          <p:cNvSpPr/>
          <p:nvPr/>
        </p:nvSpPr>
        <p:spPr>
          <a:xfrm>
            <a:off x="804672" y="2039112"/>
            <a:ext cx="603504" cy="603504"/>
          </a:xfrm>
          <a:prstGeom prst="roundRect">
            <a:avLst>
              <a:gd name="adj" fmla="val 30303"/>
            </a:avLst>
          </a:prstGeom>
          <a:solidFill>
            <a:srgbClr val="0B8457"/>
          </a:solidFill>
          <a:ln/>
        </p:spPr>
      </p:sp>
      <p:sp>
        <p:nvSpPr>
          <p:cNvPr id="12" name="Text 8"/>
          <p:cNvSpPr/>
          <p:nvPr/>
        </p:nvSpPr>
        <p:spPr>
          <a:xfrm>
            <a:off x="80467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9"/>
          <p:cNvSpPr/>
          <p:nvPr/>
        </p:nvSpPr>
        <p:spPr>
          <a:xfrm>
            <a:off x="1554480" y="1984248"/>
            <a:ext cx="228600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Interface rapide</a:t>
            </a:r>
            <a:endParaRPr lang="en-US" sz="1450" dirty="0"/>
          </a:p>
        </p:txBody>
      </p:sp>
      <p:sp>
        <p:nvSpPr>
          <p:cNvPr id="14" name="Text 10"/>
          <p:cNvSpPr/>
          <p:nvPr/>
        </p:nvSpPr>
        <p:spPr>
          <a:xfrm>
            <a:off x="822960" y="2697480"/>
            <a:ext cx="2971800" cy="54864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Une expérience fluide et moderne sur toute la plateforme.</a:t>
            </a:r>
            <a:endParaRPr lang="en-US" sz="1200" dirty="0"/>
          </a:p>
        </p:txBody>
      </p:sp>
      <p:sp>
        <p:nvSpPr>
          <p:cNvPr id="15" name="Shape 11"/>
          <p:cNvSpPr/>
          <p:nvPr/>
        </p:nvSpPr>
        <p:spPr>
          <a:xfrm>
            <a:off x="4251960" y="1783080"/>
            <a:ext cx="3520440" cy="1600200"/>
          </a:xfrm>
          <a:prstGeom prst="roundRect">
            <a:avLst>
              <a:gd name="adj" fmla="val 6857"/>
            </a:avLst>
          </a:prstGeom>
          <a:solidFill>
            <a:srgbClr val="EAFAF1"/>
          </a:solidFill>
          <a:ln w="12700">
            <a:solidFill>
              <a:srgbClr val="CDEFDB"/>
            </a:solidFill>
            <a:prstDash val="solid"/>
          </a:ln>
        </p:spPr>
      </p:sp>
      <p:sp>
        <p:nvSpPr>
          <p:cNvPr id="16" name="Shape 12"/>
          <p:cNvSpPr/>
          <p:nvPr/>
        </p:nvSpPr>
        <p:spPr>
          <a:xfrm>
            <a:off x="4507992" y="2039112"/>
            <a:ext cx="603504" cy="603504"/>
          </a:xfrm>
          <a:prstGeom prst="roundRect">
            <a:avLst>
              <a:gd name="adj" fmla="val 30303"/>
            </a:avLst>
          </a:prstGeom>
          <a:solidFill>
            <a:srgbClr val="0B8457"/>
          </a:solidFill>
          <a:ln/>
        </p:spPr>
      </p:sp>
      <p:sp>
        <p:nvSpPr>
          <p:cNvPr id="17" name="Text 13"/>
          <p:cNvSpPr/>
          <p:nvPr/>
        </p:nvSpPr>
        <p:spPr>
          <a:xfrm>
            <a:off x="450799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4"/>
          <p:cNvSpPr/>
          <p:nvPr/>
        </p:nvSpPr>
        <p:spPr>
          <a:xfrm>
            <a:off x="5257800" y="1984248"/>
            <a:ext cx="228600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Données sécurisées</a:t>
            </a:r>
            <a:endParaRPr lang="en-US" sz="1450" dirty="0"/>
          </a:p>
        </p:txBody>
      </p:sp>
      <p:sp>
        <p:nvSpPr>
          <p:cNvPr id="19" name="Text 15"/>
          <p:cNvSpPr/>
          <p:nvPr/>
        </p:nvSpPr>
        <p:spPr>
          <a:xfrm>
            <a:off x="4526280" y="2697480"/>
            <a:ext cx="2971800" cy="54864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Comptes, authentification et suivi en temps réel.</a:t>
            </a:r>
            <a:endParaRPr lang="en-US" sz="1200" dirty="0"/>
          </a:p>
        </p:txBody>
      </p:sp>
      <p:sp>
        <p:nvSpPr>
          <p:cNvPr id="20" name="Shape 16"/>
          <p:cNvSpPr/>
          <p:nvPr/>
        </p:nvSpPr>
        <p:spPr>
          <a:xfrm>
            <a:off x="7955280" y="1783080"/>
            <a:ext cx="3520440" cy="1600200"/>
          </a:xfrm>
          <a:prstGeom prst="roundRect">
            <a:avLst>
              <a:gd name="adj" fmla="val 6857"/>
            </a:avLst>
          </a:prstGeom>
          <a:solidFill>
            <a:srgbClr val="EAFAF1"/>
          </a:solidFill>
          <a:ln w="12700">
            <a:solidFill>
              <a:srgbClr val="CDEFDB"/>
            </a:solidFill>
            <a:prstDash val="solid"/>
          </a:ln>
        </p:spPr>
      </p:sp>
      <p:sp>
        <p:nvSpPr>
          <p:cNvPr id="21" name="Shape 17"/>
          <p:cNvSpPr/>
          <p:nvPr/>
        </p:nvSpPr>
        <p:spPr>
          <a:xfrm>
            <a:off x="8211312" y="2039112"/>
            <a:ext cx="603504" cy="603504"/>
          </a:xfrm>
          <a:prstGeom prst="roundRect">
            <a:avLst>
              <a:gd name="adj" fmla="val 30303"/>
            </a:avLst>
          </a:prstGeom>
          <a:solidFill>
            <a:srgbClr val="0B8457"/>
          </a:solidFill>
          <a:ln/>
        </p:spPr>
      </p:sp>
      <p:sp>
        <p:nvSpPr>
          <p:cNvPr id="22" name="Text 18"/>
          <p:cNvSpPr/>
          <p:nvPr/>
        </p:nvSpPr>
        <p:spPr>
          <a:xfrm>
            <a:off x="821131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19"/>
          <p:cNvSpPr/>
          <p:nvPr/>
        </p:nvSpPr>
        <p:spPr>
          <a:xfrm>
            <a:off x="8961120" y="1984248"/>
            <a:ext cx="228600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Intelligence artificielle</a:t>
            </a:r>
            <a:endParaRPr lang="en-US" sz="1450" dirty="0"/>
          </a:p>
        </p:txBody>
      </p:sp>
      <p:sp>
        <p:nvSpPr>
          <p:cNvPr id="24" name="Text 20"/>
          <p:cNvSpPr/>
          <p:nvPr/>
        </p:nvSpPr>
        <p:spPr>
          <a:xfrm>
            <a:off x="8229600" y="2697480"/>
            <a:ext cx="2971800" cy="54864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Tutorat et correction d'examens à grande échelle.</a:t>
            </a:r>
            <a:endParaRPr lang="en-US" sz="1200" dirty="0"/>
          </a:p>
        </p:txBody>
      </p:sp>
      <p:sp>
        <p:nvSpPr>
          <p:cNvPr id="25" name="Shape 21"/>
          <p:cNvSpPr/>
          <p:nvPr/>
        </p:nvSpPr>
        <p:spPr>
          <a:xfrm>
            <a:off x="548640" y="3566160"/>
            <a:ext cx="3520440" cy="1600200"/>
          </a:xfrm>
          <a:prstGeom prst="roundRect">
            <a:avLst>
              <a:gd name="adj" fmla="val 6857"/>
            </a:avLst>
          </a:prstGeom>
          <a:solidFill>
            <a:srgbClr val="EAFAF1"/>
          </a:solidFill>
          <a:ln w="12700">
            <a:solidFill>
              <a:srgbClr val="CDEFDB"/>
            </a:solidFill>
            <a:prstDash val="solid"/>
          </a:ln>
        </p:spPr>
      </p:sp>
      <p:sp>
        <p:nvSpPr>
          <p:cNvPr id="26" name="Shape 22"/>
          <p:cNvSpPr/>
          <p:nvPr/>
        </p:nvSpPr>
        <p:spPr>
          <a:xfrm>
            <a:off x="804672" y="3822192"/>
            <a:ext cx="603504" cy="603504"/>
          </a:xfrm>
          <a:prstGeom prst="roundRect">
            <a:avLst>
              <a:gd name="adj" fmla="val 30303"/>
            </a:avLst>
          </a:prstGeom>
          <a:solidFill>
            <a:srgbClr val="0B8457"/>
          </a:solidFill>
          <a:ln/>
        </p:spPr>
      </p:sp>
      <p:sp>
        <p:nvSpPr>
          <p:cNvPr id="27" name="Text 23"/>
          <p:cNvSpPr/>
          <p:nvPr/>
        </p:nvSpPr>
        <p:spPr>
          <a:xfrm>
            <a:off x="804672" y="382219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Text 24"/>
          <p:cNvSpPr/>
          <p:nvPr/>
        </p:nvSpPr>
        <p:spPr>
          <a:xfrm>
            <a:off x="1554480" y="3767328"/>
            <a:ext cx="228600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Mobile-first</a:t>
            </a:r>
            <a:endParaRPr lang="en-US" sz="1450" dirty="0"/>
          </a:p>
        </p:txBody>
      </p:sp>
      <p:sp>
        <p:nvSpPr>
          <p:cNvPr id="29" name="Text 25"/>
          <p:cNvSpPr/>
          <p:nvPr/>
        </p:nvSpPr>
        <p:spPr>
          <a:xfrm>
            <a:off x="822960" y="4480560"/>
            <a:ext cx="2971800" cy="54864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Pensé pour les connexions réelles du Togo.</a:t>
            </a:r>
            <a:endParaRPr lang="en-US" sz="1200" dirty="0"/>
          </a:p>
        </p:txBody>
      </p:sp>
      <p:sp>
        <p:nvSpPr>
          <p:cNvPr id="30" name="Shape 26"/>
          <p:cNvSpPr/>
          <p:nvPr/>
        </p:nvSpPr>
        <p:spPr>
          <a:xfrm>
            <a:off x="4251960" y="3566160"/>
            <a:ext cx="3520440" cy="1600200"/>
          </a:xfrm>
          <a:prstGeom prst="roundRect">
            <a:avLst>
              <a:gd name="adj" fmla="val 6857"/>
            </a:avLst>
          </a:prstGeom>
          <a:solidFill>
            <a:srgbClr val="EAFAF1"/>
          </a:solidFill>
          <a:ln w="12700">
            <a:solidFill>
              <a:srgbClr val="CDEFDB"/>
            </a:solidFill>
            <a:prstDash val="solid"/>
          </a:ln>
        </p:spPr>
      </p:sp>
      <p:sp>
        <p:nvSpPr>
          <p:cNvPr id="31" name="Shape 27"/>
          <p:cNvSpPr/>
          <p:nvPr/>
        </p:nvSpPr>
        <p:spPr>
          <a:xfrm>
            <a:off x="4507992" y="3822192"/>
            <a:ext cx="603504" cy="603504"/>
          </a:xfrm>
          <a:prstGeom prst="roundRect">
            <a:avLst>
              <a:gd name="adj" fmla="val 30303"/>
            </a:avLst>
          </a:prstGeom>
          <a:solidFill>
            <a:srgbClr val="0B8457"/>
          </a:solidFill>
          <a:ln/>
        </p:spPr>
      </p:sp>
      <p:sp>
        <p:nvSpPr>
          <p:cNvPr id="32" name="Text 28"/>
          <p:cNvSpPr/>
          <p:nvPr/>
        </p:nvSpPr>
        <p:spPr>
          <a:xfrm>
            <a:off x="4507992" y="382219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3" name="Text 29"/>
          <p:cNvSpPr/>
          <p:nvPr/>
        </p:nvSpPr>
        <p:spPr>
          <a:xfrm>
            <a:off x="5257800" y="3767328"/>
            <a:ext cx="228600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Déploiement continu</a:t>
            </a:r>
            <a:endParaRPr lang="en-US" sz="1450" dirty="0"/>
          </a:p>
        </p:txBody>
      </p:sp>
      <p:sp>
        <p:nvSpPr>
          <p:cNvPr id="34" name="Text 30"/>
          <p:cNvSpPr/>
          <p:nvPr/>
        </p:nvSpPr>
        <p:spPr>
          <a:xfrm>
            <a:off x="4526280" y="4480560"/>
            <a:ext cx="2971800" cy="54864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On livre vite, on itère souvent.</a:t>
            </a:r>
            <a:endParaRPr lang="en-US" sz="1200" dirty="0"/>
          </a:p>
        </p:txBody>
      </p:sp>
      <p:sp>
        <p:nvSpPr>
          <p:cNvPr id="35" name="Shape 31"/>
          <p:cNvSpPr/>
          <p:nvPr/>
        </p:nvSpPr>
        <p:spPr>
          <a:xfrm>
            <a:off x="7955280" y="3566160"/>
            <a:ext cx="3520440" cy="1600200"/>
          </a:xfrm>
          <a:prstGeom prst="roundRect">
            <a:avLst>
              <a:gd name="adj" fmla="val 6857"/>
            </a:avLst>
          </a:prstGeom>
          <a:solidFill>
            <a:srgbClr val="EAFAF1"/>
          </a:solidFill>
          <a:ln w="12700">
            <a:solidFill>
              <a:srgbClr val="CDEFDB"/>
            </a:solidFill>
            <a:prstDash val="solid"/>
          </a:ln>
        </p:spPr>
      </p:sp>
      <p:sp>
        <p:nvSpPr>
          <p:cNvPr id="36" name="Shape 32"/>
          <p:cNvSpPr/>
          <p:nvPr/>
        </p:nvSpPr>
        <p:spPr>
          <a:xfrm>
            <a:off x="8211312" y="3822192"/>
            <a:ext cx="603504" cy="603504"/>
          </a:xfrm>
          <a:prstGeom prst="roundRect">
            <a:avLst>
              <a:gd name="adj" fmla="val 30303"/>
            </a:avLst>
          </a:prstGeom>
          <a:solidFill>
            <a:srgbClr val="0B8457"/>
          </a:solidFill>
          <a:ln/>
        </p:spPr>
      </p:sp>
      <p:sp>
        <p:nvSpPr>
          <p:cNvPr id="37" name="Text 33"/>
          <p:cNvSpPr/>
          <p:nvPr/>
        </p:nvSpPr>
        <p:spPr>
          <a:xfrm>
            <a:off x="8211312" y="382219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8" name="Text 34"/>
          <p:cNvSpPr/>
          <p:nvPr/>
        </p:nvSpPr>
        <p:spPr>
          <a:xfrm>
            <a:off x="8961120" y="3767328"/>
            <a:ext cx="228600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Un vrai impact produit</a:t>
            </a:r>
            <a:endParaRPr lang="en-US" sz="1450" dirty="0"/>
          </a:p>
        </p:txBody>
      </p:sp>
      <p:sp>
        <p:nvSpPr>
          <p:cNvPr id="39" name="Text 35"/>
          <p:cNvSpPr/>
          <p:nvPr/>
        </p:nvSpPr>
        <p:spPr>
          <a:xfrm>
            <a:off x="8229600" y="4480560"/>
            <a:ext cx="2971800" cy="54864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Ce que vous construisez sert de vrais élèves.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REJOIGNEZ-NOUS</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Les profils que nous cherchons</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05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5394960" cy="1554480"/>
          </a:xfrm>
          <a:prstGeom prst="roundRect">
            <a:avLst>
              <a:gd name="adj" fmla="val 7059"/>
            </a:avLst>
          </a:prstGeom>
          <a:solidFill>
            <a:srgbClr val="EAFAF1"/>
          </a:solidFill>
          <a:ln w="12700">
            <a:solidFill>
              <a:srgbClr val="CDEFDB"/>
            </a:solidFill>
            <a:prstDash val="solid"/>
          </a:ln>
        </p:spPr>
      </p:sp>
      <p:sp>
        <p:nvSpPr>
          <p:cNvPr id="11" name="Shape 7"/>
          <p:cNvSpPr/>
          <p:nvPr/>
        </p:nvSpPr>
        <p:spPr>
          <a:xfrm>
            <a:off x="804672" y="2039112"/>
            <a:ext cx="603504" cy="603504"/>
          </a:xfrm>
          <a:prstGeom prst="roundRect">
            <a:avLst>
              <a:gd name="adj" fmla="val 30303"/>
            </a:avLst>
          </a:prstGeom>
          <a:solidFill>
            <a:srgbClr val="0B8457"/>
          </a:solidFill>
          <a:ln/>
        </p:spPr>
      </p:sp>
      <p:sp>
        <p:nvSpPr>
          <p:cNvPr id="12" name="Text 8"/>
          <p:cNvSpPr/>
          <p:nvPr/>
        </p:nvSpPr>
        <p:spPr>
          <a:xfrm>
            <a:off x="80467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9"/>
          <p:cNvSpPr/>
          <p:nvPr/>
        </p:nvSpPr>
        <p:spPr>
          <a:xfrm>
            <a:off x="1554480" y="198424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Tuteurs</a:t>
            </a:r>
            <a:endParaRPr lang="en-US" sz="1450" dirty="0"/>
          </a:p>
        </p:txBody>
      </p:sp>
      <p:sp>
        <p:nvSpPr>
          <p:cNvPr id="14" name="Text 10"/>
          <p:cNvSpPr/>
          <p:nvPr/>
        </p:nvSpPr>
        <p:spPr>
          <a:xfrm>
            <a:off x="822960" y="269748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Enseignants togolais pour les séances en direct et la validation des contenus.</a:t>
            </a:r>
            <a:endParaRPr lang="en-US" sz="1200" dirty="0"/>
          </a:p>
        </p:txBody>
      </p:sp>
      <p:sp>
        <p:nvSpPr>
          <p:cNvPr id="15" name="Shape 11"/>
          <p:cNvSpPr/>
          <p:nvPr/>
        </p:nvSpPr>
        <p:spPr>
          <a:xfrm>
            <a:off x="6126480" y="1783080"/>
            <a:ext cx="5394960" cy="1554480"/>
          </a:xfrm>
          <a:prstGeom prst="roundRect">
            <a:avLst>
              <a:gd name="adj" fmla="val 7059"/>
            </a:avLst>
          </a:prstGeom>
          <a:solidFill>
            <a:srgbClr val="EAFAF1"/>
          </a:solidFill>
          <a:ln w="12700">
            <a:solidFill>
              <a:srgbClr val="CDEFDB"/>
            </a:solidFill>
            <a:prstDash val="solid"/>
          </a:ln>
        </p:spPr>
      </p:sp>
      <p:sp>
        <p:nvSpPr>
          <p:cNvPr id="16" name="Shape 12"/>
          <p:cNvSpPr/>
          <p:nvPr/>
        </p:nvSpPr>
        <p:spPr>
          <a:xfrm>
            <a:off x="6382512" y="2039112"/>
            <a:ext cx="603504" cy="603504"/>
          </a:xfrm>
          <a:prstGeom prst="roundRect">
            <a:avLst>
              <a:gd name="adj" fmla="val 30303"/>
            </a:avLst>
          </a:prstGeom>
          <a:solidFill>
            <a:srgbClr val="2E6F40"/>
          </a:solidFill>
          <a:ln/>
        </p:spPr>
      </p:sp>
      <p:sp>
        <p:nvSpPr>
          <p:cNvPr id="17" name="Text 13"/>
          <p:cNvSpPr/>
          <p:nvPr/>
        </p:nvSpPr>
        <p:spPr>
          <a:xfrm>
            <a:off x="638251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4"/>
          <p:cNvSpPr/>
          <p:nvPr/>
        </p:nvSpPr>
        <p:spPr>
          <a:xfrm>
            <a:off x="7132320" y="198424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Consultants pédagogiques</a:t>
            </a:r>
            <a:endParaRPr lang="en-US" sz="1450" dirty="0"/>
          </a:p>
        </p:txBody>
      </p:sp>
      <p:sp>
        <p:nvSpPr>
          <p:cNvPr id="19" name="Text 15"/>
          <p:cNvSpPr/>
          <p:nvPr/>
        </p:nvSpPr>
        <p:spPr>
          <a:xfrm>
            <a:off x="6400800" y="269748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Experts par matière pour concevoir et relire les cours en APC.</a:t>
            </a:r>
            <a:endParaRPr lang="en-US" sz="1200" dirty="0"/>
          </a:p>
        </p:txBody>
      </p:sp>
      <p:sp>
        <p:nvSpPr>
          <p:cNvPr id="20" name="Shape 16"/>
          <p:cNvSpPr/>
          <p:nvPr/>
        </p:nvSpPr>
        <p:spPr>
          <a:xfrm>
            <a:off x="548640" y="3520440"/>
            <a:ext cx="5394960" cy="1554480"/>
          </a:xfrm>
          <a:prstGeom prst="roundRect">
            <a:avLst>
              <a:gd name="adj" fmla="val 7059"/>
            </a:avLst>
          </a:prstGeom>
          <a:solidFill>
            <a:srgbClr val="EAFAF1"/>
          </a:solidFill>
          <a:ln w="12700">
            <a:solidFill>
              <a:srgbClr val="CDEFDB"/>
            </a:solidFill>
            <a:prstDash val="solid"/>
          </a:ln>
        </p:spPr>
      </p:sp>
      <p:sp>
        <p:nvSpPr>
          <p:cNvPr id="21" name="Shape 17"/>
          <p:cNvSpPr/>
          <p:nvPr/>
        </p:nvSpPr>
        <p:spPr>
          <a:xfrm>
            <a:off x="804672" y="3776472"/>
            <a:ext cx="603504" cy="603504"/>
          </a:xfrm>
          <a:prstGeom prst="roundRect">
            <a:avLst>
              <a:gd name="adj" fmla="val 30303"/>
            </a:avLst>
          </a:prstGeom>
          <a:solidFill>
            <a:srgbClr val="D21034"/>
          </a:solidFill>
          <a:ln/>
        </p:spPr>
      </p:sp>
      <p:sp>
        <p:nvSpPr>
          <p:cNvPr id="22" name="Text 18"/>
          <p:cNvSpPr/>
          <p:nvPr/>
        </p:nvSpPr>
        <p:spPr>
          <a:xfrm>
            <a:off x="804672" y="377647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19"/>
          <p:cNvSpPr/>
          <p:nvPr/>
        </p:nvSpPr>
        <p:spPr>
          <a:xfrm>
            <a:off x="1554480" y="372160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Ingénieurs développeurs</a:t>
            </a:r>
            <a:endParaRPr lang="en-US" sz="1450" dirty="0"/>
          </a:p>
        </p:txBody>
      </p:sp>
      <p:sp>
        <p:nvSpPr>
          <p:cNvPr id="24" name="Text 20"/>
          <p:cNvSpPr/>
          <p:nvPr/>
        </p:nvSpPr>
        <p:spPr>
          <a:xfrm>
            <a:off x="822960" y="443484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Web, IA et data : construire et faire évoluer la plateforme.</a:t>
            </a:r>
            <a:endParaRPr lang="en-US" sz="1200" dirty="0"/>
          </a:p>
        </p:txBody>
      </p:sp>
      <p:sp>
        <p:nvSpPr>
          <p:cNvPr id="25" name="Shape 21"/>
          <p:cNvSpPr/>
          <p:nvPr/>
        </p:nvSpPr>
        <p:spPr>
          <a:xfrm>
            <a:off x="6126480" y="3520440"/>
            <a:ext cx="5394960" cy="1554480"/>
          </a:xfrm>
          <a:prstGeom prst="roundRect">
            <a:avLst>
              <a:gd name="adj" fmla="val 7059"/>
            </a:avLst>
          </a:prstGeom>
          <a:solidFill>
            <a:srgbClr val="EAFAF1"/>
          </a:solidFill>
          <a:ln w="12700">
            <a:solidFill>
              <a:srgbClr val="CDEFDB"/>
            </a:solidFill>
            <a:prstDash val="solid"/>
          </a:ln>
        </p:spPr>
      </p:sp>
      <p:sp>
        <p:nvSpPr>
          <p:cNvPr id="26" name="Shape 22"/>
          <p:cNvSpPr/>
          <p:nvPr/>
        </p:nvSpPr>
        <p:spPr>
          <a:xfrm>
            <a:off x="6382512" y="3776472"/>
            <a:ext cx="603504" cy="603504"/>
          </a:xfrm>
          <a:prstGeom prst="roundRect">
            <a:avLst>
              <a:gd name="adj" fmla="val 30303"/>
            </a:avLst>
          </a:prstGeom>
          <a:solidFill>
            <a:srgbClr val="065C3C"/>
          </a:solidFill>
          <a:ln/>
        </p:spPr>
      </p:sp>
      <p:sp>
        <p:nvSpPr>
          <p:cNvPr id="27" name="Text 23"/>
          <p:cNvSpPr/>
          <p:nvPr/>
        </p:nvSpPr>
        <p:spPr>
          <a:xfrm>
            <a:off x="6382512" y="377647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Text 24"/>
          <p:cNvSpPr/>
          <p:nvPr/>
        </p:nvSpPr>
        <p:spPr>
          <a:xfrm>
            <a:off x="7132320" y="372160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Créateurs de contenu</a:t>
            </a:r>
            <a:endParaRPr lang="en-US" sz="1450" dirty="0"/>
          </a:p>
        </p:txBody>
      </p:sp>
      <p:sp>
        <p:nvSpPr>
          <p:cNvPr id="29" name="Text 25"/>
          <p:cNvSpPr/>
          <p:nvPr/>
        </p:nvSpPr>
        <p:spPr>
          <a:xfrm>
            <a:off x="6400800" y="443484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Scénarisation, voix et montage des leçons vidéo.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NOTRE FAÇON DE TRAVAILLER</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Souple, à distance, en équipe</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06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3566160" cy="3291840"/>
          </a:xfrm>
          <a:prstGeom prst="roundRect">
            <a:avLst>
              <a:gd name="adj" fmla="val 3333"/>
            </a:avLst>
          </a:prstGeom>
          <a:solidFill>
            <a:srgbClr val="EAFAF1"/>
          </a:solidFill>
          <a:ln w="12700">
            <a:solidFill>
              <a:srgbClr val="CDEFDB"/>
            </a:solidFill>
            <a:prstDash val="solid"/>
          </a:ln>
        </p:spPr>
      </p:sp>
      <p:sp>
        <p:nvSpPr>
          <p:cNvPr id="11" name="Shape 7"/>
          <p:cNvSpPr/>
          <p:nvPr/>
        </p:nvSpPr>
        <p:spPr>
          <a:xfrm>
            <a:off x="804672" y="2039112"/>
            <a:ext cx="603504" cy="603504"/>
          </a:xfrm>
          <a:prstGeom prst="roundRect">
            <a:avLst>
              <a:gd name="adj" fmla="val 30303"/>
            </a:avLst>
          </a:prstGeom>
          <a:solidFill>
            <a:srgbClr val="0B8457"/>
          </a:solidFill>
          <a:ln/>
        </p:spPr>
      </p:sp>
      <p:sp>
        <p:nvSpPr>
          <p:cNvPr id="12" name="Text 8"/>
          <p:cNvSpPr/>
          <p:nvPr/>
        </p:nvSpPr>
        <p:spPr>
          <a:xfrm>
            <a:off x="80467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9"/>
          <p:cNvSpPr/>
          <p:nvPr/>
        </p:nvSpPr>
        <p:spPr>
          <a:xfrm>
            <a:off x="1554480" y="1984248"/>
            <a:ext cx="23317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À distance</a:t>
            </a:r>
            <a:endParaRPr lang="en-US" sz="1450" dirty="0"/>
          </a:p>
        </p:txBody>
      </p:sp>
      <p:sp>
        <p:nvSpPr>
          <p:cNvPr id="14" name="Text 10"/>
          <p:cNvSpPr/>
          <p:nvPr/>
        </p:nvSpPr>
        <p:spPr>
          <a:xfrm>
            <a:off x="822960" y="2697480"/>
            <a:ext cx="3017520" cy="224028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Contribuez d'où vous êtes, avec des outils simples et efficaces.</a:t>
            </a:r>
            <a:endParaRPr lang="en-US" sz="1200" dirty="0"/>
          </a:p>
        </p:txBody>
      </p:sp>
      <p:sp>
        <p:nvSpPr>
          <p:cNvPr id="15" name="Shape 11"/>
          <p:cNvSpPr/>
          <p:nvPr/>
        </p:nvSpPr>
        <p:spPr>
          <a:xfrm>
            <a:off x="4251960" y="1783080"/>
            <a:ext cx="3566160" cy="3291840"/>
          </a:xfrm>
          <a:prstGeom prst="roundRect">
            <a:avLst>
              <a:gd name="adj" fmla="val 3333"/>
            </a:avLst>
          </a:prstGeom>
          <a:solidFill>
            <a:srgbClr val="EAFAF1"/>
          </a:solidFill>
          <a:ln w="12700">
            <a:solidFill>
              <a:srgbClr val="CDEFDB"/>
            </a:solidFill>
            <a:prstDash val="solid"/>
          </a:ln>
        </p:spPr>
      </p:sp>
      <p:sp>
        <p:nvSpPr>
          <p:cNvPr id="16" name="Shape 12"/>
          <p:cNvSpPr/>
          <p:nvPr/>
        </p:nvSpPr>
        <p:spPr>
          <a:xfrm>
            <a:off x="4507992" y="2039112"/>
            <a:ext cx="603504" cy="603504"/>
          </a:xfrm>
          <a:prstGeom prst="roundRect">
            <a:avLst>
              <a:gd name="adj" fmla="val 30303"/>
            </a:avLst>
          </a:prstGeom>
          <a:solidFill>
            <a:srgbClr val="2E6F40"/>
          </a:solidFill>
          <a:ln/>
        </p:spPr>
      </p:sp>
      <p:sp>
        <p:nvSpPr>
          <p:cNvPr id="17" name="Text 13"/>
          <p:cNvSpPr/>
          <p:nvPr/>
        </p:nvSpPr>
        <p:spPr>
          <a:xfrm>
            <a:off x="450799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4"/>
          <p:cNvSpPr/>
          <p:nvPr/>
        </p:nvSpPr>
        <p:spPr>
          <a:xfrm>
            <a:off x="5257800" y="1984248"/>
            <a:ext cx="23317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À la mission ou en continu</a:t>
            </a:r>
            <a:endParaRPr lang="en-US" sz="1450" dirty="0"/>
          </a:p>
        </p:txBody>
      </p:sp>
      <p:sp>
        <p:nvSpPr>
          <p:cNvPr id="19" name="Text 15"/>
          <p:cNvSpPr/>
          <p:nvPr/>
        </p:nvSpPr>
        <p:spPr>
          <a:xfrm>
            <a:off x="4526280" y="2697480"/>
            <a:ext cx="3017520" cy="224028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Une collaboration ponctuelle ou un engagement régulier, selon votre disponibilité.</a:t>
            </a:r>
            <a:endParaRPr lang="en-US" sz="1200" dirty="0"/>
          </a:p>
        </p:txBody>
      </p:sp>
      <p:sp>
        <p:nvSpPr>
          <p:cNvPr id="20" name="Shape 16"/>
          <p:cNvSpPr/>
          <p:nvPr/>
        </p:nvSpPr>
        <p:spPr>
          <a:xfrm>
            <a:off x="7955280" y="1783080"/>
            <a:ext cx="3566160" cy="3291840"/>
          </a:xfrm>
          <a:prstGeom prst="roundRect">
            <a:avLst>
              <a:gd name="adj" fmla="val 3333"/>
            </a:avLst>
          </a:prstGeom>
          <a:solidFill>
            <a:srgbClr val="EAFAF1"/>
          </a:solidFill>
          <a:ln w="12700">
            <a:solidFill>
              <a:srgbClr val="CDEFDB"/>
            </a:solidFill>
            <a:prstDash val="solid"/>
          </a:ln>
        </p:spPr>
      </p:sp>
      <p:sp>
        <p:nvSpPr>
          <p:cNvPr id="21" name="Shape 17"/>
          <p:cNvSpPr/>
          <p:nvPr/>
        </p:nvSpPr>
        <p:spPr>
          <a:xfrm>
            <a:off x="8211312" y="2039112"/>
            <a:ext cx="603504" cy="603504"/>
          </a:xfrm>
          <a:prstGeom prst="roundRect">
            <a:avLst>
              <a:gd name="adj" fmla="val 30303"/>
            </a:avLst>
          </a:prstGeom>
          <a:solidFill>
            <a:srgbClr val="D21034"/>
          </a:solidFill>
          <a:ln/>
        </p:spPr>
      </p:sp>
      <p:sp>
        <p:nvSpPr>
          <p:cNvPr id="22" name="Text 18"/>
          <p:cNvSpPr/>
          <p:nvPr/>
        </p:nvSpPr>
        <p:spPr>
          <a:xfrm>
            <a:off x="821131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19"/>
          <p:cNvSpPr/>
          <p:nvPr/>
        </p:nvSpPr>
        <p:spPr>
          <a:xfrm>
            <a:off x="8961120" y="1984248"/>
            <a:ext cx="23317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En équipe pluridisciplinaire</a:t>
            </a:r>
            <a:endParaRPr lang="en-US" sz="1450" dirty="0"/>
          </a:p>
        </p:txBody>
      </p:sp>
      <p:sp>
        <p:nvSpPr>
          <p:cNvPr id="24" name="Text 20"/>
          <p:cNvSpPr/>
          <p:nvPr/>
        </p:nvSpPr>
        <p:spPr>
          <a:xfrm>
            <a:off x="8229600" y="2697480"/>
            <a:ext cx="3017520" cy="224028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Pédagogues et ingénieurs avancent ensemble, sur un même objectif.</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CE QU'ON OFFRE</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Pourquoi nous rejoindre</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07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5394960" cy="1554480"/>
          </a:xfrm>
          <a:prstGeom prst="roundRect">
            <a:avLst>
              <a:gd name="adj" fmla="val 7059"/>
            </a:avLst>
          </a:prstGeom>
          <a:solidFill>
            <a:srgbClr val="EAFAF1"/>
          </a:solidFill>
          <a:ln w="12700">
            <a:solidFill>
              <a:srgbClr val="CDEFDB"/>
            </a:solidFill>
            <a:prstDash val="solid"/>
          </a:ln>
        </p:spPr>
      </p:sp>
      <p:sp>
        <p:nvSpPr>
          <p:cNvPr id="11" name="Shape 7"/>
          <p:cNvSpPr/>
          <p:nvPr/>
        </p:nvSpPr>
        <p:spPr>
          <a:xfrm>
            <a:off x="804672" y="2039112"/>
            <a:ext cx="603504" cy="603504"/>
          </a:xfrm>
          <a:prstGeom prst="roundRect">
            <a:avLst>
              <a:gd name="adj" fmla="val 30303"/>
            </a:avLst>
          </a:prstGeom>
          <a:solidFill>
            <a:srgbClr val="0B8457"/>
          </a:solidFill>
          <a:ln/>
        </p:spPr>
      </p:sp>
      <p:sp>
        <p:nvSpPr>
          <p:cNvPr id="12" name="Text 8"/>
          <p:cNvSpPr/>
          <p:nvPr/>
        </p:nvSpPr>
        <p:spPr>
          <a:xfrm>
            <a:off x="80467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9"/>
          <p:cNvSpPr/>
          <p:nvPr/>
        </p:nvSpPr>
        <p:spPr>
          <a:xfrm>
            <a:off x="1554480" y="198424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Un travail qui a du sens</a:t>
            </a:r>
            <a:endParaRPr lang="en-US" sz="1450" dirty="0"/>
          </a:p>
        </p:txBody>
      </p:sp>
      <p:sp>
        <p:nvSpPr>
          <p:cNvPr id="14" name="Text 10"/>
          <p:cNvSpPr/>
          <p:nvPr/>
        </p:nvSpPr>
        <p:spPr>
          <a:xfrm>
            <a:off x="822960" y="269748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Servir l'éducation de votre pays.</a:t>
            </a:r>
            <a:endParaRPr lang="en-US" sz="1200" dirty="0"/>
          </a:p>
        </p:txBody>
      </p:sp>
      <p:sp>
        <p:nvSpPr>
          <p:cNvPr id="15" name="Shape 11"/>
          <p:cNvSpPr/>
          <p:nvPr/>
        </p:nvSpPr>
        <p:spPr>
          <a:xfrm>
            <a:off x="6126480" y="1783080"/>
            <a:ext cx="5394960" cy="1554480"/>
          </a:xfrm>
          <a:prstGeom prst="roundRect">
            <a:avLst>
              <a:gd name="adj" fmla="val 7059"/>
            </a:avLst>
          </a:prstGeom>
          <a:solidFill>
            <a:srgbClr val="EAFAF1"/>
          </a:solidFill>
          <a:ln w="12700">
            <a:solidFill>
              <a:srgbClr val="CDEFDB"/>
            </a:solidFill>
            <a:prstDash val="solid"/>
          </a:ln>
        </p:spPr>
      </p:sp>
      <p:sp>
        <p:nvSpPr>
          <p:cNvPr id="16" name="Shape 12"/>
          <p:cNvSpPr/>
          <p:nvPr/>
        </p:nvSpPr>
        <p:spPr>
          <a:xfrm>
            <a:off x="6382512" y="2039112"/>
            <a:ext cx="603504" cy="603504"/>
          </a:xfrm>
          <a:prstGeom prst="roundRect">
            <a:avLst>
              <a:gd name="adj" fmla="val 30303"/>
            </a:avLst>
          </a:prstGeom>
          <a:solidFill>
            <a:srgbClr val="2E6F40"/>
          </a:solidFill>
          <a:ln/>
        </p:spPr>
      </p:sp>
      <p:sp>
        <p:nvSpPr>
          <p:cNvPr id="17" name="Text 13"/>
          <p:cNvSpPr/>
          <p:nvPr/>
        </p:nvSpPr>
        <p:spPr>
          <a:xfrm>
            <a:off x="638251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4"/>
          <p:cNvSpPr/>
          <p:nvPr/>
        </p:nvSpPr>
        <p:spPr>
          <a:xfrm>
            <a:off x="7132320" y="198424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De la croissance</a:t>
            </a:r>
            <a:endParaRPr lang="en-US" sz="1450" dirty="0"/>
          </a:p>
        </p:txBody>
      </p:sp>
      <p:sp>
        <p:nvSpPr>
          <p:cNvPr id="19" name="Text 15"/>
          <p:cNvSpPr/>
          <p:nvPr/>
        </p:nvSpPr>
        <p:spPr>
          <a:xfrm>
            <a:off x="6400800" y="269748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Grandir avec une plateforme en expansion.</a:t>
            </a:r>
            <a:endParaRPr lang="en-US" sz="1200" dirty="0"/>
          </a:p>
        </p:txBody>
      </p:sp>
      <p:sp>
        <p:nvSpPr>
          <p:cNvPr id="20" name="Shape 16"/>
          <p:cNvSpPr/>
          <p:nvPr/>
        </p:nvSpPr>
        <p:spPr>
          <a:xfrm>
            <a:off x="548640" y="3520440"/>
            <a:ext cx="5394960" cy="1554480"/>
          </a:xfrm>
          <a:prstGeom prst="roundRect">
            <a:avLst>
              <a:gd name="adj" fmla="val 7059"/>
            </a:avLst>
          </a:prstGeom>
          <a:solidFill>
            <a:srgbClr val="EAFAF1"/>
          </a:solidFill>
          <a:ln w="12700">
            <a:solidFill>
              <a:srgbClr val="CDEFDB"/>
            </a:solidFill>
            <a:prstDash val="solid"/>
          </a:ln>
        </p:spPr>
      </p:sp>
      <p:sp>
        <p:nvSpPr>
          <p:cNvPr id="21" name="Shape 17"/>
          <p:cNvSpPr/>
          <p:nvPr/>
        </p:nvSpPr>
        <p:spPr>
          <a:xfrm>
            <a:off x="804672" y="3776472"/>
            <a:ext cx="603504" cy="603504"/>
          </a:xfrm>
          <a:prstGeom prst="roundRect">
            <a:avLst>
              <a:gd name="adj" fmla="val 30303"/>
            </a:avLst>
          </a:prstGeom>
          <a:solidFill>
            <a:srgbClr val="D21034"/>
          </a:solidFill>
          <a:ln/>
        </p:spPr>
      </p:sp>
      <p:sp>
        <p:nvSpPr>
          <p:cNvPr id="22" name="Text 18"/>
          <p:cNvSpPr/>
          <p:nvPr/>
        </p:nvSpPr>
        <p:spPr>
          <a:xfrm>
            <a:off x="804672" y="377647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19"/>
          <p:cNvSpPr/>
          <p:nvPr/>
        </p:nvSpPr>
        <p:spPr>
          <a:xfrm>
            <a:off x="1554480" y="372160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De la flexibilité</a:t>
            </a:r>
            <a:endParaRPr lang="en-US" sz="1450" dirty="0"/>
          </a:p>
        </p:txBody>
      </p:sp>
      <p:sp>
        <p:nvSpPr>
          <p:cNvPr id="24" name="Text 20"/>
          <p:cNvSpPr/>
          <p:nvPr/>
        </p:nvSpPr>
        <p:spPr>
          <a:xfrm>
            <a:off x="822960" y="443484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À distance, à la mission ou en continu.</a:t>
            </a:r>
            <a:endParaRPr lang="en-US" sz="1200" dirty="0"/>
          </a:p>
        </p:txBody>
      </p:sp>
      <p:sp>
        <p:nvSpPr>
          <p:cNvPr id="25" name="Shape 21"/>
          <p:cNvSpPr/>
          <p:nvPr/>
        </p:nvSpPr>
        <p:spPr>
          <a:xfrm>
            <a:off x="6126480" y="3520440"/>
            <a:ext cx="5394960" cy="1554480"/>
          </a:xfrm>
          <a:prstGeom prst="roundRect">
            <a:avLst>
              <a:gd name="adj" fmla="val 7059"/>
            </a:avLst>
          </a:prstGeom>
          <a:solidFill>
            <a:srgbClr val="EAFAF1"/>
          </a:solidFill>
          <a:ln w="12700">
            <a:solidFill>
              <a:srgbClr val="CDEFDB"/>
            </a:solidFill>
            <a:prstDash val="solid"/>
          </a:ln>
        </p:spPr>
      </p:sp>
      <p:sp>
        <p:nvSpPr>
          <p:cNvPr id="26" name="Shape 22"/>
          <p:cNvSpPr/>
          <p:nvPr/>
        </p:nvSpPr>
        <p:spPr>
          <a:xfrm>
            <a:off x="6382512" y="3776472"/>
            <a:ext cx="603504" cy="603504"/>
          </a:xfrm>
          <a:prstGeom prst="roundRect">
            <a:avLst>
              <a:gd name="adj" fmla="val 30303"/>
            </a:avLst>
          </a:prstGeom>
          <a:solidFill>
            <a:srgbClr val="065C3C"/>
          </a:solidFill>
          <a:ln/>
        </p:spPr>
      </p:sp>
      <p:sp>
        <p:nvSpPr>
          <p:cNvPr id="27" name="Text 23"/>
          <p:cNvSpPr/>
          <p:nvPr/>
        </p:nvSpPr>
        <p:spPr>
          <a:xfrm>
            <a:off x="6382512" y="377647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Text 24"/>
          <p:cNvSpPr/>
          <p:nvPr/>
        </p:nvSpPr>
        <p:spPr>
          <a:xfrm>
            <a:off x="7132320" y="372160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Écosystème Groupe BM</a:t>
            </a:r>
            <a:endParaRPr lang="en-US" sz="1450" dirty="0"/>
          </a:p>
        </p:txBody>
      </p:sp>
      <p:sp>
        <p:nvSpPr>
          <p:cNvPr id="29" name="Text 25"/>
          <p:cNvSpPr/>
          <p:nvPr/>
        </p:nvSpPr>
        <p:spPr>
          <a:xfrm>
            <a:off x="6400800" y="443484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Éducation, immigration, services, ingénierie, recherche.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NOS VALEURS</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Ce qui nous rassemble</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08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5394960" cy="1554480"/>
          </a:xfrm>
          <a:prstGeom prst="roundRect">
            <a:avLst>
              <a:gd name="adj" fmla="val 7059"/>
            </a:avLst>
          </a:prstGeom>
          <a:solidFill>
            <a:srgbClr val="EAFAF1"/>
          </a:solidFill>
          <a:ln w="12700">
            <a:solidFill>
              <a:srgbClr val="CDEFDB"/>
            </a:solidFill>
            <a:prstDash val="solid"/>
          </a:ln>
        </p:spPr>
      </p:sp>
      <p:sp>
        <p:nvSpPr>
          <p:cNvPr id="11" name="Shape 7"/>
          <p:cNvSpPr/>
          <p:nvPr/>
        </p:nvSpPr>
        <p:spPr>
          <a:xfrm>
            <a:off x="804672" y="2039112"/>
            <a:ext cx="603504" cy="603504"/>
          </a:xfrm>
          <a:prstGeom prst="roundRect">
            <a:avLst>
              <a:gd name="adj" fmla="val 30303"/>
            </a:avLst>
          </a:prstGeom>
          <a:solidFill>
            <a:srgbClr val="0B8457"/>
          </a:solidFill>
          <a:ln/>
        </p:spPr>
      </p:sp>
      <p:sp>
        <p:nvSpPr>
          <p:cNvPr id="12" name="Text 8"/>
          <p:cNvSpPr/>
          <p:nvPr/>
        </p:nvSpPr>
        <p:spPr>
          <a:xfrm>
            <a:off x="80467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9"/>
          <p:cNvSpPr/>
          <p:nvPr/>
        </p:nvSpPr>
        <p:spPr>
          <a:xfrm>
            <a:off x="1554480" y="198424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L'impact d'abord</a:t>
            </a:r>
            <a:endParaRPr lang="en-US" sz="1450" dirty="0"/>
          </a:p>
        </p:txBody>
      </p:sp>
      <p:sp>
        <p:nvSpPr>
          <p:cNvPr id="14" name="Text 10"/>
          <p:cNvSpPr/>
          <p:nvPr/>
        </p:nvSpPr>
        <p:spPr>
          <a:xfrm>
            <a:off x="822960" y="269748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Chaque décision se juge à ce qu'elle apporte aux élèves.</a:t>
            </a:r>
            <a:endParaRPr lang="en-US" sz="1200" dirty="0"/>
          </a:p>
        </p:txBody>
      </p:sp>
      <p:sp>
        <p:nvSpPr>
          <p:cNvPr id="15" name="Shape 11"/>
          <p:cNvSpPr/>
          <p:nvPr/>
        </p:nvSpPr>
        <p:spPr>
          <a:xfrm>
            <a:off x="6126480" y="1783080"/>
            <a:ext cx="5394960" cy="1554480"/>
          </a:xfrm>
          <a:prstGeom prst="roundRect">
            <a:avLst>
              <a:gd name="adj" fmla="val 7059"/>
            </a:avLst>
          </a:prstGeom>
          <a:solidFill>
            <a:srgbClr val="EAFAF1"/>
          </a:solidFill>
          <a:ln w="12700">
            <a:solidFill>
              <a:srgbClr val="CDEFDB"/>
            </a:solidFill>
            <a:prstDash val="solid"/>
          </a:ln>
        </p:spPr>
      </p:sp>
      <p:sp>
        <p:nvSpPr>
          <p:cNvPr id="16" name="Shape 12"/>
          <p:cNvSpPr/>
          <p:nvPr/>
        </p:nvSpPr>
        <p:spPr>
          <a:xfrm>
            <a:off x="6382512" y="2039112"/>
            <a:ext cx="603504" cy="603504"/>
          </a:xfrm>
          <a:prstGeom prst="roundRect">
            <a:avLst>
              <a:gd name="adj" fmla="val 30303"/>
            </a:avLst>
          </a:prstGeom>
          <a:solidFill>
            <a:srgbClr val="2E6F40"/>
          </a:solidFill>
          <a:ln/>
        </p:spPr>
      </p:sp>
      <p:sp>
        <p:nvSpPr>
          <p:cNvPr id="17" name="Text 13"/>
          <p:cNvSpPr/>
          <p:nvPr/>
        </p:nvSpPr>
        <p:spPr>
          <a:xfrm>
            <a:off x="638251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4"/>
          <p:cNvSpPr/>
          <p:nvPr/>
        </p:nvSpPr>
        <p:spPr>
          <a:xfrm>
            <a:off x="7132320" y="198424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L'exigence pédagogique</a:t>
            </a:r>
            <a:endParaRPr lang="en-US" sz="1450" dirty="0"/>
          </a:p>
        </p:txBody>
      </p:sp>
      <p:sp>
        <p:nvSpPr>
          <p:cNvPr id="19" name="Text 15"/>
          <p:cNvSpPr/>
          <p:nvPr/>
        </p:nvSpPr>
        <p:spPr>
          <a:xfrm>
            <a:off x="6400800" y="269748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Fidélité au programme et qualité, sans compromis.</a:t>
            </a:r>
            <a:endParaRPr lang="en-US" sz="1200" dirty="0"/>
          </a:p>
        </p:txBody>
      </p:sp>
      <p:sp>
        <p:nvSpPr>
          <p:cNvPr id="20" name="Shape 16"/>
          <p:cNvSpPr/>
          <p:nvPr/>
        </p:nvSpPr>
        <p:spPr>
          <a:xfrm>
            <a:off x="548640" y="3520440"/>
            <a:ext cx="5394960" cy="1554480"/>
          </a:xfrm>
          <a:prstGeom prst="roundRect">
            <a:avLst>
              <a:gd name="adj" fmla="val 7059"/>
            </a:avLst>
          </a:prstGeom>
          <a:solidFill>
            <a:srgbClr val="EAFAF1"/>
          </a:solidFill>
          <a:ln w="12700">
            <a:solidFill>
              <a:srgbClr val="CDEFDB"/>
            </a:solidFill>
            <a:prstDash val="solid"/>
          </a:ln>
        </p:spPr>
      </p:sp>
      <p:sp>
        <p:nvSpPr>
          <p:cNvPr id="21" name="Shape 17"/>
          <p:cNvSpPr/>
          <p:nvPr/>
        </p:nvSpPr>
        <p:spPr>
          <a:xfrm>
            <a:off x="804672" y="3776472"/>
            <a:ext cx="603504" cy="603504"/>
          </a:xfrm>
          <a:prstGeom prst="roundRect">
            <a:avLst>
              <a:gd name="adj" fmla="val 30303"/>
            </a:avLst>
          </a:prstGeom>
          <a:solidFill>
            <a:srgbClr val="D21034"/>
          </a:solidFill>
          <a:ln/>
        </p:spPr>
      </p:sp>
      <p:sp>
        <p:nvSpPr>
          <p:cNvPr id="22" name="Text 18"/>
          <p:cNvSpPr/>
          <p:nvPr/>
        </p:nvSpPr>
        <p:spPr>
          <a:xfrm>
            <a:off x="804672" y="377647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19"/>
          <p:cNvSpPr/>
          <p:nvPr/>
        </p:nvSpPr>
        <p:spPr>
          <a:xfrm>
            <a:off x="1554480" y="372160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L'entraide entre métiers</a:t>
            </a:r>
            <a:endParaRPr lang="en-US" sz="1450" dirty="0"/>
          </a:p>
        </p:txBody>
      </p:sp>
      <p:sp>
        <p:nvSpPr>
          <p:cNvPr id="24" name="Text 20"/>
          <p:cNvSpPr/>
          <p:nvPr/>
        </p:nvSpPr>
        <p:spPr>
          <a:xfrm>
            <a:off x="822960" y="443484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Pédagogie et technologie se renforcent l'une l'autre.</a:t>
            </a:r>
            <a:endParaRPr lang="en-US" sz="1200" dirty="0"/>
          </a:p>
        </p:txBody>
      </p:sp>
      <p:sp>
        <p:nvSpPr>
          <p:cNvPr id="25" name="Shape 21"/>
          <p:cNvSpPr/>
          <p:nvPr/>
        </p:nvSpPr>
        <p:spPr>
          <a:xfrm>
            <a:off x="6126480" y="3520440"/>
            <a:ext cx="5394960" cy="1554480"/>
          </a:xfrm>
          <a:prstGeom prst="roundRect">
            <a:avLst>
              <a:gd name="adj" fmla="val 7059"/>
            </a:avLst>
          </a:prstGeom>
          <a:solidFill>
            <a:srgbClr val="EAFAF1"/>
          </a:solidFill>
          <a:ln w="12700">
            <a:solidFill>
              <a:srgbClr val="CDEFDB"/>
            </a:solidFill>
            <a:prstDash val="solid"/>
          </a:ln>
        </p:spPr>
      </p:sp>
      <p:sp>
        <p:nvSpPr>
          <p:cNvPr id="26" name="Shape 22"/>
          <p:cNvSpPr/>
          <p:nvPr/>
        </p:nvSpPr>
        <p:spPr>
          <a:xfrm>
            <a:off x="6382512" y="3776472"/>
            <a:ext cx="603504" cy="603504"/>
          </a:xfrm>
          <a:prstGeom prst="roundRect">
            <a:avLst>
              <a:gd name="adj" fmla="val 30303"/>
            </a:avLst>
          </a:prstGeom>
          <a:solidFill>
            <a:srgbClr val="065C3C"/>
          </a:solidFill>
          <a:ln/>
        </p:spPr>
      </p:sp>
      <p:sp>
        <p:nvSpPr>
          <p:cNvPr id="27" name="Text 23"/>
          <p:cNvSpPr/>
          <p:nvPr/>
        </p:nvSpPr>
        <p:spPr>
          <a:xfrm>
            <a:off x="6382512" y="377647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Text 24"/>
          <p:cNvSpPr/>
          <p:nvPr/>
        </p:nvSpPr>
        <p:spPr>
          <a:xfrm>
            <a:off x="7132320" y="372160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La curiosité</a:t>
            </a:r>
            <a:endParaRPr lang="en-US" sz="1450" dirty="0"/>
          </a:p>
        </p:txBody>
      </p:sp>
      <p:sp>
        <p:nvSpPr>
          <p:cNvPr id="29" name="Text 25"/>
          <p:cNvSpPr/>
          <p:nvPr/>
        </p:nvSpPr>
        <p:spPr>
          <a:xfrm>
            <a:off x="6400800" y="443484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On apprend en continu, comme les élèves que nous servons.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ADOSSÉ À UN GROUPE</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La force du Groupe BM</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09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Text 6"/>
          <p:cNvSpPr/>
          <p:nvPr/>
        </p:nvSpPr>
        <p:spPr>
          <a:xfrm>
            <a:off x="548640" y="1828800"/>
            <a:ext cx="10972800" cy="1188720"/>
          </a:xfrm>
          <a:prstGeom prst="rect">
            <a:avLst/>
          </a:prstGeom>
          <a:noFill/>
          <a:ln/>
        </p:spPr>
        <p:txBody>
          <a:bodyPr wrap="square" lIns="0" tIns="0" rIns="0" bIns="0" rtlCol="0" anchor="ctr"/>
          <a:lstStyle/>
          <a:p>
            <a:pPr algn="l" indent="0" marL="0">
              <a:lnSpc>
                <a:spcPct val="115000"/>
              </a:lnSpc>
              <a:spcAft>
                <a:spcPts val="800"/>
              </a:spcAft>
              <a:buNone/>
            </a:pPr>
            <a:r>
              <a:rPr lang="en-US" sz="1550" b="1" dirty="0">
                <a:solidFill>
                  <a:srgbClr val="1A2B26"/>
                </a:solidFill>
                <a:latin typeface="Calibri" pitchFamily="34" charset="0"/>
                <a:ea typeface="Calibri" pitchFamily="34" charset="-122"/>
                <a:cs typeface="Calibri" pitchFamily="34" charset="-120"/>
              </a:rPr>
              <a:t>Bâtir et moderniser.</a:t>
            </a:r>
            <a:endParaRPr lang="en-US" sz="1550" dirty="0"/>
          </a:p>
          <a:p>
            <a:pPr algn="l" indent="0" marL="0">
              <a:lnSpc>
                <a:spcPct val="115000"/>
              </a:lnSpc>
              <a:buNone/>
            </a:pPr>
            <a:r>
              <a:rPr lang="en-US" sz="1550" dirty="0">
                <a:solidFill>
                  <a:srgbClr val="1A2B26"/>
                </a:solidFill>
                <a:latin typeface="Calibri" pitchFamily="34" charset="0"/>
                <a:ea typeface="Calibri" pitchFamily="34" charset="-122"/>
                <a:cs typeface="Calibri" pitchFamily="34" charset="-120"/>
              </a:rPr>
              <a:t>Rejoindre Togo Academy, c'est aussi entrer dans un groupe déjà établi sur plusieurs métiers, avec des ressources et un réseau réels.</a:t>
            </a:r>
            <a:endParaRPr lang="en-US" sz="1550" dirty="0"/>
          </a:p>
        </p:txBody>
      </p:sp>
      <p:sp>
        <p:nvSpPr>
          <p:cNvPr id="11" name="Shape 7"/>
          <p:cNvSpPr/>
          <p:nvPr/>
        </p:nvSpPr>
        <p:spPr>
          <a:xfrm>
            <a:off x="548640" y="3291840"/>
            <a:ext cx="2651760" cy="1920240"/>
          </a:xfrm>
          <a:prstGeom prst="roundRect">
            <a:avLst>
              <a:gd name="adj" fmla="val 5714"/>
            </a:avLst>
          </a:prstGeom>
          <a:solidFill>
            <a:srgbClr val="EAFAF1"/>
          </a:solidFill>
          <a:ln w="12700">
            <a:solidFill>
              <a:srgbClr val="CDEFDB"/>
            </a:solidFill>
            <a:prstDash val="solid"/>
          </a:ln>
        </p:spPr>
      </p:sp>
      <p:sp>
        <p:nvSpPr>
          <p:cNvPr id="12" name="Shape 8"/>
          <p:cNvSpPr/>
          <p:nvPr/>
        </p:nvSpPr>
        <p:spPr>
          <a:xfrm>
            <a:off x="1417320" y="3566160"/>
            <a:ext cx="914400" cy="914400"/>
          </a:xfrm>
          <a:prstGeom prst="roundRect">
            <a:avLst>
              <a:gd name="adj" fmla="val 28000"/>
            </a:avLst>
          </a:prstGeom>
          <a:solidFill>
            <a:srgbClr val="0B8457"/>
          </a:solidFill>
          <a:ln/>
        </p:spPr>
      </p:sp>
      <p:sp>
        <p:nvSpPr>
          <p:cNvPr id="13" name="Text 9"/>
          <p:cNvSpPr/>
          <p:nvPr/>
        </p:nvSpPr>
        <p:spPr>
          <a:xfrm>
            <a:off x="1417320" y="3566160"/>
            <a:ext cx="914400" cy="91440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4" name="Text 10"/>
          <p:cNvSpPr/>
          <p:nvPr/>
        </p:nvSpPr>
        <p:spPr>
          <a:xfrm>
            <a:off x="548640" y="4572000"/>
            <a:ext cx="2651760" cy="457200"/>
          </a:xfrm>
          <a:prstGeom prst="rect">
            <a:avLst/>
          </a:prstGeom>
          <a:noFill/>
          <a:ln/>
        </p:spPr>
        <p:txBody>
          <a:bodyPr wrap="square" lIns="0" tIns="0" rIns="0" bIns="0" rtlCol="0" anchor="ctr"/>
          <a:lstStyle/>
          <a:p>
            <a:pPr algn="ctr" indent="0" marL="0">
              <a:buNone/>
            </a:pPr>
            <a:r>
              <a:rPr lang="en-US" sz="1500" b="1" dirty="0">
                <a:solidFill>
                  <a:srgbClr val="1A2B26"/>
                </a:solidFill>
                <a:latin typeface="Cambria" pitchFamily="34" charset="0"/>
                <a:ea typeface="Cambria" pitchFamily="34" charset="-122"/>
                <a:cs typeface="Cambria" pitchFamily="34" charset="-120"/>
              </a:rPr>
              <a:t>Éducation</a:t>
            </a:r>
            <a:endParaRPr lang="en-US" sz="1500" dirty="0"/>
          </a:p>
        </p:txBody>
      </p:sp>
      <p:sp>
        <p:nvSpPr>
          <p:cNvPr id="15" name="Shape 11"/>
          <p:cNvSpPr/>
          <p:nvPr/>
        </p:nvSpPr>
        <p:spPr>
          <a:xfrm>
            <a:off x="3364992" y="3291840"/>
            <a:ext cx="2651760" cy="1920240"/>
          </a:xfrm>
          <a:prstGeom prst="roundRect">
            <a:avLst>
              <a:gd name="adj" fmla="val 5714"/>
            </a:avLst>
          </a:prstGeom>
          <a:solidFill>
            <a:srgbClr val="EAFAF1"/>
          </a:solidFill>
          <a:ln w="12700">
            <a:solidFill>
              <a:srgbClr val="CDEFDB"/>
            </a:solidFill>
            <a:prstDash val="solid"/>
          </a:ln>
        </p:spPr>
      </p:sp>
      <p:sp>
        <p:nvSpPr>
          <p:cNvPr id="16" name="Shape 12"/>
          <p:cNvSpPr/>
          <p:nvPr/>
        </p:nvSpPr>
        <p:spPr>
          <a:xfrm>
            <a:off x="4233672" y="3566160"/>
            <a:ext cx="914400" cy="914400"/>
          </a:xfrm>
          <a:prstGeom prst="roundRect">
            <a:avLst>
              <a:gd name="adj" fmla="val 28000"/>
            </a:avLst>
          </a:prstGeom>
          <a:solidFill>
            <a:srgbClr val="2E6F40"/>
          </a:solidFill>
          <a:ln/>
        </p:spPr>
      </p:sp>
      <p:sp>
        <p:nvSpPr>
          <p:cNvPr id="17" name="Text 13"/>
          <p:cNvSpPr/>
          <p:nvPr/>
        </p:nvSpPr>
        <p:spPr>
          <a:xfrm>
            <a:off x="4233672" y="3566160"/>
            <a:ext cx="914400" cy="91440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8" name="Text 14"/>
          <p:cNvSpPr/>
          <p:nvPr/>
        </p:nvSpPr>
        <p:spPr>
          <a:xfrm>
            <a:off x="3364992" y="4572000"/>
            <a:ext cx="2651760" cy="457200"/>
          </a:xfrm>
          <a:prstGeom prst="rect">
            <a:avLst/>
          </a:prstGeom>
          <a:noFill/>
          <a:ln/>
        </p:spPr>
        <p:txBody>
          <a:bodyPr wrap="square" lIns="0" tIns="0" rIns="0" bIns="0" rtlCol="0" anchor="ctr"/>
          <a:lstStyle/>
          <a:p>
            <a:pPr algn="ctr" indent="0" marL="0">
              <a:buNone/>
            </a:pPr>
            <a:r>
              <a:rPr lang="en-US" sz="1500" b="1" dirty="0">
                <a:solidFill>
                  <a:srgbClr val="1A2B26"/>
                </a:solidFill>
                <a:latin typeface="Cambria" pitchFamily="34" charset="0"/>
                <a:ea typeface="Cambria" pitchFamily="34" charset="-122"/>
                <a:cs typeface="Cambria" pitchFamily="34" charset="-120"/>
              </a:rPr>
              <a:t>Immigration</a:t>
            </a:r>
            <a:endParaRPr lang="en-US" sz="1500" dirty="0"/>
          </a:p>
        </p:txBody>
      </p:sp>
      <p:sp>
        <p:nvSpPr>
          <p:cNvPr id="19" name="Shape 15"/>
          <p:cNvSpPr/>
          <p:nvPr/>
        </p:nvSpPr>
        <p:spPr>
          <a:xfrm>
            <a:off x="6181344" y="3291840"/>
            <a:ext cx="2651760" cy="1920240"/>
          </a:xfrm>
          <a:prstGeom prst="roundRect">
            <a:avLst>
              <a:gd name="adj" fmla="val 5714"/>
            </a:avLst>
          </a:prstGeom>
          <a:solidFill>
            <a:srgbClr val="EAFAF1"/>
          </a:solidFill>
          <a:ln w="12700">
            <a:solidFill>
              <a:srgbClr val="CDEFDB"/>
            </a:solidFill>
            <a:prstDash val="solid"/>
          </a:ln>
        </p:spPr>
      </p:sp>
      <p:sp>
        <p:nvSpPr>
          <p:cNvPr id="20" name="Shape 16"/>
          <p:cNvSpPr/>
          <p:nvPr/>
        </p:nvSpPr>
        <p:spPr>
          <a:xfrm>
            <a:off x="7050024" y="3566160"/>
            <a:ext cx="914400" cy="914400"/>
          </a:xfrm>
          <a:prstGeom prst="roundRect">
            <a:avLst>
              <a:gd name="adj" fmla="val 28000"/>
            </a:avLst>
          </a:prstGeom>
          <a:solidFill>
            <a:srgbClr val="D21034"/>
          </a:solidFill>
          <a:ln/>
        </p:spPr>
      </p:sp>
      <p:sp>
        <p:nvSpPr>
          <p:cNvPr id="21" name="Text 17"/>
          <p:cNvSpPr/>
          <p:nvPr/>
        </p:nvSpPr>
        <p:spPr>
          <a:xfrm>
            <a:off x="7050024" y="3566160"/>
            <a:ext cx="914400" cy="91440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2" name="Text 18"/>
          <p:cNvSpPr/>
          <p:nvPr/>
        </p:nvSpPr>
        <p:spPr>
          <a:xfrm>
            <a:off x="6181344" y="4572000"/>
            <a:ext cx="2651760" cy="457200"/>
          </a:xfrm>
          <a:prstGeom prst="rect">
            <a:avLst/>
          </a:prstGeom>
          <a:noFill/>
          <a:ln/>
        </p:spPr>
        <p:txBody>
          <a:bodyPr wrap="square" lIns="0" tIns="0" rIns="0" bIns="0" rtlCol="0" anchor="ctr"/>
          <a:lstStyle/>
          <a:p>
            <a:pPr algn="ctr" indent="0" marL="0">
              <a:buNone/>
            </a:pPr>
            <a:r>
              <a:rPr lang="en-US" sz="1500" b="1" dirty="0">
                <a:solidFill>
                  <a:srgbClr val="1A2B26"/>
                </a:solidFill>
                <a:latin typeface="Cambria" pitchFamily="34" charset="0"/>
                <a:ea typeface="Cambria" pitchFamily="34" charset="-122"/>
                <a:cs typeface="Cambria" pitchFamily="34" charset="-120"/>
              </a:rPr>
              <a:t>Services</a:t>
            </a:r>
            <a:endParaRPr lang="en-US" sz="1500" dirty="0"/>
          </a:p>
        </p:txBody>
      </p:sp>
      <p:sp>
        <p:nvSpPr>
          <p:cNvPr id="23" name="Shape 19"/>
          <p:cNvSpPr/>
          <p:nvPr/>
        </p:nvSpPr>
        <p:spPr>
          <a:xfrm>
            <a:off x="8997696" y="3291840"/>
            <a:ext cx="2651760" cy="1920240"/>
          </a:xfrm>
          <a:prstGeom prst="roundRect">
            <a:avLst>
              <a:gd name="adj" fmla="val 5714"/>
            </a:avLst>
          </a:prstGeom>
          <a:solidFill>
            <a:srgbClr val="EAFAF1"/>
          </a:solidFill>
          <a:ln w="12700">
            <a:solidFill>
              <a:srgbClr val="CDEFDB"/>
            </a:solidFill>
            <a:prstDash val="solid"/>
          </a:ln>
        </p:spPr>
      </p:sp>
      <p:sp>
        <p:nvSpPr>
          <p:cNvPr id="24" name="Shape 20"/>
          <p:cNvSpPr/>
          <p:nvPr/>
        </p:nvSpPr>
        <p:spPr>
          <a:xfrm>
            <a:off x="9866376" y="3566160"/>
            <a:ext cx="914400" cy="914400"/>
          </a:xfrm>
          <a:prstGeom prst="roundRect">
            <a:avLst>
              <a:gd name="adj" fmla="val 28000"/>
            </a:avLst>
          </a:prstGeom>
          <a:solidFill>
            <a:srgbClr val="065C3C"/>
          </a:solidFill>
          <a:ln/>
        </p:spPr>
      </p:sp>
      <p:sp>
        <p:nvSpPr>
          <p:cNvPr id="25" name="Text 21"/>
          <p:cNvSpPr/>
          <p:nvPr/>
        </p:nvSpPr>
        <p:spPr>
          <a:xfrm>
            <a:off x="9866376" y="3566160"/>
            <a:ext cx="914400" cy="91440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6" name="Text 22"/>
          <p:cNvSpPr/>
          <p:nvPr/>
        </p:nvSpPr>
        <p:spPr>
          <a:xfrm>
            <a:off x="8997696" y="4572000"/>
            <a:ext cx="2651760" cy="457200"/>
          </a:xfrm>
          <a:prstGeom prst="rect">
            <a:avLst/>
          </a:prstGeom>
          <a:noFill/>
          <a:ln/>
        </p:spPr>
        <p:txBody>
          <a:bodyPr wrap="square" lIns="0" tIns="0" rIns="0" bIns="0" rtlCol="0" anchor="ctr"/>
          <a:lstStyle/>
          <a:p>
            <a:pPr algn="ctr" indent="0" marL="0">
              <a:buNone/>
            </a:pPr>
            <a:r>
              <a:rPr lang="en-US" sz="1500" b="1" dirty="0">
                <a:solidFill>
                  <a:srgbClr val="1A2B26"/>
                </a:solidFill>
                <a:latin typeface="Cambria" pitchFamily="34" charset="0"/>
                <a:ea typeface="Cambria" pitchFamily="34" charset="-122"/>
                <a:cs typeface="Cambria" pitchFamily="34" charset="-120"/>
              </a:rPr>
              <a:t>Ingénierie et recherche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NOTRE VISION</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Grandissez avec la plateforme</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10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920240"/>
            <a:ext cx="3520440" cy="3108960"/>
          </a:xfrm>
          <a:prstGeom prst="roundRect">
            <a:avLst>
              <a:gd name="adj" fmla="val 3529"/>
            </a:avLst>
          </a:prstGeom>
          <a:solidFill>
            <a:srgbClr val="EAFAF1"/>
          </a:solidFill>
          <a:ln w="12700">
            <a:solidFill>
              <a:srgbClr val="CDEFDB"/>
            </a:solidFill>
            <a:prstDash val="solid"/>
          </a:ln>
        </p:spPr>
      </p:sp>
      <p:sp>
        <p:nvSpPr>
          <p:cNvPr id="11" name="Shape 7"/>
          <p:cNvSpPr/>
          <p:nvPr/>
        </p:nvSpPr>
        <p:spPr>
          <a:xfrm>
            <a:off x="822960" y="2194560"/>
            <a:ext cx="777240" cy="777240"/>
          </a:xfrm>
          <a:prstGeom prst="roundRect">
            <a:avLst>
              <a:gd name="adj" fmla="val 30588"/>
            </a:avLst>
          </a:prstGeom>
          <a:solidFill>
            <a:srgbClr val="0B8457"/>
          </a:solidFill>
          <a:ln/>
        </p:spPr>
      </p:sp>
      <p:sp>
        <p:nvSpPr>
          <p:cNvPr id="12" name="Text 8"/>
          <p:cNvSpPr/>
          <p:nvPr/>
        </p:nvSpPr>
        <p:spPr>
          <a:xfrm>
            <a:off x="822960" y="219456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3" name="Text 9"/>
          <p:cNvSpPr/>
          <p:nvPr/>
        </p:nvSpPr>
        <p:spPr>
          <a:xfrm>
            <a:off x="822960" y="3154680"/>
            <a:ext cx="2971800" cy="548640"/>
          </a:xfrm>
          <a:prstGeom prst="rect">
            <a:avLst/>
          </a:prstGeom>
          <a:noFill/>
          <a:ln/>
        </p:spPr>
        <p:txBody>
          <a:bodyPr wrap="square" lIns="0" tIns="0" rIns="0" bIns="0" rtlCol="0" anchor="ctr"/>
          <a:lstStyle/>
          <a:p>
            <a:pPr algn="l" indent="0" marL="0">
              <a:buNone/>
            </a:pPr>
            <a:r>
              <a:rPr lang="en-US" sz="1700" b="1" dirty="0">
                <a:solidFill>
                  <a:srgbClr val="1A2B26"/>
                </a:solidFill>
                <a:latin typeface="Cambria" pitchFamily="34" charset="0"/>
                <a:ea typeface="Cambria" pitchFamily="34" charset="-122"/>
                <a:cs typeface="Cambria" pitchFamily="34" charset="-120"/>
              </a:rPr>
              <a:t>Consolider le Togo</a:t>
            </a:r>
            <a:endParaRPr lang="en-US" sz="1700" dirty="0"/>
          </a:p>
        </p:txBody>
      </p:sp>
      <p:sp>
        <p:nvSpPr>
          <p:cNvPr id="14" name="Text 10"/>
          <p:cNvSpPr/>
          <p:nvPr/>
        </p:nvSpPr>
        <p:spPr>
          <a:xfrm>
            <a:off x="822960" y="3703320"/>
            <a:ext cx="2971800" cy="1188720"/>
          </a:xfrm>
          <a:prstGeom prst="rect">
            <a:avLst/>
          </a:prstGeom>
          <a:noFill/>
          <a:ln/>
        </p:spPr>
        <p:txBody>
          <a:bodyPr wrap="square" lIns="0" tIns="0" rIns="0" bIns="0" rtlCol="0" anchor="ctr"/>
          <a:lstStyle/>
          <a:p>
            <a:pPr algn="l" indent="0" marL="0">
              <a:lnSpc>
                <a:spcPct val="112000"/>
              </a:lnSpc>
              <a:buNone/>
            </a:pPr>
            <a:r>
              <a:rPr lang="en-US" sz="1250" dirty="0">
                <a:solidFill>
                  <a:srgbClr val="5C6B66"/>
                </a:solidFill>
                <a:latin typeface="Calibri" pitchFamily="34" charset="0"/>
                <a:ea typeface="Calibri" pitchFamily="34" charset="-122"/>
                <a:cs typeface="Calibri" pitchFamily="34" charset="-120"/>
              </a:rPr>
              <a:t>Compléter les contenus et servir de plus en plus d'élèves au pays.</a:t>
            </a:r>
            <a:endParaRPr lang="en-US" sz="1250" dirty="0"/>
          </a:p>
        </p:txBody>
      </p:sp>
      <p:sp>
        <p:nvSpPr>
          <p:cNvPr id="15" name="Shape 11"/>
          <p:cNvSpPr/>
          <p:nvPr/>
        </p:nvSpPr>
        <p:spPr>
          <a:xfrm>
            <a:off x="4251960" y="1920240"/>
            <a:ext cx="3520440" cy="3108960"/>
          </a:xfrm>
          <a:prstGeom prst="roundRect">
            <a:avLst>
              <a:gd name="adj" fmla="val 3529"/>
            </a:avLst>
          </a:prstGeom>
          <a:solidFill>
            <a:srgbClr val="EAFAF1"/>
          </a:solidFill>
          <a:ln w="12700">
            <a:solidFill>
              <a:srgbClr val="CDEFDB"/>
            </a:solidFill>
            <a:prstDash val="solid"/>
          </a:ln>
        </p:spPr>
      </p:sp>
      <p:sp>
        <p:nvSpPr>
          <p:cNvPr id="16" name="Shape 12"/>
          <p:cNvSpPr/>
          <p:nvPr/>
        </p:nvSpPr>
        <p:spPr>
          <a:xfrm>
            <a:off x="4526280" y="2194560"/>
            <a:ext cx="777240" cy="777240"/>
          </a:xfrm>
          <a:prstGeom prst="roundRect">
            <a:avLst>
              <a:gd name="adj" fmla="val 30588"/>
            </a:avLst>
          </a:prstGeom>
          <a:solidFill>
            <a:srgbClr val="2E6F40"/>
          </a:solidFill>
          <a:ln/>
        </p:spPr>
      </p:sp>
      <p:sp>
        <p:nvSpPr>
          <p:cNvPr id="17" name="Text 13"/>
          <p:cNvSpPr/>
          <p:nvPr/>
        </p:nvSpPr>
        <p:spPr>
          <a:xfrm>
            <a:off x="4526280" y="219456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8" name="Text 14"/>
          <p:cNvSpPr/>
          <p:nvPr/>
        </p:nvSpPr>
        <p:spPr>
          <a:xfrm>
            <a:off x="4526280" y="3154680"/>
            <a:ext cx="2971800" cy="548640"/>
          </a:xfrm>
          <a:prstGeom prst="rect">
            <a:avLst/>
          </a:prstGeom>
          <a:noFill/>
          <a:ln/>
        </p:spPr>
        <p:txBody>
          <a:bodyPr wrap="square" lIns="0" tIns="0" rIns="0" bIns="0" rtlCol="0" anchor="ctr"/>
          <a:lstStyle/>
          <a:p>
            <a:pPr algn="l" indent="0" marL="0">
              <a:buNone/>
            </a:pPr>
            <a:r>
              <a:rPr lang="en-US" sz="1700" b="1" dirty="0">
                <a:solidFill>
                  <a:srgbClr val="1A2B26"/>
                </a:solidFill>
                <a:latin typeface="Cambria" pitchFamily="34" charset="0"/>
                <a:ea typeface="Cambria" pitchFamily="34" charset="-122"/>
                <a:cs typeface="Cambria" pitchFamily="34" charset="-120"/>
              </a:rPr>
              <a:t>Grandir en équipe</a:t>
            </a:r>
            <a:endParaRPr lang="en-US" sz="1700" dirty="0"/>
          </a:p>
        </p:txBody>
      </p:sp>
      <p:sp>
        <p:nvSpPr>
          <p:cNvPr id="19" name="Text 15"/>
          <p:cNvSpPr/>
          <p:nvPr/>
        </p:nvSpPr>
        <p:spPr>
          <a:xfrm>
            <a:off x="4526280" y="3703320"/>
            <a:ext cx="2971800" cy="1188720"/>
          </a:xfrm>
          <a:prstGeom prst="rect">
            <a:avLst/>
          </a:prstGeom>
          <a:noFill/>
          <a:ln/>
        </p:spPr>
        <p:txBody>
          <a:bodyPr wrap="square" lIns="0" tIns="0" rIns="0" bIns="0" rtlCol="0" anchor="ctr"/>
          <a:lstStyle/>
          <a:p>
            <a:pPr algn="l" indent="0" marL="0">
              <a:lnSpc>
                <a:spcPct val="112000"/>
              </a:lnSpc>
              <a:buNone/>
            </a:pPr>
            <a:r>
              <a:rPr lang="en-US" sz="1250" dirty="0">
                <a:solidFill>
                  <a:srgbClr val="5C6B66"/>
                </a:solidFill>
                <a:latin typeface="Calibri" pitchFamily="34" charset="0"/>
                <a:ea typeface="Calibri" pitchFamily="34" charset="-122"/>
                <a:cs typeface="Calibri" pitchFamily="34" charset="-120"/>
              </a:rPr>
              <a:t>Densifier l'équipe et l'offre, faire évoluer chacun avec le projet.</a:t>
            </a:r>
            <a:endParaRPr lang="en-US" sz="1250" dirty="0"/>
          </a:p>
        </p:txBody>
      </p:sp>
      <p:sp>
        <p:nvSpPr>
          <p:cNvPr id="20" name="Shape 16"/>
          <p:cNvSpPr/>
          <p:nvPr/>
        </p:nvSpPr>
        <p:spPr>
          <a:xfrm>
            <a:off x="7955280" y="1920240"/>
            <a:ext cx="3520440" cy="3108960"/>
          </a:xfrm>
          <a:prstGeom prst="roundRect">
            <a:avLst>
              <a:gd name="adj" fmla="val 3529"/>
            </a:avLst>
          </a:prstGeom>
          <a:solidFill>
            <a:srgbClr val="EAFAF1"/>
          </a:solidFill>
          <a:ln w="12700">
            <a:solidFill>
              <a:srgbClr val="CDEFDB"/>
            </a:solidFill>
            <a:prstDash val="solid"/>
          </a:ln>
        </p:spPr>
      </p:sp>
      <p:sp>
        <p:nvSpPr>
          <p:cNvPr id="21" name="Shape 17"/>
          <p:cNvSpPr/>
          <p:nvPr/>
        </p:nvSpPr>
        <p:spPr>
          <a:xfrm>
            <a:off x="8229600" y="2194560"/>
            <a:ext cx="777240" cy="777240"/>
          </a:xfrm>
          <a:prstGeom prst="roundRect">
            <a:avLst>
              <a:gd name="adj" fmla="val 30588"/>
            </a:avLst>
          </a:prstGeom>
          <a:solidFill>
            <a:srgbClr val="065C3C"/>
          </a:solidFill>
          <a:ln/>
        </p:spPr>
      </p:sp>
      <p:sp>
        <p:nvSpPr>
          <p:cNvPr id="22" name="Text 18"/>
          <p:cNvSpPr/>
          <p:nvPr/>
        </p:nvSpPr>
        <p:spPr>
          <a:xfrm>
            <a:off x="8229600" y="219456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23" name="Text 19"/>
          <p:cNvSpPr/>
          <p:nvPr/>
        </p:nvSpPr>
        <p:spPr>
          <a:xfrm>
            <a:off x="8229600" y="3154680"/>
            <a:ext cx="2971800" cy="548640"/>
          </a:xfrm>
          <a:prstGeom prst="rect">
            <a:avLst/>
          </a:prstGeom>
          <a:noFill/>
          <a:ln/>
        </p:spPr>
        <p:txBody>
          <a:bodyPr wrap="square" lIns="0" tIns="0" rIns="0" bIns="0" rtlCol="0" anchor="ctr"/>
          <a:lstStyle/>
          <a:p>
            <a:pPr algn="l" indent="0" marL="0">
              <a:buNone/>
            </a:pPr>
            <a:r>
              <a:rPr lang="en-US" sz="1700" b="1" dirty="0">
                <a:solidFill>
                  <a:srgbClr val="1A2B26"/>
                </a:solidFill>
                <a:latin typeface="Cambria" pitchFamily="34" charset="0"/>
                <a:ea typeface="Cambria" pitchFamily="34" charset="-122"/>
                <a:cs typeface="Cambria" pitchFamily="34" charset="-120"/>
              </a:rPr>
              <a:t>Rayonner en Afrique</a:t>
            </a:r>
            <a:endParaRPr lang="en-US" sz="1700" dirty="0"/>
          </a:p>
        </p:txBody>
      </p:sp>
      <p:sp>
        <p:nvSpPr>
          <p:cNvPr id="24" name="Text 20"/>
          <p:cNvSpPr/>
          <p:nvPr/>
        </p:nvSpPr>
        <p:spPr>
          <a:xfrm>
            <a:off x="8229600" y="3703320"/>
            <a:ext cx="2971800" cy="1188720"/>
          </a:xfrm>
          <a:prstGeom prst="rect">
            <a:avLst/>
          </a:prstGeom>
          <a:noFill/>
          <a:ln/>
        </p:spPr>
        <p:txBody>
          <a:bodyPr wrap="square" lIns="0" tIns="0" rIns="0" bIns="0" rtlCol="0" anchor="ctr"/>
          <a:lstStyle/>
          <a:p>
            <a:pPr algn="l" indent="0" marL="0">
              <a:lnSpc>
                <a:spcPct val="112000"/>
              </a:lnSpc>
              <a:buNone/>
            </a:pPr>
            <a:r>
              <a:rPr lang="en-US" sz="1250" dirty="0">
                <a:solidFill>
                  <a:srgbClr val="5C6B66"/>
                </a:solidFill>
                <a:latin typeface="Calibri" pitchFamily="34" charset="0"/>
                <a:ea typeface="Calibri" pitchFamily="34" charset="-122"/>
                <a:cs typeface="Calibri" pitchFamily="34" charset="-120"/>
              </a:rPr>
              <a:t>Étendre la plateforme aux pays voisins francophones.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COMMENT NOUS REJOINDRE</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Trois étapes, simplement</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11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920240"/>
            <a:ext cx="3520440" cy="3108960"/>
          </a:xfrm>
          <a:prstGeom prst="roundRect">
            <a:avLst>
              <a:gd name="adj" fmla="val 3529"/>
            </a:avLst>
          </a:prstGeom>
          <a:solidFill>
            <a:srgbClr val="EAFAF1"/>
          </a:solidFill>
          <a:ln w="12700">
            <a:solidFill>
              <a:srgbClr val="CDEFDB"/>
            </a:solidFill>
            <a:prstDash val="solid"/>
          </a:ln>
        </p:spPr>
      </p:sp>
      <p:sp>
        <p:nvSpPr>
          <p:cNvPr id="11" name="Shape 7"/>
          <p:cNvSpPr/>
          <p:nvPr/>
        </p:nvSpPr>
        <p:spPr>
          <a:xfrm>
            <a:off x="822960" y="2194560"/>
            <a:ext cx="777240" cy="777240"/>
          </a:xfrm>
          <a:prstGeom prst="roundRect">
            <a:avLst>
              <a:gd name="adj" fmla="val 30588"/>
            </a:avLst>
          </a:prstGeom>
          <a:solidFill>
            <a:srgbClr val="0B8457"/>
          </a:solidFill>
          <a:ln/>
        </p:spPr>
      </p:sp>
      <p:sp>
        <p:nvSpPr>
          <p:cNvPr id="12" name="Text 8"/>
          <p:cNvSpPr/>
          <p:nvPr/>
        </p:nvSpPr>
        <p:spPr>
          <a:xfrm>
            <a:off x="822960" y="219456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3" name="Text 9"/>
          <p:cNvSpPr/>
          <p:nvPr/>
        </p:nvSpPr>
        <p:spPr>
          <a:xfrm>
            <a:off x="822960" y="3154680"/>
            <a:ext cx="2971800" cy="548640"/>
          </a:xfrm>
          <a:prstGeom prst="rect">
            <a:avLst/>
          </a:prstGeom>
          <a:noFill/>
          <a:ln/>
        </p:spPr>
        <p:txBody>
          <a:bodyPr wrap="square" lIns="0" tIns="0" rIns="0" bIns="0" rtlCol="0" anchor="ctr"/>
          <a:lstStyle/>
          <a:p>
            <a:pPr algn="l" indent="0" marL="0">
              <a:buNone/>
            </a:pPr>
            <a:r>
              <a:rPr lang="en-US" sz="1700" b="1" dirty="0">
                <a:solidFill>
                  <a:srgbClr val="1A2B26"/>
                </a:solidFill>
                <a:latin typeface="Cambria" pitchFamily="34" charset="0"/>
                <a:ea typeface="Cambria" pitchFamily="34" charset="-122"/>
                <a:cs typeface="Cambria" pitchFamily="34" charset="-120"/>
              </a:rPr>
              <a:t>Écrivez-nous</a:t>
            </a:r>
            <a:endParaRPr lang="en-US" sz="1700" dirty="0"/>
          </a:p>
        </p:txBody>
      </p:sp>
      <p:sp>
        <p:nvSpPr>
          <p:cNvPr id="14" name="Text 10"/>
          <p:cNvSpPr/>
          <p:nvPr/>
        </p:nvSpPr>
        <p:spPr>
          <a:xfrm>
            <a:off x="822960" y="3703320"/>
            <a:ext cx="2971800" cy="1188720"/>
          </a:xfrm>
          <a:prstGeom prst="rect">
            <a:avLst/>
          </a:prstGeom>
          <a:noFill/>
          <a:ln/>
        </p:spPr>
        <p:txBody>
          <a:bodyPr wrap="square" lIns="0" tIns="0" rIns="0" bIns="0" rtlCol="0" anchor="ctr"/>
          <a:lstStyle/>
          <a:p>
            <a:pPr algn="l" indent="0" marL="0">
              <a:lnSpc>
                <a:spcPct val="112000"/>
              </a:lnSpc>
              <a:buNone/>
            </a:pPr>
            <a:r>
              <a:rPr lang="en-US" sz="1250" dirty="0">
                <a:solidFill>
                  <a:srgbClr val="5C6B66"/>
                </a:solidFill>
                <a:latin typeface="Calibri" pitchFamily="34" charset="0"/>
                <a:ea typeface="Calibri" pitchFamily="34" charset="-122"/>
                <a:cs typeface="Calibri" pitchFamily="34" charset="-120"/>
              </a:rPr>
              <a:t>Présentez-vous via academie.groupebm.net/contact ou à info@groupebm.net.</a:t>
            </a:r>
            <a:endParaRPr lang="en-US" sz="1250" dirty="0"/>
          </a:p>
        </p:txBody>
      </p:sp>
      <p:sp>
        <p:nvSpPr>
          <p:cNvPr id="15" name="Shape 11"/>
          <p:cNvSpPr/>
          <p:nvPr/>
        </p:nvSpPr>
        <p:spPr>
          <a:xfrm>
            <a:off x="4251960" y="1920240"/>
            <a:ext cx="3520440" cy="3108960"/>
          </a:xfrm>
          <a:prstGeom prst="roundRect">
            <a:avLst>
              <a:gd name="adj" fmla="val 3529"/>
            </a:avLst>
          </a:prstGeom>
          <a:solidFill>
            <a:srgbClr val="EAFAF1"/>
          </a:solidFill>
          <a:ln w="12700">
            <a:solidFill>
              <a:srgbClr val="CDEFDB"/>
            </a:solidFill>
            <a:prstDash val="solid"/>
          </a:ln>
        </p:spPr>
      </p:sp>
      <p:sp>
        <p:nvSpPr>
          <p:cNvPr id="16" name="Shape 12"/>
          <p:cNvSpPr/>
          <p:nvPr/>
        </p:nvSpPr>
        <p:spPr>
          <a:xfrm>
            <a:off x="4526280" y="2194560"/>
            <a:ext cx="777240" cy="777240"/>
          </a:xfrm>
          <a:prstGeom prst="roundRect">
            <a:avLst>
              <a:gd name="adj" fmla="val 30588"/>
            </a:avLst>
          </a:prstGeom>
          <a:solidFill>
            <a:srgbClr val="2E6F40"/>
          </a:solidFill>
          <a:ln/>
        </p:spPr>
      </p:sp>
      <p:sp>
        <p:nvSpPr>
          <p:cNvPr id="17" name="Text 13"/>
          <p:cNvSpPr/>
          <p:nvPr/>
        </p:nvSpPr>
        <p:spPr>
          <a:xfrm>
            <a:off x="4526280" y="219456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8" name="Text 14"/>
          <p:cNvSpPr/>
          <p:nvPr/>
        </p:nvSpPr>
        <p:spPr>
          <a:xfrm>
            <a:off x="4526280" y="3154680"/>
            <a:ext cx="2971800" cy="548640"/>
          </a:xfrm>
          <a:prstGeom prst="rect">
            <a:avLst/>
          </a:prstGeom>
          <a:noFill/>
          <a:ln/>
        </p:spPr>
        <p:txBody>
          <a:bodyPr wrap="square" lIns="0" tIns="0" rIns="0" bIns="0" rtlCol="0" anchor="ctr"/>
          <a:lstStyle/>
          <a:p>
            <a:pPr algn="l" indent="0" marL="0">
              <a:buNone/>
            </a:pPr>
            <a:r>
              <a:rPr lang="en-US" sz="1700" b="1" dirty="0">
                <a:solidFill>
                  <a:srgbClr val="1A2B26"/>
                </a:solidFill>
                <a:latin typeface="Cambria" pitchFamily="34" charset="0"/>
                <a:ea typeface="Cambria" pitchFamily="34" charset="-122"/>
                <a:cs typeface="Cambria" pitchFamily="34" charset="-120"/>
              </a:rPr>
              <a:t>Échangeons</a:t>
            </a:r>
            <a:endParaRPr lang="en-US" sz="1700" dirty="0"/>
          </a:p>
        </p:txBody>
      </p:sp>
      <p:sp>
        <p:nvSpPr>
          <p:cNvPr id="19" name="Text 15"/>
          <p:cNvSpPr/>
          <p:nvPr/>
        </p:nvSpPr>
        <p:spPr>
          <a:xfrm>
            <a:off x="4526280" y="3703320"/>
            <a:ext cx="2971800" cy="1188720"/>
          </a:xfrm>
          <a:prstGeom prst="rect">
            <a:avLst/>
          </a:prstGeom>
          <a:noFill/>
          <a:ln/>
        </p:spPr>
        <p:txBody>
          <a:bodyPr wrap="square" lIns="0" tIns="0" rIns="0" bIns="0" rtlCol="0" anchor="ctr"/>
          <a:lstStyle/>
          <a:p>
            <a:pPr algn="l" indent="0" marL="0">
              <a:lnSpc>
                <a:spcPct val="112000"/>
              </a:lnSpc>
              <a:buNone/>
            </a:pPr>
            <a:r>
              <a:rPr lang="en-US" sz="1250" dirty="0">
                <a:solidFill>
                  <a:srgbClr val="5C6B66"/>
                </a:solidFill>
                <a:latin typeface="Calibri" pitchFamily="34" charset="0"/>
                <a:ea typeface="Calibri" pitchFamily="34" charset="-122"/>
                <a:cs typeface="Calibri" pitchFamily="34" charset="-120"/>
              </a:rPr>
              <a:t>Un échange pour comprendre votre profil, vos envies et vos disponibilités.</a:t>
            </a:r>
            <a:endParaRPr lang="en-US" sz="1250" dirty="0"/>
          </a:p>
        </p:txBody>
      </p:sp>
      <p:sp>
        <p:nvSpPr>
          <p:cNvPr id="20" name="Shape 16"/>
          <p:cNvSpPr/>
          <p:nvPr/>
        </p:nvSpPr>
        <p:spPr>
          <a:xfrm>
            <a:off x="7955280" y="1920240"/>
            <a:ext cx="3520440" cy="3108960"/>
          </a:xfrm>
          <a:prstGeom prst="roundRect">
            <a:avLst>
              <a:gd name="adj" fmla="val 3529"/>
            </a:avLst>
          </a:prstGeom>
          <a:solidFill>
            <a:srgbClr val="EAFAF1"/>
          </a:solidFill>
          <a:ln w="12700">
            <a:solidFill>
              <a:srgbClr val="CDEFDB"/>
            </a:solidFill>
            <a:prstDash val="solid"/>
          </a:ln>
        </p:spPr>
      </p:sp>
      <p:sp>
        <p:nvSpPr>
          <p:cNvPr id="21" name="Shape 17"/>
          <p:cNvSpPr/>
          <p:nvPr/>
        </p:nvSpPr>
        <p:spPr>
          <a:xfrm>
            <a:off x="8229600" y="2194560"/>
            <a:ext cx="777240" cy="777240"/>
          </a:xfrm>
          <a:prstGeom prst="roundRect">
            <a:avLst>
              <a:gd name="adj" fmla="val 30588"/>
            </a:avLst>
          </a:prstGeom>
          <a:solidFill>
            <a:srgbClr val="065C3C"/>
          </a:solidFill>
          <a:ln/>
        </p:spPr>
      </p:sp>
      <p:sp>
        <p:nvSpPr>
          <p:cNvPr id="22" name="Text 18"/>
          <p:cNvSpPr/>
          <p:nvPr/>
        </p:nvSpPr>
        <p:spPr>
          <a:xfrm>
            <a:off x="8229600" y="219456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23" name="Text 19"/>
          <p:cNvSpPr/>
          <p:nvPr/>
        </p:nvSpPr>
        <p:spPr>
          <a:xfrm>
            <a:off x="8229600" y="3154680"/>
            <a:ext cx="2971800" cy="548640"/>
          </a:xfrm>
          <a:prstGeom prst="rect">
            <a:avLst/>
          </a:prstGeom>
          <a:noFill/>
          <a:ln/>
        </p:spPr>
        <p:txBody>
          <a:bodyPr wrap="square" lIns="0" tIns="0" rIns="0" bIns="0" rtlCol="0" anchor="ctr"/>
          <a:lstStyle/>
          <a:p>
            <a:pPr algn="l" indent="0" marL="0">
              <a:buNone/>
            </a:pPr>
            <a:r>
              <a:rPr lang="en-US" sz="1700" b="1" dirty="0">
                <a:solidFill>
                  <a:srgbClr val="1A2B26"/>
                </a:solidFill>
                <a:latin typeface="Cambria" pitchFamily="34" charset="0"/>
                <a:ea typeface="Cambria" pitchFamily="34" charset="-122"/>
                <a:cs typeface="Cambria" pitchFamily="34" charset="-120"/>
              </a:rPr>
              <a:t>Démarrons</a:t>
            </a:r>
            <a:endParaRPr lang="en-US" sz="1700" dirty="0"/>
          </a:p>
        </p:txBody>
      </p:sp>
      <p:sp>
        <p:nvSpPr>
          <p:cNvPr id="24" name="Text 20"/>
          <p:cNvSpPr/>
          <p:nvPr/>
        </p:nvSpPr>
        <p:spPr>
          <a:xfrm>
            <a:off x="8229600" y="3703320"/>
            <a:ext cx="2971800" cy="1188720"/>
          </a:xfrm>
          <a:prstGeom prst="rect">
            <a:avLst/>
          </a:prstGeom>
          <a:noFill/>
          <a:ln/>
        </p:spPr>
        <p:txBody>
          <a:bodyPr wrap="square" lIns="0" tIns="0" rIns="0" bIns="0" rtlCol="0" anchor="ctr"/>
          <a:lstStyle/>
          <a:p>
            <a:pPr algn="l" indent="0" marL="0">
              <a:lnSpc>
                <a:spcPct val="112000"/>
              </a:lnSpc>
              <a:buNone/>
            </a:pPr>
            <a:r>
              <a:rPr lang="en-US" sz="1250" dirty="0">
                <a:solidFill>
                  <a:srgbClr val="5C6B66"/>
                </a:solidFill>
                <a:latin typeface="Calibri" pitchFamily="34" charset="0"/>
                <a:ea typeface="Calibri" pitchFamily="34" charset="-122"/>
                <a:cs typeface="Calibri" pitchFamily="34" charset="-120"/>
              </a:rPr>
              <a:t>Une première mission ou collaboration pour bâtir ensemble.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E6F40"/>
        </a:solidFill>
      </p:bgPr>
    </p:bg>
    <p:spTree>
      <p:nvGrpSpPr>
        <p:cNvPr id="1" name=""/>
        <p:cNvGrpSpPr/>
        <p:nvPr/>
      </p:nvGrpSpPr>
      <p:grpSpPr>
        <a:xfrm>
          <a:off x="0" y="0"/>
          <a:ext cx="0" cy="0"/>
          <a:chOff x="0" y="0"/>
          <a:chExt cx="0" cy="0"/>
        </a:xfrm>
      </p:grpSpPr>
      <p:sp>
        <p:nvSpPr>
          <p:cNvPr id="2" name="Shape 0"/>
          <p:cNvSpPr/>
          <p:nvPr/>
        </p:nvSpPr>
        <p:spPr>
          <a:xfrm>
            <a:off x="548640" y="502920"/>
            <a:ext cx="914400" cy="914400"/>
          </a:xfrm>
          <a:prstGeom prst="roundRect">
            <a:avLst>
              <a:gd name="adj" fmla="val 18000"/>
            </a:avLst>
          </a:prstGeom>
          <a:solidFill>
            <a:srgbClr val="FFFFFF"/>
          </a:solidFill>
          <a:ln/>
          <a:effectLst>
            <a:outerShdw sx="100000" sy="100000" kx="0" ky="0" algn="bl" rotWithShape="0" blurRad="76200" dist="25400" dir="5400000">
              <a:srgbClr val="000000">
                <a:alpha val="18000"/>
              </a:srgbClr>
            </a:outerShdw>
          </a:effectLst>
        </p:spPr>
      </p:sp>
      <p:pic>
        <p:nvPicPr>
          <p:cNvPr id="3" name="Image 0" descr="/Users/nbawana/Desktop/COWORK/CLAUDE-CODE/togo-academy/public/togo-academy-logo.png">    </p:cNvPr>
          <p:cNvPicPr>
            <a:picLocks noChangeAspect="1"/>
          </p:cNvPicPr>
          <p:nvPr/>
        </p:nvPicPr>
        <p:blipFill>
          <a:blip r:embed="rId1"/>
          <a:stretch>
            <a:fillRect/>
          </a:stretch>
        </p:blipFill>
        <p:spPr>
          <a:xfrm>
            <a:off x="621792" y="576072"/>
            <a:ext cx="768096" cy="768096"/>
          </a:xfrm>
          <a:prstGeom prst="ellipse">
            <a:avLst/>
          </a:prstGeom>
        </p:spPr>
      </p:pic>
      <p:sp>
        <p:nvSpPr>
          <p:cNvPr id="4" name="Text 1"/>
          <p:cNvSpPr/>
          <p:nvPr/>
        </p:nvSpPr>
        <p:spPr>
          <a:xfrm>
            <a:off x="1600200" y="658368"/>
            <a:ext cx="2743200" cy="365760"/>
          </a:xfrm>
          <a:prstGeom prst="rect">
            <a:avLst/>
          </a:prstGeom>
          <a:noFill/>
          <a:ln/>
        </p:spPr>
        <p:txBody>
          <a:bodyPr wrap="square" lIns="0" tIns="0" rIns="0" bIns="0"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Togo</a:t>
            </a:r>
            <a:pPr algn="l" indent="0" marL="0">
              <a:buNone/>
            </a:pPr>
            <a:r>
              <a:rPr lang="en-US" sz="2000" b="1" dirty="0">
                <a:solidFill>
                  <a:srgbClr val="FFCE00"/>
                </a:solidFill>
                <a:latin typeface="Cambria" pitchFamily="34" charset="0"/>
                <a:ea typeface="Cambria" pitchFamily="34" charset="-122"/>
                <a:cs typeface="Cambria" pitchFamily="34" charset="-120"/>
              </a:rPr>
              <a:t>Academy</a:t>
            </a:r>
            <a:endParaRPr lang="en-US" sz="2000" dirty="0"/>
          </a:p>
        </p:txBody>
      </p:sp>
      <p:sp>
        <p:nvSpPr>
          <p:cNvPr id="5" name="Text 2"/>
          <p:cNvSpPr/>
          <p:nvPr/>
        </p:nvSpPr>
        <p:spPr>
          <a:xfrm>
            <a:off x="566928" y="2011680"/>
            <a:ext cx="8229600" cy="320040"/>
          </a:xfrm>
          <a:prstGeom prst="rect">
            <a:avLst/>
          </a:prstGeom>
          <a:noFill/>
          <a:ln/>
        </p:spPr>
        <p:txBody>
          <a:bodyPr wrap="square" lIns="0" tIns="0" rIns="0" bIns="0" rtlCol="0" anchor="ctr"/>
          <a:lstStyle/>
          <a:p>
            <a:pPr algn="l" indent="0" marL="0">
              <a:buNone/>
            </a:pPr>
            <a:r>
              <a:rPr lang="en-US" sz="1300" b="1" spc="300" kern="0" dirty="0">
                <a:solidFill>
                  <a:srgbClr val="FFCE00"/>
                </a:solidFill>
                <a:latin typeface="Calibri" pitchFamily="34" charset="0"/>
                <a:ea typeface="Calibri" pitchFamily="34" charset="-122"/>
                <a:cs typeface="Calibri" pitchFamily="34" charset="-120"/>
              </a:rPr>
              <a:t>POSTULER, NOUS ÉCRIRE</a:t>
            </a:r>
            <a:endParaRPr lang="en-US" sz="1300" dirty="0"/>
          </a:p>
        </p:txBody>
      </p:sp>
      <p:sp>
        <p:nvSpPr>
          <p:cNvPr id="6" name="Text 3"/>
          <p:cNvSpPr/>
          <p:nvPr/>
        </p:nvSpPr>
        <p:spPr>
          <a:xfrm>
            <a:off x="548640" y="2423160"/>
            <a:ext cx="10789920" cy="1463040"/>
          </a:xfrm>
          <a:prstGeom prst="rect">
            <a:avLst/>
          </a:prstGeom>
          <a:noFill/>
          <a:ln/>
        </p:spPr>
        <p:txBody>
          <a:bodyPr wrap="square" lIns="0" tIns="0" rIns="0" bIns="0" rtlCol="0" anchor="ctr"/>
          <a:lstStyle/>
          <a:p>
            <a:pPr algn="l" indent="0" marL="0">
              <a:lnSpc>
                <a:spcPct val="102000"/>
              </a:lnSpc>
              <a:buNone/>
            </a:pPr>
            <a:r>
              <a:rPr lang="en-US" sz="4000" b="1" dirty="0">
                <a:solidFill>
                  <a:srgbClr val="FFFFFF"/>
                </a:solidFill>
                <a:latin typeface="Cambria" pitchFamily="34" charset="0"/>
                <a:ea typeface="Cambria" pitchFamily="34" charset="-122"/>
                <a:cs typeface="Cambria" pitchFamily="34" charset="-120"/>
              </a:rPr>
              <a:t>Bâtissons l'avenir de</a:t>
            </a:r>
            <a:endParaRPr lang="en-US" sz="4000" dirty="0"/>
          </a:p>
          <a:p>
            <a:pPr algn="l" indent="0" marL="0">
              <a:lnSpc>
                <a:spcPct val="102000"/>
              </a:lnSpc>
              <a:buNone/>
            </a:pPr>
            <a:r>
              <a:rPr lang="en-US" sz="4000" b="1" dirty="0">
                <a:solidFill>
                  <a:srgbClr val="FFFFFF"/>
                </a:solidFill>
                <a:latin typeface="Cambria" pitchFamily="34" charset="0"/>
                <a:ea typeface="Cambria" pitchFamily="34" charset="-122"/>
                <a:cs typeface="Cambria" pitchFamily="34" charset="-120"/>
              </a:rPr>
              <a:t>l'éducation togolaise.</a:t>
            </a:r>
            <a:endParaRPr lang="en-US" sz="4000" dirty="0"/>
          </a:p>
        </p:txBody>
      </p:sp>
      <p:sp>
        <p:nvSpPr>
          <p:cNvPr id="7" name="Text 4"/>
          <p:cNvSpPr/>
          <p:nvPr/>
        </p:nvSpPr>
        <p:spPr>
          <a:xfrm>
            <a:off x="566928" y="4023360"/>
            <a:ext cx="10058400" cy="822960"/>
          </a:xfrm>
          <a:prstGeom prst="rect">
            <a:avLst/>
          </a:prstGeom>
          <a:noFill/>
          <a:ln/>
        </p:spPr>
        <p:txBody>
          <a:bodyPr wrap="square" lIns="0" tIns="0" rIns="0" bIns="0" rtlCol="0" anchor="ctr"/>
          <a:lstStyle/>
          <a:p>
            <a:pPr algn="l" indent="0" marL="0">
              <a:lnSpc>
                <a:spcPct val="110000"/>
              </a:lnSpc>
              <a:buNone/>
            </a:pPr>
            <a:r>
              <a:rPr lang="en-US" sz="1500" dirty="0">
                <a:solidFill>
                  <a:srgbClr val="CDEFDB"/>
                </a:solidFill>
                <a:latin typeface="Calibri" pitchFamily="34" charset="0"/>
                <a:ea typeface="Calibri" pitchFamily="34" charset="-122"/>
                <a:cs typeface="Calibri" pitchFamily="34" charset="-120"/>
              </a:rPr>
              <a:t>Tuteurs, pédagogues, ingénieurs, créateurs : il y a une place pour vous. Rejoignez une équipe qui change des vies, une leçon à la fois.</a:t>
            </a:r>
            <a:endParaRPr lang="en-US" sz="1500" dirty="0"/>
          </a:p>
        </p:txBody>
      </p:sp>
      <p:sp>
        <p:nvSpPr>
          <p:cNvPr id="8" name="Shape 5"/>
          <p:cNvSpPr/>
          <p:nvPr/>
        </p:nvSpPr>
        <p:spPr>
          <a:xfrm>
            <a:off x="548640" y="5074920"/>
            <a:ext cx="3840480" cy="822960"/>
          </a:xfrm>
          <a:prstGeom prst="roundRect">
            <a:avLst>
              <a:gd name="adj" fmla="val 11111"/>
            </a:avLst>
          </a:prstGeom>
          <a:solidFill>
            <a:srgbClr val="EAFAF1"/>
          </a:solidFill>
          <a:ln/>
        </p:spPr>
      </p:sp>
      <p:sp>
        <p:nvSpPr>
          <p:cNvPr id="9" name="Text 6"/>
          <p:cNvSpPr/>
          <p:nvPr/>
        </p:nvSpPr>
        <p:spPr>
          <a:xfrm>
            <a:off x="731520" y="5074920"/>
            <a:ext cx="3566160" cy="822960"/>
          </a:xfrm>
          <a:prstGeom prst="rect">
            <a:avLst/>
          </a:prstGeom>
          <a:noFill/>
          <a:ln/>
        </p:spPr>
        <p:txBody>
          <a:bodyPr wrap="square" lIns="0" tIns="0" rIns="0" bIns="0" rtlCol="0" anchor="ctr"/>
          <a:lstStyle/>
          <a:p>
            <a:pPr algn="l" indent="0" marL="0">
              <a:buNone/>
            </a:pPr>
            <a:r>
              <a:rPr lang="en-US" sz="1000" b="1" dirty="0">
                <a:solidFill>
                  <a:srgbClr val="0B8457"/>
                </a:solidFill>
                <a:latin typeface="Calibri" pitchFamily="34" charset="0"/>
                <a:ea typeface="Calibri" pitchFamily="34" charset="-122"/>
                <a:cs typeface="Calibri" pitchFamily="34" charset="-120"/>
              </a:rPr>
              <a:t>CONTACT
</a:t>
            </a:r>
            <a:endParaRPr lang="en-US" sz="1000" dirty="0"/>
          </a:p>
          <a:p>
            <a:pPr algn="l" indent="0" marL="0">
              <a:buNone/>
            </a:pPr>
            <a:r>
              <a:rPr lang="en-US" sz="1500" b="1" dirty="0">
                <a:solidFill>
                  <a:srgbClr val="1A2B26"/>
                </a:solidFill>
                <a:latin typeface="Calibri" pitchFamily="34" charset="0"/>
                <a:ea typeface="Calibri" pitchFamily="34" charset="-122"/>
                <a:cs typeface="Calibri" pitchFamily="34" charset="-120"/>
              </a:rPr>
              <a:t>info@groupebm.net</a:t>
            </a:r>
            <a:endParaRPr lang="en-US" sz="1000" dirty="0"/>
          </a:p>
        </p:txBody>
      </p:sp>
      <p:sp>
        <p:nvSpPr>
          <p:cNvPr id="10" name="Shape 7"/>
          <p:cNvSpPr/>
          <p:nvPr/>
        </p:nvSpPr>
        <p:spPr>
          <a:xfrm>
            <a:off x="4572000" y="5074920"/>
            <a:ext cx="4754880" cy="822960"/>
          </a:xfrm>
          <a:prstGeom prst="roundRect">
            <a:avLst>
              <a:gd name="adj" fmla="val 11111"/>
            </a:avLst>
          </a:prstGeom>
          <a:solidFill>
            <a:srgbClr val="EAFAF1"/>
          </a:solidFill>
          <a:ln/>
        </p:spPr>
      </p:sp>
      <p:sp>
        <p:nvSpPr>
          <p:cNvPr id="11" name="Text 8"/>
          <p:cNvSpPr/>
          <p:nvPr/>
        </p:nvSpPr>
        <p:spPr>
          <a:xfrm>
            <a:off x="4754880" y="5074920"/>
            <a:ext cx="4480560" cy="822960"/>
          </a:xfrm>
          <a:prstGeom prst="rect">
            <a:avLst/>
          </a:prstGeom>
          <a:noFill/>
          <a:ln/>
        </p:spPr>
        <p:txBody>
          <a:bodyPr wrap="square" lIns="0" tIns="0" rIns="0" bIns="0" rtlCol="0" anchor="ctr"/>
          <a:lstStyle/>
          <a:p>
            <a:pPr algn="l" indent="0" marL="0">
              <a:buNone/>
            </a:pPr>
            <a:r>
              <a:rPr lang="en-US" sz="1000" b="1" dirty="0">
                <a:solidFill>
                  <a:srgbClr val="0B8457"/>
                </a:solidFill>
                <a:latin typeface="Calibri" pitchFamily="34" charset="0"/>
                <a:ea typeface="Calibri" pitchFamily="34" charset="-122"/>
                <a:cs typeface="Calibri" pitchFamily="34" charset="-120"/>
              </a:rPr>
              <a:t>EN LIGNE
</a:t>
            </a:r>
            <a:endParaRPr lang="en-US" sz="1000" dirty="0"/>
          </a:p>
          <a:p>
            <a:pPr algn="l" indent="0" marL="0">
              <a:buNone/>
            </a:pPr>
            <a:r>
              <a:rPr lang="en-US" sz="1400" b="1" dirty="0">
                <a:solidFill>
                  <a:srgbClr val="1A2B26"/>
                </a:solidFill>
                <a:latin typeface="Calibri" pitchFamily="34" charset="0"/>
                <a:ea typeface="Calibri" pitchFamily="34" charset="-122"/>
                <a:cs typeface="Calibri" pitchFamily="34" charset="-120"/>
              </a:rPr>
              <a:t>academie.groupebm.net · groupebm.net</a:t>
            </a:r>
            <a:endParaRPr lang="en-US" sz="1000" dirty="0"/>
          </a:p>
        </p:txBody>
      </p:sp>
      <p:pic>
        <p:nvPicPr>
          <p:cNvPr id="12" name="Image 1" descr="/Users/nbawana/Desktop/COWORK/CLAUDE-CODE/togo-academy/public/gbm-logo.png">    </p:cNvPr>
          <p:cNvPicPr>
            <a:picLocks noChangeAspect="1"/>
          </p:cNvPicPr>
          <p:nvPr/>
        </p:nvPicPr>
        <p:blipFill>
          <a:blip r:embed="rId2"/>
          <a:stretch>
            <a:fillRect/>
          </a:stretch>
        </p:blipFill>
        <p:spPr>
          <a:xfrm>
            <a:off x="10241280" y="5120640"/>
            <a:ext cx="731520" cy="731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2026-07-18T06:43:37Z</dcterms:created>
  <dcterms:modified xsi:type="dcterms:W3CDTF">2026-07-18T06:43:37Z</dcterms:modified>
</cp:coreProperties>
</file>